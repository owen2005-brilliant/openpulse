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handoutMasterIdLst>
    <p:handoutMasterId r:id="rId35"/>
  </p:handoutMasterIdLst>
  <p:sldIdLst>
    <p:sldId id="365" r:id="rId3"/>
    <p:sldId id="310" r:id="rId5"/>
    <p:sldId id="311" r:id="rId6"/>
    <p:sldId id="374" r:id="rId7"/>
    <p:sldId id="306" r:id="rId8"/>
    <p:sldId id="313" r:id="rId9"/>
    <p:sldId id="375" r:id="rId10"/>
    <p:sldId id="376" r:id="rId11"/>
    <p:sldId id="312" r:id="rId12"/>
    <p:sldId id="377" r:id="rId13"/>
    <p:sldId id="380" r:id="rId14"/>
    <p:sldId id="378" r:id="rId15"/>
    <p:sldId id="314" r:id="rId16"/>
    <p:sldId id="395" r:id="rId17"/>
    <p:sldId id="381" r:id="rId18"/>
    <p:sldId id="390" r:id="rId19"/>
    <p:sldId id="389" r:id="rId20"/>
    <p:sldId id="385" r:id="rId21"/>
    <p:sldId id="391" r:id="rId22"/>
    <p:sldId id="393" r:id="rId23"/>
    <p:sldId id="394" r:id="rId24"/>
    <p:sldId id="400" r:id="rId25"/>
    <p:sldId id="315" r:id="rId26"/>
    <p:sldId id="382" r:id="rId27"/>
    <p:sldId id="383" r:id="rId28"/>
    <p:sldId id="316" r:id="rId29"/>
    <p:sldId id="396" r:id="rId30"/>
    <p:sldId id="397" r:id="rId31"/>
    <p:sldId id="398" r:id="rId32"/>
    <p:sldId id="399" r:id="rId33"/>
    <p:sldId id="366" r:id="rId34"/>
  </p:sldIdLst>
  <p:sldSz cx="12192000" cy="6858000"/>
  <p:notesSz cx="6858000" cy="9144000"/>
  <p:embeddedFontLst>
    <p:embeddedFont>
      <p:font typeface="思源宋体 CN Medium" panose="02020500000000000000" charset="-122"/>
      <p:regular r:id="rId39"/>
    </p:embeddedFont>
    <p:embeddedFont>
      <p:font typeface="Nirmala Text" panose="020B0502040204020203" pitchFamily="34" charset="0"/>
      <p:regular r:id="rId40"/>
      <p:bold r:id="rId41"/>
    </p:embeddedFont>
    <p:embeddedFont>
      <p:font typeface="思源黑体 CN Medium" panose="020B0600000000000000" charset="-122"/>
      <p:regular r:id="rId42"/>
    </p:embeddedFont>
    <p:embeddedFont>
      <p:font typeface="思源宋体 CN" panose="02020400000000000000" pitchFamily="18" charset="-122"/>
      <p:regular r:id="rId43"/>
    </p:embeddedFont>
    <p:embeddedFont>
      <p:font typeface="思源宋体 CN Heavy" panose="02020900000000000000" pitchFamily="18" charset="-122"/>
      <p:bold r:id="rId44"/>
    </p:embeddedFont>
    <p:embeddedFont>
      <p:font typeface="思源黑体 CN Light" panose="020B0300000000000000" pitchFamily="34" charset="-128"/>
      <p:regular r:id="rId45"/>
    </p:embeddedFont>
    <p:embeddedFont>
      <p:font typeface="Calibri" panose="020F0502020204030204" charset="0"/>
      <p:regular r:id="rId46"/>
      <p:bold r:id="rId47"/>
      <p:italic r:id="rId48"/>
      <p:boldItalic r:id="rId49"/>
    </p:embeddedFont>
    <p:embeddedFont>
      <p:font typeface="等线" panose="02010600030101010101" charset="-122"/>
      <p:regular r:id="rId5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04" userDrawn="1">
          <p15:clr>
            <a:srgbClr val="A4A3A4"/>
          </p15:clr>
        </p15:guide>
        <p15:guide id="2" pos="3817" userDrawn="1">
          <p15:clr>
            <a:srgbClr val="A4A3A4"/>
          </p15:clr>
        </p15:guide>
        <p15:guide id="3" orient="horz" pos="3391" userDrawn="1">
          <p15:clr>
            <a:srgbClr val="A4A3A4"/>
          </p15:clr>
        </p15:guide>
        <p15:guide id="4" orient="horz" pos="1692" userDrawn="1">
          <p15:clr>
            <a:srgbClr val="A4A3A4"/>
          </p15:clr>
        </p15:guide>
        <p15:guide id="5" orient="horz" pos="24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D426B"/>
    <a:srgbClr val="FFFFFF"/>
    <a:srgbClr val="105186"/>
    <a:srgbClr val="1A4B90"/>
    <a:srgbClr val="7EAEE8"/>
    <a:srgbClr val="0A334F"/>
    <a:srgbClr val="092B43"/>
    <a:srgbClr val="0B3451"/>
    <a:srgbClr val="092D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26" autoAdjust="0"/>
    <p:restoredTop sz="80493" autoAdjust="0"/>
  </p:normalViewPr>
  <p:slideViewPr>
    <p:cSldViewPr snapToGrid="0" showGuides="1">
      <p:cViewPr varScale="1">
        <p:scale>
          <a:sx n="68" d="100"/>
          <a:sy n="68" d="100"/>
        </p:scale>
        <p:origin x="1056" y="39"/>
      </p:cViewPr>
      <p:guideLst>
        <p:guide orient="horz" pos="3104"/>
        <p:guide pos="3817"/>
        <p:guide orient="horz" pos="3391"/>
        <p:guide orient="horz" pos="1692"/>
        <p:guide orient="horz" pos="2433"/>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font" Target="fonts/font12.fntdata"/><Relationship Id="rId5" Type="http://schemas.openxmlformats.org/officeDocument/2006/relationships/slide" Target="slides/slide2.xml"/><Relationship Id="rId49" Type="http://schemas.openxmlformats.org/officeDocument/2006/relationships/font" Target="fonts/font11.fntdata"/><Relationship Id="rId48" Type="http://schemas.openxmlformats.org/officeDocument/2006/relationships/font" Target="fonts/font10.fntdata"/><Relationship Id="rId47" Type="http://schemas.openxmlformats.org/officeDocument/2006/relationships/font" Target="fonts/font9.fntdata"/><Relationship Id="rId46" Type="http://schemas.openxmlformats.org/officeDocument/2006/relationships/font" Target="fonts/font8.fntdata"/><Relationship Id="rId45" Type="http://schemas.openxmlformats.org/officeDocument/2006/relationships/font" Target="fonts/font7.fntdata"/><Relationship Id="rId44" Type="http://schemas.openxmlformats.org/officeDocument/2006/relationships/font" Target="fonts/font6.fntdata"/><Relationship Id="rId43" Type="http://schemas.openxmlformats.org/officeDocument/2006/relationships/font" Target="fonts/font5.fntdata"/><Relationship Id="rId42" Type="http://schemas.openxmlformats.org/officeDocument/2006/relationships/font" Target="fonts/font4.fntdata"/><Relationship Id="rId41" Type="http://schemas.openxmlformats.org/officeDocument/2006/relationships/font" Target="fonts/font3.fntdata"/><Relationship Id="rId40" Type="http://schemas.openxmlformats.org/officeDocument/2006/relationships/font" Target="fonts/font2.fntdata"/><Relationship Id="rId4" Type="http://schemas.openxmlformats.org/officeDocument/2006/relationships/notesMaster" Target="notesMasters/notesMaster1.xml"/><Relationship Id="rId39" Type="http://schemas.openxmlformats.org/officeDocument/2006/relationships/font" Target="fonts/font1.fntdata"/><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8E9143-7204-416F-B35F-8005502D1C6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F36A46-B1FD-4111-9F8D-464DED01427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F36A46-B1FD-4111-9F8D-464DED01427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9" Type="http://schemas.openxmlformats.org/officeDocument/2006/relationships/slideLayout" Target="../slideLayouts/slideLayout2.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7.jpe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hyperlink" Target="https://open-pulse-red.vercel.app/" TargetMode="Externa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11.png"/><Relationship Id="rId2" Type="http://schemas.microsoft.com/office/2007/relationships/media" Target="../media/media1.mp4"/><Relationship Id="rId1" Type="http://schemas.openxmlformats.org/officeDocument/2006/relationships/video" Target="../media/media1.mp4"/></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23.jpeg"/><Relationship Id="rId1" Type="http://schemas.openxmlformats.org/officeDocument/2006/relationships/image" Target="../media/image22.jpeg"/></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jpeg"/><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30.jpeg"/><Relationship Id="rId1" Type="http://schemas.openxmlformats.org/officeDocument/2006/relationships/image" Target="../media/image29.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cstate="email"/>
          <a:srcRect/>
          <a:stretch>
            <a:fillRect/>
          </a:stretch>
        </a:blipFill>
        <a:effectLst/>
      </p:bgPr>
    </p:bg>
    <p:spTree>
      <p:nvGrpSpPr>
        <p:cNvPr id="1" name=""/>
        <p:cNvGrpSpPr/>
        <p:nvPr/>
      </p:nvGrpSpPr>
      <p:grpSpPr>
        <a:xfrm>
          <a:off x="0" y="0"/>
          <a:ext cx="0" cy="0"/>
          <a:chOff x="0" y="0"/>
          <a:chExt cx="0" cy="0"/>
        </a:xfrm>
      </p:grpSpPr>
      <p:sp>
        <p:nvSpPr>
          <p:cNvPr id="6" name="矩形: 圆角 5"/>
          <p:cNvSpPr/>
          <p:nvPr/>
        </p:nvSpPr>
        <p:spPr>
          <a:xfrm>
            <a:off x="329111" y="4981605"/>
            <a:ext cx="3575008" cy="1524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p>
        </p:txBody>
      </p:sp>
      <p:sp>
        <p:nvSpPr>
          <p:cNvPr id="50" name="任意多边形 49"/>
          <p:cNvSpPr/>
          <p:nvPr/>
        </p:nvSpPr>
        <p:spPr>
          <a:xfrm>
            <a:off x="-47625" y="80010"/>
            <a:ext cx="12192000" cy="685800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19200" h="10800">
                <a:moveTo>
                  <a:pt x="12650" y="7618"/>
                </a:moveTo>
                <a:cubicBezTo>
                  <a:pt x="12211" y="7618"/>
                  <a:pt x="11855" y="7974"/>
                  <a:pt x="11855" y="8413"/>
                </a:cubicBezTo>
                <a:cubicBezTo>
                  <a:pt x="11855" y="8851"/>
                  <a:pt x="12211" y="9207"/>
                  <a:pt x="12650" y="9207"/>
                </a:cubicBezTo>
                <a:cubicBezTo>
                  <a:pt x="13088" y="9207"/>
                  <a:pt x="13444" y="8851"/>
                  <a:pt x="13444" y="8413"/>
                </a:cubicBezTo>
                <a:cubicBezTo>
                  <a:pt x="13444" y="7974"/>
                  <a:pt x="13088" y="7618"/>
                  <a:pt x="12650" y="7618"/>
                </a:cubicBezTo>
                <a:close/>
                <a:moveTo>
                  <a:pt x="14440" y="1518"/>
                </a:moveTo>
                <a:cubicBezTo>
                  <a:pt x="14001" y="1518"/>
                  <a:pt x="13645" y="1874"/>
                  <a:pt x="13645" y="2313"/>
                </a:cubicBezTo>
                <a:lnTo>
                  <a:pt x="13645" y="5959"/>
                </a:lnTo>
                <a:cubicBezTo>
                  <a:pt x="13645" y="6398"/>
                  <a:pt x="14001" y="6754"/>
                  <a:pt x="14440" y="6754"/>
                </a:cubicBezTo>
                <a:cubicBezTo>
                  <a:pt x="14879" y="6754"/>
                  <a:pt x="15235" y="6398"/>
                  <a:pt x="15235" y="5959"/>
                </a:cubicBezTo>
                <a:lnTo>
                  <a:pt x="15235" y="2313"/>
                </a:lnTo>
                <a:cubicBezTo>
                  <a:pt x="15235" y="1874"/>
                  <a:pt x="14879" y="1518"/>
                  <a:pt x="14440" y="1518"/>
                </a:cubicBezTo>
                <a:close/>
                <a:moveTo>
                  <a:pt x="16230" y="632"/>
                </a:moveTo>
                <a:cubicBezTo>
                  <a:pt x="15791" y="632"/>
                  <a:pt x="15435" y="988"/>
                  <a:pt x="15435" y="1427"/>
                </a:cubicBezTo>
                <a:lnTo>
                  <a:pt x="15435" y="8267"/>
                </a:lnTo>
                <a:cubicBezTo>
                  <a:pt x="15435" y="8706"/>
                  <a:pt x="15791" y="9062"/>
                  <a:pt x="16230" y="9062"/>
                </a:cubicBezTo>
                <a:cubicBezTo>
                  <a:pt x="16669" y="9062"/>
                  <a:pt x="17025" y="8706"/>
                  <a:pt x="17025" y="8267"/>
                </a:cubicBezTo>
                <a:lnTo>
                  <a:pt x="17025" y="1427"/>
                </a:lnTo>
                <a:cubicBezTo>
                  <a:pt x="17025" y="988"/>
                  <a:pt x="16669" y="632"/>
                  <a:pt x="16230" y="632"/>
                </a:cubicBezTo>
                <a:close/>
                <a:moveTo>
                  <a:pt x="0" y="0"/>
                </a:moveTo>
                <a:lnTo>
                  <a:pt x="10065" y="0"/>
                </a:lnTo>
                <a:lnTo>
                  <a:pt x="10065" y="4473"/>
                </a:lnTo>
                <a:cubicBezTo>
                  <a:pt x="10065" y="4912"/>
                  <a:pt x="10421" y="5268"/>
                  <a:pt x="10860" y="5268"/>
                </a:cubicBezTo>
                <a:cubicBezTo>
                  <a:pt x="11299" y="5268"/>
                  <a:pt x="11655" y="4912"/>
                  <a:pt x="11655" y="4473"/>
                </a:cubicBezTo>
                <a:lnTo>
                  <a:pt x="11655" y="0"/>
                </a:lnTo>
                <a:lnTo>
                  <a:pt x="11855" y="0"/>
                </a:lnTo>
                <a:lnTo>
                  <a:pt x="11855" y="6635"/>
                </a:lnTo>
                <a:cubicBezTo>
                  <a:pt x="11855" y="7074"/>
                  <a:pt x="12211" y="7430"/>
                  <a:pt x="12650" y="7430"/>
                </a:cubicBezTo>
                <a:cubicBezTo>
                  <a:pt x="13089" y="7430"/>
                  <a:pt x="13445" y="7074"/>
                  <a:pt x="13445" y="6635"/>
                </a:cubicBezTo>
                <a:lnTo>
                  <a:pt x="13445" y="0"/>
                </a:lnTo>
                <a:lnTo>
                  <a:pt x="17225" y="0"/>
                </a:lnTo>
                <a:lnTo>
                  <a:pt x="17225" y="7543"/>
                </a:lnTo>
                <a:cubicBezTo>
                  <a:pt x="17225" y="7982"/>
                  <a:pt x="17581" y="8338"/>
                  <a:pt x="18020" y="8338"/>
                </a:cubicBezTo>
                <a:cubicBezTo>
                  <a:pt x="18459" y="8338"/>
                  <a:pt x="18815" y="7982"/>
                  <a:pt x="18815" y="7543"/>
                </a:cubicBezTo>
                <a:lnTo>
                  <a:pt x="18815" y="0"/>
                </a:lnTo>
                <a:lnTo>
                  <a:pt x="19200" y="0"/>
                </a:lnTo>
                <a:lnTo>
                  <a:pt x="19200" y="10800"/>
                </a:lnTo>
                <a:lnTo>
                  <a:pt x="18815" y="10800"/>
                </a:lnTo>
                <a:lnTo>
                  <a:pt x="18815" y="10540"/>
                </a:lnTo>
                <a:cubicBezTo>
                  <a:pt x="18815" y="10101"/>
                  <a:pt x="18459" y="9745"/>
                  <a:pt x="18020" y="9745"/>
                </a:cubicBezTo>
                <a:cubicBezTo>
                  <a:pt x="17581" y="9745"/>
                  <a:pt x="17225" y="10101"/>
                  <a:pt x="17225" y="10540"/>
                </a:cubicBezTo>
                <a:lnTo>
                  <a:pt x="17225" y="10800"/>
                </a:lnTo>
                <a:lnTo>
                  <a:pt x="15234" y="10800"/>
                </a:lnTo>
                <a:lnTo>
                  <a:pt x="15234" y="9293"/>
                </a:lnTo>
                <a:cubicBezTo>
                  <a:pt x="15234" y="8854"/>
                  <a:pt x="14878" y="8498"/>
                  <a:pt x="14439" y="8498"/>
                </a:cubicBezTo>
                <a:cubicBezTo>
                  <a:pt x="14000" y="8498"/>
                  <a:pt x="13644" y="8854"/>
                  <a:pt x="13644" y="9293"/>
                </a:cubicBezTo>
                <a:lnTo>
                  <a:pt x="13644" y="10800"/>
                </a:lnTo>
                <a:lnTo>
                  <a:pt x="0" y="10800"/>
                </a:lnTo>
                <a:lnTo>
                  <a:pt x="0" y="0"/>
                </a:lnTo>
                <a:close/>
              </a:path>
            </a:pathLst>
          </a:cu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50000"/>
              </a:lnSpc>
            </a:pPr>
            <a:endParaRPr lang="zh-CN" altLang="en-US" dirty="0"/>
          </a:p>
        </p:txBody>
      </p:sp>
      <p:sp>
        <p:nvSpPr>
          <p:cNvPr id="22" name="矩形 21"/>
          <p:cNvSpPr>
            <a:spLocks noGrp="1" noRot="1" noMove="1" noResize="1" noEditPoints="1" noAdjustHandles="1" noChangeArrowheads="1" noChangeShapeType="1"/>
          </p:cNvSpPr>
          <p:nvPr/>
        </p:nvSpPr>
        <p:spPr>
          <a:xfrm>
            <a:off x="-10160" y="0"/>
            <a:ext cx="12192000" cy="6858000"/>
          </a:xfrm>
          <a:prstGeom prst="rect">
            <a:avLst/>
          </a:prstGeom>
          <a:noFill/>
          <a:ln w="107950">
            <a:solidFill>
              <a:srgbClr val="1051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grpSp>
        <p:nvGrpSpPr>
          <p:cNvPr id="23" name="组合 22"/>
          <p:cNvGrpSpPr/>
          <p:nvPr/>
        </p:nvGrpSpPr>
        <p:grpSpPr>
          <a:xfrm flipH="1">
            <a:off x="-10160" y="821055"/>
            <a:ext cx="4420236" cy="392400"/>
            <a:chOff x="7771764" y="571500"/>
            <a:chExt cx="4420236" cy="392400"/>
          </a:xfrm>
        </p:grpSpPr>
        <p:sp>
          <p:nvSpPr>
            <p:cNvPr id="24" name="矩形 23"/>
            <p:cNvSpPr/>
            <p:nvPr/>
          </p:nvSpPr>
          <p:spPr>
            <a:xfrm>
              <a:off x="9124950" y="572438"/>
              <a:ext cx="3067050" cy="390525"/>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sp>
          <p:nvSpPr>
            <p:cNvPr id="25" name="椭圆 24"/>
            <p:cNvSpPr/>
            <p:nvPr/>
          </p:nvSpPr>
          <p:spPr>
            <a:xfrm>
              <a:off x="8929635" y="571500"/>
              <a:ext cx="390629" cy="392400"/>
            </a:xfrm>
            <a:prstGeom prst="ellipse">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sp>
          <p:nvSpPr>
            <p:cNvPr id="26" name="椭圆 25"/>
            <p:cNvSpPr/>
            <p:nvPr/>
          </p:nvSpPr>
          <p:spPr>
            <a:xfrm>
              <a:off x="8459678" y="623700"/>
              <a:ext cx="288000" cy="288000"/>
            </a:xfrm>
            <a:prstGeom prst="ellipse">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sp>
          <p:nvSpPr>
            <p:cNvPr id="27" name="椭圆 26"/>
            <p:cNvSpPr/>
            <p:nvPr/>
          </p:nvSpPr>
          <p:spPr>
            <a:xfrm>
              <a:off x="7771764" y="713700"/>
              <a:ext cx="108000" cy="108000"/>
            </a:xfrm>
            <a:prstGeom prst="ellipse">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sp>
          <p:nvSpPr>
            <p:cNvPr id="28" name="椭圆 27"/>
            <p:cNvSpPr/>
            <p:nvPr/>
          </p:nvSpPr>
          <p:spPr>
            <a:xfrm>
              <a:off x="8061721" y="659700"/>
              <a:ext cx="216000" cy="216000"/>
            </a:xfrm>
            <a:prstGeom prst="ellipse">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grpSp>
      <p:sp>
        <p:nvSpPr>
          <p:cNvPr id="2" name="文本框 1"/>
          <p:cNvSpPr txBox="1"/>
          <p:nvPr/>
        </p:nvSpPr>
        <p:spPr>
          <a:xfrm>
            <a:off x="329111" y="1659630"/>
            <a:ext cx="6363646" cy="1446550"/>
          </a:xfrm>
          <a:prstGeom prst="rect">
            <a:avLst/>
          </a:prstGeom>
          <a:noFill/>
        </p:spPr>
        <p:txBody>
          <a:bodyPr wrap="square" rtlCol="0">
            <a:spAutoFit/>
          </a:bodyPr>
          <a:lstStyle/>
          <a:p>
            <a:pPr indent="0" fontAlgn="auto">
              <a:lnSpc>
                <a:spcPct val="100000"/>
              </a:lnSpc>
            </a:pPr>
            <a:r>
              <a:rPr lang="en-US" altLang="zh-CN" sz="8800" b="1" dirty="0">
                <a:solidFill>
                  <a:srgbClr val="105186"/>
                </a:solidFill>
                <a:effectLst>
                  <a:outerShdw blurRad="76200" dist="50800" dir="2700000" algn="tl" rotWithShape="0">
                    <a:prstClr val="black">
                      <a:alpha val="25000"/>
                    </a:prstClr>
                  </a:outerShdw>
                </a:effectLst>
                <a:latin typeface="Nirmala Text" panose="020B0502040204020203" pitchFamily="34" charset="0"/>
                <a:ea typeface="Nirmala Text" panose="020B0502040204020203" pitchFamily="34" charset="0"/>
                <a:cs typeface="Nirmala Text" panose="020B0502040204020203" pitchFamily="34" charset="0"/>
              </a:rPr>
              <a:t>OpenPulse</a:t>
            </a:r>
            <a:endParaRPr lang="en-US" altLang="zh-CN" sz="8800" b="1" dirty="0">
              <a:solidFill>
                <a:srgbClr val="105186"/>
              </a:solidFill>
              <a:effectLst>
                <a:outerShdw blurRad="76200" dist="50800" dir="2700000" algn="tl" rotWithShape="0">
                  <a:prstClr val="black">
                    <a:alpha val="25000"/>
                  </a:prstClr>
                </a:outerShdw>
              </a:effectLst>
              <a:latin typeface="Nirmala Text" panose="020B0502040204020203" pitchFamily="34" charset="0"/>
              <a:ea typeface="Nirmala Text" panose="020B0502040204020203" pitchFamily="34" charset="0"/>
              <a:cs typeface="Nirmala Text" panose="020B0502040204020203" pitchFamily="34" charset="0"/>
            </a:endParaRPr>
          </a:p>
        </p:txBody>
      </p:sp>
      <p:sp>
        <p:nvSpPr>
          <p:cNvPr id="63" name="文本框 62"/>
          <p:cNvSpPr txBox="1"/>
          <p:nvPr/>
        </p:nvSpPr>
        <p:spPr>
          <a:xfrm>
            <a:off x="459740" y="4992886"/>
            <a:ext cx="3444379" cy="1785104"/>
          </a:xfrm>
          <a:prstGeom prst="rect">
            <a:avLst/>
          </a:prstGeom>
          <a:noFill/>
        </p:spPr>
        <p:txBody>
          <a:bodyPr wrap="square" rtlCol="0">
            <a:spAutoFit/>
          </a:bodyPr>
          <a:lstStyle/>
          <a:p>
            <a:pPr algn="l">
              <a:lnSpc>
                <a:spcPct val="150000"/>
              </a:lnSpc>
            </a:pPr>
            <a:r>
              <a:rPr lang="zh-CN" altLang="en-US" sz="2000" b="1" dirty="0">
                <a:solidFill>
                  <a:srgbClr val="105186"/>
                </a:solidFill>
                <a:latin typeface="思源宋体 CN Medium" panose="02020500000000000000" charset="-122"/>
                <a:ea typeface="思源宋体 CN Medium" panose="02020500000000000000" charset="-122"/>
              </a:rPr>
              <a:t>学校：华东师范大学</a:t>
            </a:r>
            <a:endParaRPr lang="zh-CN" altLang="en-US" sz="2000" b="1" dirty="0">
              <a:solidFill>
                <a:srgbClr val="105186"/>
              </a:solidFill>
              <a:latin typeface="思源宋体 CN Medium" panose="02020500000000000000" charset="-122"/>
              <a:ea typeface="思源宋体 CN Medium" panose="02020500000000000000" charset="-122"/>
            </a:endParaRPr>
          </a:p>
          <a:p>
            <a:pPr algn="l">
              <a:lnSpc>
                <a:spcPct val="150000"/>
              </a:lnSpc>
            </a:pPr>
            <a:r>
              <a:rPr lang="zh-CN" altLang="en-US" sz="2000" b="1" dirty="0">
                <a:solidFill>
                  <a:srgbClr val="105186"/>
                </a:solidFill>
                <a:latin typeface="思源宋体 CN Medium" panose="02020500000000000000" charset="-122"/>
                <a:ea typeface="思源宋体 CN Medium" panose="02020500000000000000" charset="-122"/>
              </a:rPr>
              <a:t>学院：数据科学与工程学院</a:t>
            </a:r>
            <a:endParaRPr lang="zh-CN" altLang="en-US" sz="2000" b="1" dirty="0">
              <a:solidFill>
                <a:srgbClr val="105186"/>
              </a:solidFill>
              <a:latin typeface="思源宋体 CN Medium" panose="02020500000000000000" charset="-122"/>
              <a:ea typeface="思源宋体 CN Medium" panose="02020500000000000000" charset="-122"/>
            </a:endParaRPr>
          </a:p>
          <a:p>
            <a:pPr algn="l">
              <a:lnSpc>
                <a:spcPct val="150000"/>
              </a:lnSpc>
            </a:pPr>
            <a:r>
              <a:rPr lang="zh-CN" altLang="en-US" sz="2000" b="1" dirty="0">
                <a:solidFill>
                  <a:srgbClr val="105186"/>
                </a:solidFill>
                <a:latin typeface="思源宋体 CN Medium" panose="02020500000000000000" charset="-122"/>
                <a:ea typeface="思源宋体 CN Medium" panose="02020500000000000000" charset="-122"/>
              </a:rPr>
              <a:t>团队成员：张辰阳</a:t>
            </a:r>
            <a:r>
              <a:rPr lang="en-US" altLang="zh-CN" sz="2000" b="1" dirty="0">
                <a:solidFill>
                  <a:srgbClr val="105186"/>
                </a:solidFill>
                <a:latin typeface="思源宋体 CN Medium" panose="02020500000000000000" charset="-122"/>
                <a:ea typeface="思源宋体 CN Medium" panose="02020500000000000000" charset="-122"/>
              </a:rPr>
              <a:t> </a:t>
            </a:r>
            <a:r>
              <a:rPr lang="zh-CN" altLang="en-US" sz="2000" b="1" dirty="0">
                <a:solidFill>
                  <a:srgbClr val="105186"/>
                </a:solidFill>
                <a:latin typeface="思源宋体 CN Medium" panose="02020500000000000000" charset="-122"/>
                <a:ea typeface="思源宋体 CN Medium" panose="02020500000000000000" charset="-122"/>
              </a:rPr>
              <a:t>邱徐岚</a:t>
            </a:r>
            <a:endParaRPr lang="zh-CN" altLang="en-US" sz="2000" b="1" dirty="0">
              <a:solidFill>
                <a:srgbClr val="105186"/>
              </a:solidFill>
              <a:latin typeface="思源宋体 CN Medium" panose="02020500000000000000" charset="-122"/>
              <a:ea typeface="思源宋体 CN Medium" panose="02020500000000000000" charset="-122"/>
            </a:endParaRPr>
          </a:p>
          <a:p>
            <a:pPr algn="l"/>
            <a:endParaRPr lang="zh-CN" altLang="en-US" sz="2000" b="1" dirty="0">
              <a:solidFill>
                <a:srgbClr val="105186"/>
              </a:solidFill>
              <a:latin typeface="思源宋体 CN Medium" panose="02020500000000000000" charset="-122"/>
              <a:ea typeface="思源宋体 CN Medium" panose="02020500000000000000" charset="-122"/>
            </a:endParaRPr>
          </a:p>
        </p:txBody>
      </p:sp>
      <p:sp>
        <p:nvSpPr>
          <p:cNvPr id="3" name="文本框 2"/>
          <p:cNvSpPr txBox="1"/>
          <p:nvPr/>
        </p:nvSpPr>
        <p:spPr>
          <a:xfrm>
            <a:off x="441575" y="3633411"/>
            <a:ext cx="6452399" cy="1077218"/>
          </a:xfrm>
          <a:prstGeom prst="rect">
            <a:avLst/>
          </a:prstGeom>
          <a:noFill/>
        </p:spPr>
        <p:txBody>
          <a:bodyPr wrap="square" rtlCol="0">
            <a:spAutoFit/>
          </a:bodyPr>
          <a:lstStyle/>
          <a:p>
            <a:pPr indent="0" fontAlgn="auto">
              <a:lnSpc>
                <a:spcPct val="100000"/>
              </a:lnSpc>
            </a:pPr>
            <a:r>
              <a:rPr lang="en-US" altLang="zh-CN" sz="3200" b="1" dirty="0">
                <a:solidFill>
                  <a:srgbClr val="105186"/>
                </a:solidFill>
                <a:latin typeface="+mj-ea"/>
                <a:ea typeface="+mj-ea"/>
              </a:rPr>
              <a:t>Agent</a:t>
            </a:r>
            <a:r>
              <a:rPr lang="zh-CN" altLang="en-US" sz="3200" b="1" dirty="0">
                <a:solidFill>
                  <a:srgbClr val="105186"/>
                </a:solidFill>
                <a:latin typeface="+mj-ea"/>
                <a:ea typeface="+mj-ea"/>
              </a:rPr>
              <a:t>辅助的开源项目健康度监控</a:t>
            </a:r>
            <a:endParaRPr lang="en-US" altLang="zh-CN" sz="3200" b="1" dirty="0">
              <a:solidFill>
                <a:srgbClr val="105186"/>
              </a:solidFill>
              <a:latin typeface="+mj-ea"/>
              <a:ea typeface="+mj-ea"/>
            </a:endParaRPr>
          </a:p>
          <a:p>
            <a:pPr indent="0" fontAlgn="auto">
              <a:lnSpc>
                <a:spcPct val="100000"/>
              </a:lnSpc>
            </a:pPr>
            <a:r>
              <a:rPr lang="en-US" altLang="zh-CN" sz="3200" b="1" dirty="0">
                <a:solidFill>
                  <a:srgbClr val="105186"/>
                </a:solidFill>
                <a:latin typeface="+mj-ea"/>
                <a:ea typeface="+mj-ea"/>
              </a:rPr>
              <a:t>		     </a:t>
            </a:r>
            <a:r>
              <a:rPr lang="zh-CN" altLang="en-US" sz="3200" b="1" dirty="0">
                <a:solidFill>
                  <a:srgbClr val="105186"/>
                </a:solidFill>
                <a:latin typeface="+mj-ea"/>
                <a:ea typeface="+mj-ea"/>
              </a:rPr>
              <a:t>与治理决策支持平台</a:t>
            </a:r>
            <a:endParaRPr lang="zh-CN" altLang="en-US" sz="3200" b="1" dirty="0">
              <a:solidFill>
                <a:srgbClr val="105186"/>
              </a:solidFill>
              <a:latin typeface="+mj-ea"/>
              <a:ea typeface="+mj-ea"/>
            </a:endParaRPr>
          </a:p>
        </p:txBody>
      </p:sp>
      <p:pic>
        <p:nvPicPr>
          <p:cNvPr id="4" name="图片 3" descr="华东师范大学-02"/>
          <p:cNvPicPr>
            <a:picLocks noChangeAspect="1"/>
          </p:cNvPicPr>
          <p:nvPr/>
        </p:nvPicPr>
        <p:blipFill>
          <a:blip r:embed="rId2" cstate="email"/>
          <a:stretch>
            <a:fillRect/>
          </a:stretch>
        </p:blipFill>
        <p:spPr>
          <a:xfrm>
            <a:off x="64770" y="-564515"/>
            <a:ext cx="2449830" cy="2119630"/>
          </a:xfrm>
          <a:prstGeom prst="rect">
            <a:avLst/>
          </a:prstGeom>
        </p:spPr>
      </p:pic>
      <p:sp>
        <p:nvSpPr>
          <p:cNvPr id="5" name="文本框 4"/>
          <p:cNvSpPr txBox="1"/>
          <p:nvPr/>
        </p:nvSpPr>
        <p:spPr>
          <a:xfrm>
            <a:off x="4034748" y="5582275"/>
            <a:ext cx="3530983" cy="923330"/>
          </a:xfrm>
          <a:prstGeom prst="rect">
            <a:avLst/>
          </a:prstGeom>
          <a:noFill/>
        </p:spPr>
        <p:txBody>
          <a:bodyPr wrap="square" rtlCol="0">
            <a:spAutoFit/>
          </a:bodyPr>
          <a:lstStyle/>
          <a:p>
            <a:pPr algn="l">
              <a:buClrTx/>
              <a:buSzTx/>
              <a:buFontTx/>
            </a:pPr>
            <a:r>
              <a:rPr lang="zh-CN" altLang="en-US" b="1" dirty="0">
                <a:solidFill>
                  <a:srgbClr val="105186"/>
                </a:solidFill>
                <a:latin typeface="+mj-ea"/>
                <a:ea typeface="+mj-ea"/>
              </a:rPr>
              <a:t>本项目主要使用Opendigger提供的开源数据集进行开发，所有指标均可计算、可复现、可解释</a:t>
            </a:r>
            <a:endParaRPr lang="zh-CN" altLang="en-US" b="1" dirty="0">
              <a:solidFill>
                <a:srgbClr val="105186"/>
              </a:solidFill>
              <a:latin typeface="+mj-ea"/>
              <a:ea typeface="+mj-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矩形 1"/>
          <p:cNvSpPr/>
          <p:nvPr/>
        </p:nvSpPr>
        <p:spPr>
          <a:xfrm>
            <a:off x="0" y="0"/>
            <a:ext cx="12192000" cy="1332230"/>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endParaRPr lang="zh-CN" altLang="en-US" sz="2000" dirty="0">
              <a:latin typeface="思源宋体 CN Medium" panose="02020500000000000000" charset="-122"/>
              <a:ea typeface="思源宋体 CN Medium" panose="02020500000000000000" charset="-122"/>
            </a:endParaRPr>
          </a:p>
        </p:txBody>
      </p:sp>
      <p:sp>
        <p:nvSpPr>
          <p:cNvPr id="3" name="矩形 2"/>
          <p:cNvSpPr/>
          <p:nvPr/>
        </p:nvSpPr>
        <p:spPr>
          <a:xfrm>
            <a:off x="0" y="6734174"/>
            <a:ext cx="12192000" cy="123825"/>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endParaRPr lang="zh-CN" altLang="en-US" sz="2000" dirty="0">
              <a:latin typeface="思源宋体 CN Medium" panose="02020500000000000000" charset="-122"/>
              <a:ea typeface="思源宋体 CN Medium" panose="02020500000000000000" charset="-122"/>
            </a:endParaRPr>
          </a:p>
        </p:txBody>
      </p:sp>
      <p:sp>
        <p:nvSpPr>
          <p:cNvPr id="4" name="文本框 3"/>
          <p:cNvSpPr txBox="1"/>
          <p:nvPr/>
        </p:nvSpPr>
        <p:spPr>
          <a:xfrm>
            <a:off x="219075" y="133350"/>
            <a:ext cx="2252980" cy="1106805"/>
          </a:xfrm>
          <a:prstGeom prst="rect">
            <a:avLst/>
          </a:prstGeom>
          <a:noFill/>
        </p:spPr>
        <p:txBody>
          <a:bodyPr wrap="square" rtlCol="0">
            <a:spAutoFit/>
          </a:bodyPr>
          <a:lstStyle/>
          <a:p>
            <a:pPr lvl="0" algn="ctr">
              <a:buClrTx/>
              <a:buSzTx/>
              <a:buFontTx/>
            </a:pPr>
            <a:r>
              <a:rPr lang="en-US" altLang="zh-CN" sz="6600" b="1" dirty="0">
                <a:solidFill>
                  <a:schemeClr val="bg1"/>
                </a:solidFill>
                <a:latin typeface="思源宋体 CN Medium" panose="02020500000000000000" charset="-122"/>
                <a:ea typeface="思源宋体 CN Medium" panose="02020500000000000000" charset="-122"/>
                <a:cs typeface="思源宋体 CN Medium" panose="02020500000000000000" charset="-122"/>
                <a:sym typeface="+mn-ea"/>
              </a:rPr>
              <a:t>目 录</a:t>
            </a:r>
            <a:endParaRPr lang="en-US" altLang="zh-CN" sz="6600" b="1" dirty="0">
              <a:solidFill>
                <a:schemeClr val="bg1"/>
              </a:solidFill>
              <a:latin typeface="思源宋体 CN Medium" panose="02020500000000000000" charset="-122"/>
              <a:ea typeface="思源宋体 CN Medium" panose="02020500000000000000" charset="-122"/>
              <a:cs typeface="思源宋体 CN Medium" panose="02020500000000000000" charset="-122"/>
              <a:sym typeface="+mn-ea"/>
            </a:endParaRPr>
          </a:p>
        </p:txBody>
      </p:sp>
      <p:sp>
        <p:nvSpPr>
          <p:cNvPr id="6" name="文本框 5"/>
          <p:cNvSpPr txBox="1"/>
          <p:nvPr/>
        </p:nvSpPr>
        <p:spPr>
          <a:xfrm>
            <a:off x="2472055" y="144780"/>
            <a:ext cx="4478655" cy="1106805"/>
          </a:xfrm>
          <a:prstGeom prst="rect">
            <a:avLst/>
          </a:prstGeom>
          <a:noFill/>
        </p:spPr>
        <p:txBody>
          <a:bodyPr wrap="square" rtlCol="0">
            <a:spAutoFit/>
          </a:bodyPr>
          <a:lstStyle/>
          <a:p>
            <a:pPr algn="l"/>
            <a:r>
              <a:rPr lang="en-US" altLang="zh-CN" sz="6600" dirty="0">
                <a:solidFill>
                  <a:schemeClr val="bg1"/>
                </a:solidFill>
                <a:latin typeface="思源黑体 CN Medium" panose="020B0600000000000000" charset="-122"/>
                <a:ea typeface="思源黑体 CN Medium" panose="020B0600000000000000" charset="-122"/>
              </a:rPr>
              <a:t>Catalogue</a:t>
            </a:r>
            <a:endParaRPr lang="en-US" altLang="zh-CN" sz="6600" dirty="0">
              <a:solidFill>
                <a:schemeClr val="bg1"/>
              </a:solidFill>
              <a:latin typeface="思源黑体 CN Medium" panose="020B0600000000000000" charset="-122"/>
              <a:ea typeface="思源黑体 CN Medium" panose="020B0600000000000000" charset="-122"/>
            </a:endParaRPr>
          </a:p>
        </p:txBody>
      </p:sp>
      <p:grpSp>
        <p:nvGrpSpPr>
          <p:cNvPr id="5" name="组合 4"/>
          <p:cNvGrpSpPr/>
          <p:nvPr>
            <p:custDataLst>
              <p:tags r:id="rId1"/>
            </p:custDataLst>
          </p:nvPr>
        </p:nvGrpSpPr>
        <p:grpSpPr>
          <a:xfrm>
            <a:off x="523875" y="1969770"/>
            <a:ext cx="5535930" cy="1094740"/>
            <a:chOff x="825" y="2015"/>
            <a:chExt cx="8718" cy="1724"/>
          </a:xfrm>
        </p:grpSpPr>
        <p:sp>
          <p:nvSpPr>
            <p:cNvPr id="23" name="矩形: 剪去对角 22"/>
            <p:cNvSpPr/>
            <p:nvPr>
              <p:custDataLst>
                <p:tags r:id="rId2"/>
              </p:custDataLst>
            </p:nvPr>
          </p:nvSpPr>
          <p:spPr>
            <a:xfrm>
              <a:off x="1737" y="2524"/>
              <a:ext cx="7806" cy="976"/>
            </a:xfrm>
            <a:prstGeom prst="snip2DiagRect">
              <a:avLst>
                <a:gd name="adj1" fmla="val 0"/>
                <a:gd name="adj2" fmla="val 50000"/>
              </a:avLst>
            </a:prstGeom>
            <a:solidFill>
              <a:srgbClr val="DFEBF9"/>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800" b="1" dirty="0">
                  <a:solidFill>
                    <a:srgbClr val="105186"/>
                  </a:solidFill>
                  <a:latin typeface="+mj-ea"/>
                  <a:ea typeface="+mj-ea"/>
                </a:rPr>
                <a:t>项目缘起与开发背景</a:t>
              </a:r>
              <a:endParaRPr lang="zh-CN" altLang="en-US" sz="2800" b="1" dirty="0">
                <a:solidFill>
                  <a:srgbClr val="105186"/>
                </a:solidFill>
                <a:latin typeface="+mj-ea"/>
                <a:ea typeface="+mj-ea"/>
              </a:endParaRPr>
            </a:p>
          </p:txBody>
        </p:sp>
        <p:grpSp>
          <p:nvGrpSpPr>
            <p:cNvPr id="19" name="组合 18"/>
            <p:cNvGrpSpPr>
              <a:grpSpLocks noGrp="1" noRot="1" noMove="1" noResize="1" noUngrp="1"/>
            </p:cNvGrpSpPr>
            <p:nvPr>
              <p:custDataLst>
                <p:tags r:id="rId3"/>
              </p:custDataLst>
            </p:nvPr>
          </p:nvGrpSpPr>
          <p:grpSpPr>
            <a:xfrm>
              <a:off x="825" y="2015"/>
              <a:ext cx="1725" cy="1725"/>
              <a:chOff x="523875" y="1279386"/>
              <a:chExt cx="1095375" cy="1095375"/>
            </a:xfrm>
          </p:grpSpPr>
          <p:sp>
            <p:nvSpPr>
              <p:cNvPr id="7" name="矩形 6"/>
              <p:cNvSpPr>
                <a:spLocks noGrp="1" noRot="1" noMove="1" noResize="1" noEditPoints="1" noAdjustHandles="1" noChangeArrowheads="1" noChangeShapeType="1"/>
              </p:cNvSpPr>
              <p:nvPr>
                <p:custDataLst>
                  <p:tags r:id="rId4"/>
                </p:custDataLst>
              </p:nvPr>
            </p:nvSpPr>
            <p:spPr>
              <a:xfrm>
                <a:off x="523875" y="1279386"/>
                <a:ext cx="942975" cy="942975"/>
              </a:xfrm>
              <a:prstGeom prst="rect">
                <a:avLst/>
              </a:prstGeom>
              <a:solidFill>
                <a:schemeClr val="bg1"/>
              </a:solidFill>
              <a:ln>
                <a:solidFill>
                  <a:srgbClr val="105186"/>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3" name="矩形 12"/>
              <p:cNvSpPr/>
              <p:nvPr>
                <p:custDataLst>
                  <p:tags r:id="rId5"/>
                </p:custDataLst>
              </p:nvPr>
            </p:nvSpPr>
            <p:spPr>
              <a:xfrm>
                <a:off x="676275" y="1431786"/>
                <a:ext cx="942975" cy="942975"/>
              </a:xfrm>
              <a:prstGeom prst="rect">
                <a:avLst/>
              </a:prstGeom>
              <a:solidFill>
                <a:srgbClr val="DFEBF9"/>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80000" rtlCol="0" anchor="ctr">
                <a:noAutofit/>
              </a:bodyPr>
              <a:lstStyle/>
              <a:p>
                <a:pPr algn="ctr">
                  <a:lnSpc>
                    <a:spcPct val="150000"/>
                  </a:lnSpc>
                </a:pPr>
                <a:r>
                  <a:rPr lang="en-US" altLang="zh-CN" sz="4400" b="1" dirty="0">
                    <a:solidFill>
                      <a:srgbClr val="105186"/>
                    </a:solidFill>
                    <a:latin typeface="+mj-lt"/>
                    <a:ea typeface="思源宋体 CN Medium" panose="02020500000000000000" charset="-122"/>
                  </a:rPr>
                  <a:t>01</a:t>
                </a:r>
                <a:endParaRPr lang="zh-CN" altLang="en-US" sz="4400" b="1" dirty="0">
                  <a:solidFill>
                    <a:srgbClr val="105186"/>
                  </a:solidFill>
                  <a:latin typeface="+mj-lt"/>
                  <a:ea typeface="思源宋体 CN Medium" panose="02020500000000000000" charset="-122"/>
                </a:endParaRPr>
              </a:p>
            </p:txBody>
          </p:sp>
        </p:grpSp>
      </p:grpSp>
      <p:grpSp>
        <p:nvGrpSpPr>
          <p:cNvPr id="25" name="组合 24"/>
          <p:cNvGrpSpPr/>
          <p:nvPr>
            <p:custDataLst>
              <p:tags r:id="rId6"/>
            </p:custDataLst>
          </p:nvPr>
        </p:nvGrpSpPr>
        <p:grpSpPr>
          <a:xfrm>
            <a:off x="523875" y="3449955"/>
            <a:ext cx="5535930" cy="1095375"/>
            <a:chOff x="825" y="5160"/>
            <a:chExt cx="8718" cy="1725"/>
          </a:xfrm>
        </p:grpSpPr>
        <p:sp>
          <p:nvSpPr>
            <p:cNvPr id="24" name="矩形: 剪去对角 23"/>
            <p:cNvSpPr/>
            <p:nvPr>
              <p:custDataLst>
                <p:tags r:id="rId7"/>
              </p:custDataLst>
            </p:nvPr>
          </p:nvSpPr>
          <p:spPr>
            <a:xfrm>
              <a:off x="1737" y="5672"/>
              <a:ext cx="7806" cy="976"/>
            </a:xfrm>
            <a:prstGeom prst="snip2DiagRect">
              <a:avLst>
                <a:gd name="adj1" fmla="val 0"/>
                <a:gd name="adj2" fmla="val 50000"/>
              </a:avLst>
            </a:prstGeom>
            <a:solidFill>
              <a:srgbClr val="105186"/>
            </a:solidFill>
            <a:ln>
              <a:solidFill>
                <a:schemeClr val="bg1"/>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800" b="1" dirty="0">
                  <a:solidFill>
                    <a:schemeClr val="bg1"/>
                  </a:solidFill>
                  <a:latin typeface="+mj-ea"/>
                  <a:ea typeface="+mj-ea"/>
                </a:rPr>
                <a:t>主要功能创新点</a:t>
              </a:r>
              <a:endParaRPr lang="zh-CN" altLang="en-US" sz="2800" b="1" dirty="0">
                <a:solidFill>
                  <a:schemeClr val="bg1"/>
                </a:solidFill>
                <a:latin typeface="+mj-ea"/>
                <a:ea typeface="+mj-ea"/>
              </a:endParaRPr>
            </a:p>
          </p:txBody>
        </p:sp>
        <p:grpSp>
          <p:nvGrpSpPr>
            <p:cNvPr id="20" name="组合 19"/>
            <p:cNvGrpSpPr>
              <a:grpSpLocks noGrp="1" noRot="1" noMove="1" noResize="1" noUngrp="1"/>
            </p:cNvGrpSpPr>
            <p:nvPr>
              <p:custDataLst>
                <p:tags r:id="rId8"/>
              </p:custDataLst>
            </p:nvPr>
          </p:nvGrpSpPr>
          <p:grpSpPr>
            <a:xfrm>
              <a:off x="825" y="5160"/>
              <a:ext cx="1725" cy="1725"/>
              <a:chOff x="523875" y="3276496"/>
              <a:chExt cx="1095375" cy="1095375"/>
            </a:xfrm>
          </p:grpSpPr>
          <p:sp>
            <p:nvSpPr>
              <p:cNvPr id="8" name="矩形 7"/>
              <p:cNvSpPr>
                <a:spLocks noGrp="1" noRot="1" noMove="1" noResize="1" noEditPoints="1" noAdjustHandles="1" noChangeArrowheads="1" noChangeShapeType="1"/>
              </p:cNvSpPr>
              <p:nvPr>
                <p:custDataLst>
                  <p:tags r:id="rId9"/>
                </p:custDataLst>
              </p:nvPr>
            </p:nvSpPr>
            <p:spPr>
              <a:xfrm>
                <a:off x="523875" y="3276496"/>
                <a:ext cx="942975" cy="942975"/>
              </a:xfrm>
              <a:prstGeom prst="rect">
                <a:avLst/>
              </a:prstGeom>
              <a:solidFill>
                <a:srgbClr val="DFEBF9"/>
              </a:solidFill>
              <a:ln>
                <a:solidFill>
                  <a:srgbClr val="FFFFFF"/>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4" name="矩形 13"/>
              <p:cNvSpPr>
                <a:spLocks noGrp="1" noRot="1" noMove="1" noResize="1" noEditPoints="1" noAdjustHandles="1" noChangeArrowheads="1" noChangeShapeType="1"/>
              </p:cNvSpPr>
              <p:nvPr>
                <p:custDataLst>
                  <p:tags r:id="rId10"/>
                </p:custDataLst>
              </p:nvPr>
            </p:nvSpPr>
            <p:spPr>
              <a:xfrm>
                <a:off x="676275" y="3428896"/>
                <a:ext cx="942975" cy="942975"/>
              </a:xfrm>
              <a:prstGeom prst="rect">
                <a:avLst/>
              </a:prstGeom>
              <a:solidFill>
                <a:srgbClr val="105186"/>
              </a:solidFill>
              <a:ln>
                <a:solidFill>
                  <a:srgbClr val="DFEBF9"/>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80000" rtlCol="0" anchor="ctr">
                <a:noAutofit/>
              </a:bodyPr>
              <a:lstStyle/>
              <a:p>
                <a:pPr algn="ctr">
                  <a:lnSpc>
                    <a:spcPct val="150000"/>
                  </a:lnSpc>
                </a:pPr>
                <a:r>
                  <a:rPr lang="en-US" altLang="zh-CN" sz="4400" b="1" dirty="0">
                    <a:solidFill>
                      <a:schemeClr val="bg1"/>
                    </a:solidFill>
                    <a:latin typeface="+mj-lt"/>
                    <a:ea typeface="思源宋体 CN Medium" panose="02020500000000000000" charset="-122"/>
                  </a:rPr>
                  <a:t>02</a:t>
                </a:r>
                <a:endParaRPr lang="zh-CN" altLang="en-US" sz="4400" b="1" dirty="0">
                  <a:solidFill>
                    <a:schemeClr val="bg1"/>
                  </a:solidFill>
                  <a:latin typeface="+mj-lt"/>
                  <a:ea typeface="思源宋体 CN Medium" panose="02020500000000000000" charset="-122"/>
                </a:endParaRPr>
              </a:p>
            </p:txBody>
          </p:sp>
        </p:grpSp>
      </p:grpSp>
      <p:grpSp>
        <p:nvGrpSpPr>
          <p:cNvPr id="26" name="组合 25"/>
          <p:cNvGrpSpPr/>
          <p:nvPr>
            <p:custDataLst>
              <p:tags r:id="rId11"/>
            </p:custDataLst>
          </p:nvPr>
        </p:nvGrpSpPr>
        <p:grpSpPr>
          <a:xfrm>
            <a:off x="523875" y="4930140"/>
            <a:ext cx="5535930" cy="1095375"/>
            <a:chOff x="825" y="8305"/>
            <a:chExt cx="8718" cy="1725"/>
          </a:xfrm>
        </p:grpSpPr>
        <p:sp>
          <p:nvSpPr>
            <p:cNvPr id="27" name="矩形: 剪去对角 26"/>
            <p:cNvSpPr/>
            <p:nvPr>
              <p:custDataLst>
                <p:tags r:id="rId12"/>
              </p:custDataLst>
            </p:nvPr>
          </p:nvSpPr>
          <p:spPr>
            <a:xfrm>
              <a:off x="1737" y="8817"/>
              <a:ext cx="7806" cy="976"/>
            </a:xfrm>
            <a:prstGeom prst="snip2DiagRect">
              <a:avLst>
                <a:gd name="adj1" fmla="val 0"/>
                <a:gd name="adj2" fmla="val 50000"/>
              </a:avLst>
            </a:prstGeom>
            <a:solidFill>
              <a:srgbClr val="DFEBF9"/>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800" b="1" dirty="0">
                  <a:solidFill>
                    <a:srgbClr val="105186"/>
                  </a:solidFill>
                  <a:latin typeface="+mj-ea"/>
                  <a:ea typeface="+mj-ea"/>
                </a:rPr>
                <a:t>产品效果展示</a:t>
              </a:r>
              <a:endParaRPr lang="zh-CN" altLang="en-US" sz="2800" b="1" dirty="0">
                <a:solidFill>
                  <a:srgbClr val="105186"/>
                </a:solidFill>
                <a:latin typeface="+mj-ea"/>
                <a:ea typeface="+mj-ea"/>
              </a:endParaRPr>
            </a:p>
          </p:txBody>
        </p:sp>
        <p:sp>
          <p:nvSpPr>
            <p:cNvPr id="9" name="矩形 8"/>
            <p:cNvSpPr>
              <a:spLocks noGrp="1" noRot="1" noMove="1" noResize="1" noEditPoints="1" noAdjustHandles="1" noChangeArrowheads="1" noChangeShapeType="1"/>
            </p:cNvSpPr>
            <p:nvPr>
              <p:custDataLst>
                <p:tags r:id="rId13"/>
              </p:custDataLst>
            </p:nvPr>
          </p:nvSpPr>
          <p:spPr>
            <a:xfrm>
              <a:off x="825" y="8305"/>
              <a:ext cx="1485" cy="1485"/>
            </a:xfrm>
            <a:prstGeom prst="rect">
              <a:avLst/>
            </a:prstGeom>
            <a:solidFill>
              <a:schemeClr val="bg1"/>
            </a:solidFill>
            <a:ln>
              <a:solidFill>
                <a:srgbClr val="105186"/>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5" name="矩形 14"/>
            <p:cNvSpPr/>
            <p:nvPr>
              <p:custDataLst>
                <p:tags r:id="rId14"/>
              </p:custDataLst>
            </p:nvPr>
          </p:nvSpPr>
          <p:spPr>
            <a:xfrm>
              <a:off x="1065" y="8545"/>
              <a:ext cx="1485" cy="1485"/>
            </a:xfrm>
            <a:prstGeom prst="rect">
              <a:avLst/>
            </a:prstGeom>
            <a:solidFill>
              <a:srgbClr val="DFEBF9"/>
            </a:solidFill>
            <a:ln>
              <a:solidFill>
                <a:srgbClr val="FFFFFF"/>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80000" rtlCol="0" anchor="ctr">
              <a:noAutofit/>
            </a:bodyPr>
            <a:lstStyle/>
            <a:p>
              <a:pPr algn="ctr">
                <a:lnSpc>
                  <a:spcPct val="150000"/>
                </a:lnSpc>
              </a:pPr>
              <a:r>
                <a:rPr lang="en-US" altLang="zh-CN" sz="4400" b="1" dirty="0">
                  <a:solidFill>
                    <a:srgbClr val="105186"/>
                  </a:solidFill>
                  <a:latin typeface="+mj-lt"/>
                  <a:ea typeface="思源宋体 CN Medium" panose="02020500000000000000" charset="-122"/>
                </a:rPr>
                <a:t>03</a:t>
              </a:r>
              <a:endParaRPr lang="zh-CN" altLang="en-US" sz="4400" b="1" dirty="0">
                <a:solidFill>
                  <a:srgbClr val="105186"/>
                </a:solidFill>
                <a:latin typeface="+mj-lt"/>
                <a:ea typeface="思源宋体 CN Medium" panose="02020500000000000000" charset="-122"/>
              </a:endParaRPr>
            </a:p>
          </p:txBody>
        </p:sp>
      </p:grpSp>
      <p:grpSp>
        <p:nvGrpSpPr>
          <p:cNvPr id="31" name="组合 30"/>
          <p:cNvGrpSpPr/>
          <p:nvPr>
            <p:custDataLst>
              <p:tags r:id="rId15"/>
            </p:custDataLst>
          </p:nvPr>
        </p:nvGrpSpPr>
        <p:grpSpPr>
          <a:xfrm>
            <a:off x="6442075" y="1966595"/>
            <a:ext cx="5465445" cy="1094740"/>
            <a:chOff x="10365" y="2015"/>
            <a:chExt cx="8607" cy="1724"/>
          </a:xfrm>
        </p:grpSpPr>
        <p:sp>
          <p:nvSpPr>
            <p:cNvPr id="28" name="矩形: 剪去对角 27"/>
            <p:cNvSpPr/>
            <p:nvPr>
              <p:custDataLst>
                <p:tags r:id="rId16"/>
              </p:custDataLst>
            </p:nvPr>
          </p:nvSpPr>
          <p:spPr>
            <a:xfrm>
              <a:off x="11166" y="2509"/>
              <a:ext cx="7806" cy="976"/>
            </a:xfrm>
            <a:prstGeom prst="snip2DiagRect">
              <a:avLst>
                <a:gd name="adj1" fmla="val 0"/>
                <a:gd name="adj2" fmla="val 50000"/>
              </a:avLst>
            </a:prstGeom>
            <a:solidFill>
              <a:srgbClr val="105186"/>
            </a:solidFill>
            <a:ln>
              <a:solidFill>
                <a:schemeClr val="bg1"/>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800" b="1" dirty="0">
                  <a:solidFill>
                    <a:schemeClr val="bg1"/>
                  </a:solidFill>
                  <a:latin typeface="+mj-ea"/>
                  <a:ea typeface="+mj-ea"/>
                </a:rPr>
                <a:t>技术难点与具体实现</a:t>
              </a:r>
              <a:endParaRPr lang="zh-CN" altLang="en-US" sz="2800" b="1" dirty="0">
                <a:solidFill>
                  <a:schemeClr val="bg1"/>
                </a:solidFill>
                <a:latin typeface="+mj-ea"/>
                <a:ea typeface="+mj-ea"/>
              </a:endParaRPr>
            </a:p>
          </p:txBody>
        </p:sp>
        <p:sp>
          <p:nvSpPr>
            <p:cNvPr id="10" name="矩形 9"/>
            <p:cNvSpPr>
              <a:spLocks noGrp="1" noRot="1" noMove="1" noResize="1" noEditPoints="1" noAdjustHandles="1" noChangeArrowheads="1" noChangeShapeType="1"/>
            </p:cNvSpPr>
            <p:nvPr>
              <p:custDataLst>
                <p:tags r:id="rId17"/>
              </p:custDataLst>
            </p:nvPr>
          </p:nvSpPr>
          <p:spPr>
            <a:xfrm>
              <a:off x="10365" y="2015"/>
              <a:ext cx="1485" cy="1485"/>
            </a:xfrm>
            <a:prstGeom prst="rect">
              <a:avLst/>
            </a:prstGeom>
            <a:solidFill>
              <a:srgbClr val="DFEBF9"/>
            </a:solidFill>
            <a:ln>
              <a:solidFill>
                <a:srgbClr val="FFFFFF"/>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6" name="矩形 15"/>
            <p:cNvSpPr>
              <a:spLocks noGrp="1" noRot="1" noMove="1" noResize="1" noEditPoints="1" noAdjustHandles="1" noChangeArrowheads="1" noChangeShapeType="1"/>
            </p:cNvSpPr>
            <p:nvPr>
              <p:custDataLst>
                <p:tags r:id="rId18"/>
              </p:custDataLst>
            </p:nvPr>
          </p:nvSpPr>
          <p:spPr>
            <a:xfrm>
              <a:off x="10605" y="2255"/>
              <a:ext cx="1485" cy="1485"/>
            </a:xfrm>
            <a:prstGeom prst="rect">
              <a:avLst/>
            </a:prstGeom>
            <a:solidFill>
              <a:srgbClr val="105186"/>
            </a:solidFill>
            <a:ln>
              <a:solidFill>
                <a:srgbClr val="DFEBF9"/>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80000" rtlCol="0" anchor="ctr">
              <a:noAutofit/>
            </a:bodyPr>
            <a:lstStyle/>
            <a:p>
              <a:pPr algn="ctr">
                <a:lnSpc>
                  <a:spcPct val="150000"/>
                </a:lnSpc>
              </a:pPr>
              <a:r>
                <a:rPr lang="en-US" altLang="zh-CN" sz="4400" b="1" dirty="0">
                  <a:solidFill>
                    <a:schemeClr val="bg1"/>
                  </a:solidFill>
                  <a:latin typeface="+mj-lt"/>
                  <a:ea typeface="思源宋体 CN Medium" panose="02020500000000000000" charset="-122"/>
                </a:rPr>
                <a:t>04</a:t>
              </a:r>
              <a:endParaRPr lang="zh-CN" altLang="en-US" sz="4400" b="1" dirty="0">
                <a:solidFill>
                  <a:schemeClr val="bg1"/>
                </a:solidFill>
                <a:latin typeface="+mj-lt"/>
                <a:ea typeface="思源宋体 CN Medium" panose="02020500000000000000" charset="-122"/>
              </a:endParaRPr>
            </a:p>
          </p:txBody>
        </p:sp>
      </p:grpSp>
      <p:grpSp>
        <p:nvGrpSpPr>
          <p:cNvPr id="33" name="组合 32"/>
          <p:cNvGrpSpPr/>
          <p:nvPr>
            <p:custDataLst>
              <p:tags r:id="rId19"/>
            </p:custDataLst>
          </p:nvPr>
        </p:nvGrpSpPr>
        <p:grpSpPr>
          <a:xfrm>
            <a:off x="6442075" y="4928235"/>
            <a:ext cx="5465445" cy="1094740"/>
            <a:chOff x="10365" y="8305"/>
            <a:chExt cx="8607" cy="1724"/>
          </a:xfrm>
        </p:grpSpPr>
        <p:sp>
          <p:nvSpPr>
            <p:cNvPr id="30" name="矩形: 剪去对角 29"/>
            <p:cNvSpPr/>
            <p:nvPr>
              <p:custDataLst>
                <p:tags r:id="rId20"/>
              </p:custDataLst>
            </p:nvPr>
          </p:nvSpPr>
          <p:spPr>
            <a:xfrm>
              <a:off x="11166" y="8814"/>
              <a:ext cx="7806" cy="976"/>
            </a:xfrm>
            <a:prstGeom prst="snip2DiagRect">
              <a:avLst>
                <a:gd name="adj1" fmla="val 0"/>
                <a:gd name="adj2" fmla="val 50000"/>
              </a:avLst>
            </a:prstGeom>
            <a:solidFill>
              <a:srgbClr val="105186"/>
            </a:solidFill>
            <a:ln>
              <a:solidFill>
                <a:schemeClr val="bg1"/>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800" b="1" dirty="0">
                  <a:solidFill>
                    <a:schemeClr val="bg1"/>
                  </a:solidFill>
                  <a:latin typeface="+mj-ea"/>
                  <a:ea typeface="+mj-ea"/>
                </a:rPr>
                <a:t>附页</a:t>
              </a:r>
              <a:endParaRPr lang="zh-CN" altLang="en-US" sz="2800" b="1" dirty="0">
                <a:solidFill>
                  <a:schemeClr val="bg1"/>
                </a:solidFill>
                <a:latin typeface="+mj-ea"/>
                <a:ea typeface="+mj-ea"/>
              </a:endParaRPr>
            </a:p>
          </p:txBody>
        </p:sp>
        <p:grpSp>
          <p:nvGrpSpPr>
            <p:cNvPr id="22" name="组合 21"/>
            <p:cNvGrpSpPr>
              <a:grpSpLocks noGrp="1" noRot="1" noMove="1" noResize="1" noUngrp="1"/>
            </p:cNvGrpSpPr>
            <p:nvPr>
              <p:custDataLst>
                <p:tags r:id="rId21"/>
              </p:custDataLst>
            </p:nvPr>
          </p:nvGrpSpPr>
          <p:grpSpPr>
            <a:xfrm>
              <a:off x="10365" y="8305"/>
              <a:ext cx="1725" cy="1725"/>
              <a:chOff x="6581775" y="5273605"/>
              <a:chExt cx="1095375" cy="1095375"/>
            </a:xfrm>
          </p:grpSpPr>
          <p:sp>
            <p:nvSpPr>
              <p:cNvPr id="12" name="矩形 11"/>
              <p:cNvSpPr>
                <a:spLocks noGrp="1" noRot="1" noMove="1" noResize="1" noEditPoints="1" noAdjustHandles="1" noChangeArrowheads="1" noChangeShapeType="1"/>
              </p:cNvSpPr>
              <p:nvPr>
                <p:custDataLst>
                  <p:tags r:id="rId22"/>
                </p:custDataLst>
              </p:nvPr>
            </p:nvSpPr>
            <p:spPr>
              <a:xfrm>
                <a:off x="6581775" y="5273605"/>
                <a:ext cx="942975" cy="942975"/>
              </a:xfrm>
              <a:prstGeom prst="rect">
                <a:avLst/>
              </a:prstGeom>
              <a:solidFill>
                <a:srgbClr val="DFEBF9"/>
              </a:solidFill>
              <a:ln>
                <a:solidFill>
                  <a:srgbClr val="FFFFFF"/>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7" name="矩形 16"/>
              <p:cNvSpPr>
                <a:spLocks noGrp="1" noRot="1" noMove="1" noResize="1" noEditPoints="1" noAdjustHandles="1" noChangeArrowheads="1" noChangeShapeType="1"/>
              </p:cNvSpPr>
              <p:nvPr>
                <p:custDataLst>
                  <p:tags r:id="rId23"/>
                </p:custDataLst>
              </p:nvPr>
            </p:nvSpPr>
            <p:spPr>
              <a:xfrm>
                <a:off x="6734175" y="5426005"/>
                <a:ext cx="942975" cy="942975"/>
              </a:xfrm>
              <a:prstGeom prst="rect">
                <a:avLst/>
              </a:prstGeom>
              <a:solidFill>
                <a:srgbClr val="105186"/>
              </a:solidFill>
              <a:ln>
                <a:solidFill>
                  <a:srgbClr val="DFEBF9"/>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80000" rtlCol="0" anchor="ctr">
                <a:noAutofit/>
              </a:bodyPr>
              <a:lstStyle/>
              <a:p>
                <a:pPr algn="ctr">
                  <a:lnSpc>
                    <a:spcPct val="150000"/>
                  </a:lnSpc>
                </a:pPr>
                <a:r>
                  <a:rPr lang="en-US" altLang="zh-CN" sz="4400" b="1" dirty="0">
                    <a:solidFill>
                      <a:schemeClr val="bg1"/>
                    </a:solidFill>
                    <a:latin typeface="+mj-lt"/>
                    <a:ea typeface="思源宋体 CN Medium" panose="02020500000000000000" charset="-122"/>
                  </a:rPr>
                  <a:t>06</a:t>
                </a:r>
                <a:endParaRPr lang="zh-CN" altLang="en-US" sz="4400" b="1" dirty="0">
                  <a:solidFill>
                    <a:schemeClr val="bg1"/>
                  </a:solidFill>
                  <a:latin typeface="+mj-lt"/>
                  <a:ea typeface="思源宋体 CN Medium" panose="02020500000000000000" charset="-122"/>
                </a:endParaRPr>
              </a:p>
            </p:txBody>
          </p:sp>
        </p:grpSp>
      </p:grpSp>
      <p:grpSp>
        <p:nvGrpSpPr>
          <p:cNvPr id="32" name="组合 31"/>
          <p:cNvGrpSpPr/>
          <p:nvPr>
            <p:custDataLst>
              <p:tags r:id="rId24"/>
            </p:custDataLst>
          </p:nvPr>
        </p:nvGrpSpPr>
        <p:grpSpPr>
          <a:xfrm>
            <a:off x="6442075" y="3447415"/>
            <a:ext cx="5465445" cy="1095375"/>
            <a:chOff x="10365" y="5160"/>
            <a:chExt cx="8607" cy="1725"/>
          </a:xfrm>
        </p:grpSpPr>
        <p:sp>
          <p:nvSpPr>
            <p:cNvPr id="29" name="矩形: 剪去对角 28"/>
            <p:cNvSpPr/>
            <p:nvPr>
              <p:custDataLst>
                <p:tags r:id="rId25"/>
              </p:custDataLst>
            </p:nvPr>
          </p:nvSpPr>
          <p:spPr>
            <a:xfrm>
              <a:off x="11166" y="5672"/>
              <a:ext cx="7806" cy="976"/>
            </a:xfrm>
            <a:prstGeom prst="snip2DiagRect">
              <a:avLst>
                <a:gd name="adj1" fmla="val 0"/>
                <a:gd name="adj2" fmla="val 50000"/>
              </a:avLst>
            </a:prstGeom>
            <a:solidFill>
              <a:srgbClr val="DFEBF9"/>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800" b="1" dirty="0">
                  <a:solidFill>
                    <a:srgbClr val="105186"/>
                  </a:solidFill>
                  <a:latin typeface="+mj-ea"/>
                  <a:ea typeface="+mj-ea"/>
                </a:rPr>
                <a:t>项目意义与实际应用</a:t>
              </a:r>
              <a:endParaRPr lang="zh-CN" altLang="en-US" sz="2800" b="1" dirty="0">
                <a:solidFill>
                  <a:srgbClr val="105186"/>
                </a:solidFill>
                <a:latin typeface="+mj-ea"/>
                <a:ea typeface="+mj-ea"/>
              </a:endParaRPr>
            </a:p>
          </p:txBody>
        </p:sp>
        <p:grpSp>
          <p:nvGrpSpPr>
            <p:cNvPr id="21" name="组合 20"/>
            <p:cNvGrpSpPr>
              <a:grpSpLocks noGrp="1" noRot="1" noMove="1" noResize="1" noUngrp="1"/>
            </p:cNvGrpSpPr>
            <p:nvPr>
              <p:custDataLst>
                <p:tags r:id="rId26"/>
              </p:custDataLst>
            </p:nvPr>
          </p:nvGrpSpPr>
          <p:grpSpPr>
            <a:xfrm>
              <a:off x="10365" y="5160"/>
              <a:ext cx="1725" cy="1725"/>
              <a:chOff x="6581775" y="3276496"/>
              <a:chExt cx="1095375" cy="1095375"/>
            </a:xfrm>
          </p:grpSpPr>
          <p:sp>
            <p:nvSpPr>
              <p:cNvPr id="11" name="矩形 10"/>
              <p:cNvSpPr>
                <a:spLocks noGrp="1" noRot="1" noMove="1" noResize="1" noEditPoints="1" noAdjustHandles="1" noChangeArrowheads="1" noChangeShapeType="1"/>
              </p:cNvSpPr>
              <p:nvPr>
                <p:custDataLst>
                  <p:tags r:id="rId27"/>
                </p:custDataLst>
              </p:nvPr>
            </p:nvSpPr>
            <p:spPr>
              <a:xfrm>
                <a:off x="6581775" y="3276496"/>
                <a:ext cx="942975" cy="942975"/>
              </a:xfrm>
              <a:prstGeom prst="rect">
                <a:avLst/>
              </a:prstGeom>
              <a:solidFill>
                <a:schemeClr val="bg1"/>
              </a:solidFill>
              <a:ln>
                <a:solidFill>
                  <a:srgbClr val="105186"/>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8" name="矩形 17"/>
              <p:cNvSpPr>
                <a:spLocks noGrp="1" noRot="1" noMove="1" noResize="1" noEditPoints="1" noAdjustHandles="1" noChangeArrowheads="1" noChangeShapeType="1"/>
              </p:cNvSpPr>
              <p:nvPr>
                <p:custDataLst>
                  <p:tags r:id="rId28"/>
                </p:custDataLst>
              </p:nvPr>
            </p:nvSpPr>
            <p:spPr>
              <a:xfrm>
                <a:off x="6734175" y="3428896"/>
                <a:ext cx="942975" cy="942975"/>
              </a:xfrm>
              <a:prstGeom prst="rect">
                <a:avLst/>
              </a:prstGeom>
              <a:solidFill>
                <a:srgbClr val="DFEBF9"/>
              </a:solidFill>
              <a:ln>
                <a:solidFill>
                  <a:srgbClr val="FFFFFF"/>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80000" rtlCol="0" anchor="ctr">
                <a:noAutofit/>
              </a:bodyPr>
              <a:lstStyle/>
              <a:p>
                <a:pPr algn="ctr">
                  <a:lnSpc>
                    <a:spcPct val="150000"/>
                  </a:lnSpc>
                </a:pPr>
                <a:r>
                  <a:rPr lang="en-US" altLang="zh-CN" sz="4400" b="1" dirty="0">
                    <a:solidFill>
                      <a:srgbClr val="105186"/>
                    </a:solidFill>
                    <a:latin typeface="+mj-lt"/>
                    <a:ea typeface="思源宋体 CN Medium" panose="02020500000000000000" charset="-122"/>
                  </a:rPr>
                  <a:t>05</a:t>
                </a:r>
                <a:endParaRPr lang="zh-CN" altLang="en-US" sz="4400" b="1" dirty="0">
                  <a:solidFill>
                    <a:srgbClr val="105186"/>
                  </a:solidFill>
                  <a:latin typeface="+mj-lt"/>
                  <a:ea typeface="思源宋体 CN Medium" panose="02020500000000000000" charset="-122"/>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2"/>
          <p:cNvSpPr/>
          <p:nvPr/>
        </p:nvSpPr>
        <p:spPr>
          <a:xfrm>
            <a:off x="254524" y="245097"/>
            <a:ext cx="11679810" cy="6381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138113" y="4610099"/>
            <a:ext cx="11796221" cy="46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5" name="文本框 4"/>
          <p:cNvSpPr txBox="1"/>
          <p:nvPr/>
        </p:nvSpPr>
        <p:spPr>
          <a:xfrm>
            <a:off x="5222449" y="4656841"/>
            <a:ext cx="1743959" cy="1569660"/>
          </a:xfrm>
          <a:prstGeom prst="rect">
            <a:avLst/>
          </a:prstGeom>
          <a:noFill/>
        </p:spPr>
        <p:txBody>
          <a:bodyPr wrap="square" rtlCol="0">
            <a:spAutoFit/>
          </a:bodyPr>
          <a:lstStyle/>
          <a:p>
            <a:r>
              <a:rPr lang="en-US" altLang="zh-CN" sz="9600" dirty="0">
                <a:solidFill>
                  <a:srgbClr val="105186"/>
                </a:solidFill>
                <a:latin typeface="+mj-lt"/>
                <a:ea typeface="思源宋体 CN Medium" panose="02020500000000000000" charset="-122"/>
              </a:rPr>
              <a:t>01</a:t>
            </a:r>
            <a:endParaRPr lang="zh-CN" altLang="en-US" sz="9600" dirty="0">
              <a:solidFill>
                <a:srgbClr val="105186"/>
              </a:solidFill>
              <a:latin typeface="+mj-lt"/>
              <a:ea typeface="思源宋体 CN Medium" panose="02020500000000000000" charset="-122"/>
            </a:endParaRPr>
          </a:p>
        </p:txBody>
      </p:sp>
      <p:sp>
        <p:nvSpPr>
          <p:cNvPr id="20" name="矩形 19"/>
          <p:cNvSpPr/>
          <p:nvPr/>
        </p:nvSpPr>
        <p:spPr>
          <a:xfrm>
            <a:off x="3063711" y="-653019"/>
            <a:ext cx="6249971" cy="12403395"/>
          </a:xfrm>
          <a:prstGeom prst="rect">
            <a:avLst/>
          </a:prstGeom>
          <a:noFill/>
        </p:spPr>
        <p:txBody>
          <a:bodyPr wrap="square" lIns="91440" tIns="45720" rIns="91440" bIns="45720">
            <a:spAutoFit/>
          </a:bodyPr>
          <a:lstStyle/>
          <a:p>
            <a:pPr algn="ctr"/>
            <a:r>
              <a:rPr lang="en-US" altLang="zh-CN"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rPr>
              <a:t>01</a:t>
            </a:r>
            <a:endParaRPr lang="zh-CN" altLang="en-US"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endParaRPr>
          </a:p>
        </p:txBody>
      </p:sp>
      <p:sp>
        <p:nvSpPr>
          <p:cNvPr id="6" name="文本框 5"/>
          <p:cNvSpPr txBox="1"/>
          <p:nvPr/>
        </p:nvSpPr>
        <p:spPr>
          <a:xfrm>
            <a:off x="2097601" y="1637374"/>
            <a:ext cx="8182190" cy="1107996"/>
          </a:xfrm>
          <a:prstGeom prst="rect">
            <a:avLst/>
          </a:prstGeom>
          <a:noFill/>
        </p:spPr>
        <p:txBody>
          <a:bodyPr wrap="square" rtlCol="0">
            <a:spAutoFit/>
          </a:bodyPr>
          <a:lstStyle/>
          <a:p>
            <a:pPr algn="ctr"/>
            <a:r>
              <a:rPr lang="zh-CN" altLang="en-US" sz="6600" dirty="0">
                <a:latin typeface="+mj-ea"/>
                <a:ea typeface="+mj-ea"/>
              </a:rPr>
              <a:t>项目缘起与开发背景</a:t>
            </a:r>
            <a:endParaRPr lang="zh-CN" altLang="en-US" sz="6600" dirty="0">
              <a:latin typeface="+mj-ea"/>
              <a:ea typeface="+mj-ea"/>
            </a:endParaRPr>
          </a:p>
        </p:txBody>
      </p:sp>
      <p:sp>
        <p:nvSpPr>
          <p:cNvPr id="7" name="文本框 6"/>
          <p:cNvSpPr txBox="1"/>
          <p:nvPr/>
        </p:nvSpPr>
        <p:spPr>
          <a:xfrm>
            <a:off x="2473164" y="2759634"/>
            <a:ext cx="7314653" cy="461665"/>
          </a:xfrm>
          <a:prstGeom prst="rect">
            <a:avLst/>
          </a:prstGeom>
          <a:noFill/>
        </p:spPr>
        <p:txBody>
          <a:bodyPr wrap="square" rtlCol="0">
            <a:spAutoFit/>
          </a:bodyPr>
          <a:lstStyle/>
          <a:p>
            <a:pPr algn="ctr"/>
            <a:r>
              <a:rPr lang="en-US" altLang="zh-CN" sz="2400" dirty="0">
                <a:ea typeface="思源宋体 CN Medium" panose="02020500000000000000" charset="-122"/>
              </a:rPr>
              <a:t>Project Origin and Development Background</a:t>
            </a:r>
            <a:endParaRPr lang="en-US" altLang="zh-CN" sz="2400" dirty="0">
              <a:ea typeface="思源宋体 CN Medium" panose="02020500000000000000" charset="-122"/>
            </a:endParaRPr>
          </a:p>
        </p:txBody>
      </p:sp>
      <p:sp>
        <p:nvSpPr>
          <p:cNvPr id="9" name="文本框 8"/>
          <p:cNvSpPr txBox="1"/>
          <p:nvPr/>
        </p:nvSpPr>
        <p:spPr>
          <a:xfrm>
            <a:off x="4418582" y="3682968"/>
            <a:ext cx="1405352" cy="461665"/>
          </a:xfrm>
          <a:prstGeom prst="rect">
            <a:avLst/>
          </a:prstGeom>
          <a:noFill/>
        </p:spPr>
        <p:txBody>
          <a:bodyPr wrap="square" rtlCol="0">
            <a:spAutoFit/>
          </a:bodyPr>
          <a:lstStyle/>
          <a:p>
            <a:r>
              <a:rPr lang="zh-CN" altLang="en-US" sz="2400" dirty="0">
                <a:ea typeface="思源宋体 CN Medium" panose="02020500000000000000" charset="-122"/>
              </a:rPr>
              <a:t>项目背景</a:t>
            </a:r>
            <a:endParaRPr lang="zh-CN" altLang="en-US" sz="2400" dirty="0">
              <a:ea typeface="思源宋体 CN Medium" panose="02020500000000000000" charset="-122"/>
            </a:endParaRPr>
          </a:p>
        </p:txBody>
      </p:sp>
      <p:grpSp>
        <p:nvGrpSpPr>
          <p:cNvPr id="18" name="组合 17"/>
          <p:cNvGrpSpPr/>
          <p:nvPr/>
        </p:nvGrpSpPr>
        <p:grpSpPr>
          <a:xfrm>
            <a:off x="6602124" y="3684000"/>
            <a:ext cx="1675940" cy="461665"/>
            <a:chOff x="7549225" y="3110845"/>
            <a:chExt cx="1675940" cy="461665"/>
          </a:xfrm>
        </p:grpSpPr>
        <p:sp>
          <p:nvSpPr>
            <p:cNvPr id="10" name="矩形 9"/>
            <p:cNvSpPr/>
            <p:nvPr/>
          </p:nvSpPr>
          <p:spPr>
            <a:xfrm>
              <a:off x="7549225" y="3214540"/>
              <a:ext cx="150829" cy="150829"/>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1" name="文本框 10"/>
            <p:cNvSpPr txBox="1"/>
            <p:nvPr/>
          </p:nvSpPr>
          <p:spPr>
            <a:xfrm>
              <a:off x="7744118" y="3110845"/>
              <a:ext cx="1481047" cy="461665"/>
            </a:xfrm>
            <a:prstGeom prst="rect">
              <a:avLst/>
            </a:prstGeom>
            <a:noFill/>
          </p:spPr>
          <p:txBody>
            <a:bodyPr wrap="square" rtlCol="0">
              <a:spAutoFit/>
            </a:bodyPr>
            <a:lstStyle/>
            <a:p>
              <a:r>
                <a:rPr lang="zh-CN" altLang="en-US" sz="2400" dirty="0">
                  <a:ea typeface="思源宋体 CN Medium" panose="02020500000000000000" charset="-122"/>
                </a:rPr>
                <a:t>现实痛点</a:t>
              </a:r>
              <a:endParaRPr lang="zh-CN" altLang="en-US" sz="2400" dirty="0">
                <a:ea typeface="思源宋体 CN Medium" panose="02020500000000000000" charset="-122"/>
              </a:endParaRPr>
            </a:p>
          </p:txBody>
        </p:sp>
      </p:grpSp>
      <p:sp>
        <p:nvSpPr>
          <p:cNvPr id="12" name="矩形 11"/>
          <p:cNvSpPr/>
          <p:nvPr/>
        </p:nvSpPr>
        <p:spPr>
          <a:xfrm>
            <a:off x="4273221" y="3787694"/>
            <a:ext cx="150829" cy="150829"/>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email"/>
          <a:stretch>
            <a:fillRect/>
          </a:stretch>
        </p:blipFill>
        <p:spPr>
          <a:xfrm>
            <a:off x="9383547" y="2732915"/>
            <a:ext cx="1775602" cy="1775602"/>
          </a:xfrm>
          <a:prstGeom prst="rect">
            <a:avLst/>
          </a:prstGeom>
        </p:spPr>
      </p:pic>
      <p:pic>
        <p:nvPicPr>
          <p:cNvPr id="2" name="图片 1"/>
          <p:cNvPicPr>
            <a:picLocks noChangeAspect="1"/>
          </p:cNvPicPr>
          <p:nvPr/>
        </p:nvPicPr>
        <p:blipFill>
          <a:blip r:embed="rId2" cstate="email"/>
          <a:stretch>
            <a:fillRect/>
          </a:stretch>
        </p:blipFill>
        <p:spPr>
          <a:xfrm>
            <a:off x="5551801" y="2700636"/>
            <a:ext cx="3831746" cy="1891199"/>
          </a:xfrm>
          <a:prstGeom prst="rect">
            <a:avLst/>
          </a:prstGeom>
        </p:spPr>
      </p:pic>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49" y="1777"/>
              <a:ext cx="3380" cy="1236"/>
              <a:chOff x="-158427" y="1128670"/>
              <a:chExt cx="2682811" cy="784695"/>
            </a:xfrm>
          </p:grpSpPr>
          <p:sp>
            <p:nvSpPr>
              <p:cNvPr id="121" name="矩形 120"/>
              <p:cNvSpPr/>
              <p:nvPr/>
            </p:nvSpPr>
            <p:spPr>
              <a:xfrm>
                <a:off x="-158427" y="1304146"/>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118" y="1741100"/>
                <a:ext cx="143731" cy="200800"/>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2490" y="1128670"/>
                <a:ext cx="2521295"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rgbClr val="092B42"/>
                  </a:solidFill>
                  <a:latin typeface="思源宋体 CN Medium" panose="02020500000000000000" charset="-122"/>
                  <a:ea typeface="思源宋体 CN Medium" panose="02020500000000000000" charset="-122"/>
                </a:rPr>
                <a:t>项目缘起</a:t>
              </a:r>
              <a:endParaRPr lang="en-US" altLang="zh-CN" sz="1600" b="1" dirty="0">
                <a:solidFill>
                  <a:srgbClr val="092B42"/>
                </a:solidFill>
                <a:latin typeface="思源宋体 CN Medium" panose="02020500000000000000" charset="-122"/>
                <a:ea typeface="思源宋体 CN Medium" panose="02020500000000000000" charset="-122"/>
              </a:endParaRPr>
            </a:p>
            <a:p>
              <a:pPr algn="ctr"/>
              <a:r>
                <a:rPr lang="zh-CN" altLang="en-US" sz="1600" b="1" dirty="0">
                  <a:solidFill>
                    <a:srgbClr val="092B42"/>
                  </a:solidFill>
                  <a:latin typeface="思源宋体 CN Medium" panose="02020500000000000000" charset="-122"/>
                  <a:ea typeface="思源宋体 CN Medium" panose="02020500000000000000" charset="-122"/>
                </a:rPr>
                <a:t>与开发背景</a:t>
              </a:r>
              <a:endParaRPr lang="zh-CN" altLang="en-US" sz="1600" b="1" dirty="0">
                <a:solidFill>
                  <a:srgbClr val="092B42"/>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技术难点</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与具体实现</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1.1  </a:t>
              </a:r>
              <a:r>
                <a:rPr lang="zh-CN" altLang="en-US" sz="2000" b="1" dirty="0">
                  <a:latin typeface="思源宋体 CN Medium" panose="02020500000000000000" charset="-122"/>
                  <a:ea typeface="思源宋体 CN Medium" panose="02020500000000000000" charset="-122"/>
                </a:rPr>
                <a:t>项目背景</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34" name="平行四边形 133"/>
          <p:cNvSpPr/>
          <p:nvPr/>
        </p:nvSpPr>
        <p:spPr>
          <a:xfrm>
            <a:off x="2054108" y="988494"/>
            <a:ext cx="3667252" cy="5645552"/>
          </a:xfrm>
          <a:prstGeom prst="parallelogram">
            <a:avLst>
              <a:gd name="adj" fmla="val 5891"/>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rIns="36000" rtlCol="0" anchor="ctr">
            <a:noAutofit/>
          </a:bodyPr>
          <a:lstStyle/>
          <a:p>
            <a:pPr>
              <a:lnSpc>
                <a:spcPct val="150000"/>
              </a:lnSpc>
            </a:pPr>
            <a:endParaRPr lang="zh-CN" altLang="en-US" dirty="0">
              <a:latin typeface="思源宋体 CN" panose="02020400000000000000" pitchFamily="18" charset="-122"/>
              <a:ea typeface="思源宋体 CN" panose="02020400000000000000" pitchFamily="18" charset="-122"/>
            </a:endParaRPr>
          </a:p>
        </p:txBody>
      </p:sp>
      <p:grpSp>
        <p:nvGrpSpPr>
          <p:cNvPr id="135" name="组合 134"/>
          <p:cNvGrpSpPr/>
          <p:nvPr/>
        </p:nvGrpSpPr>
        <p:grpSpPr>
          <a:xfrm>
            <a:off x="5545421" y="998218"/>
            <a:ext cx="6384755" cy="2128803"/>
            <a:chOff x="5637105" y="1687951"/>
            <a:chExt cx="6384755" cy="2128803"/>
          </a:xfrm>
          <a:effectLst>
            <a:outerShdw blurRad="114300" dist="101600" dir="5400000" algn="t" rotWithShape="0">
              <a:prstClr val="black">
                <a:alpha val="40000"/>
              </a:prstClr>
            </a:outerShdw>
          </a:effectLst>
        </p:grpSpPr>
        <p:sp>
          <p:nvSpPr>
            <p:cNvPr id="136" name="平行四边形 135"/>
            <p:cNvSpPr/>
            <p:nvPr/>
          </p:nvSpPr>
          <p:spPr>
            <a:xfrm>
              <a:off x="5637105" y="2269965"/>
              <a:ext cx="6341227" cy="1546789"/>
            </a:xfrm>
            <a:prstGeom prst="parallelogram">
              <a:avLst>
                <a:gd name="adj" fmla="val 7266"/>
              </a:avLst>
            </a:prstGeom>
            <a:solidFill>
              <a:srgbClr val="FFFFFF"/>
            </a:solidFill>
            <a:ln>
              <a:solidFill>
                <a:srgbClr val="DFEBF9"/>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rtlCol="0" anchor="ctr">
              <a:noAutofit/>
            </a:bodyPr>
            <a:lstStyle/>
            <a:p>
              <a:r>
                <a:rPr lang="en-US" altLang="zh-CN" dirty="0">
                  <a:solidFill>
                    <a:srgbClr val="105186"/>
                  </a:solidFill>
                  <a:latin typeface="思源宋体 CN Medium" panose="02020500000000000000" charset="-122"/>
                  <a:ea typeface="思源宋体 CN Medium" panose="02020500000000000000" charset="-122"/>
                </a:rPr>
                <a:t>GitHub</a:t>
              </a:r>
              <a:r>
                <a:rPr lang="zh-CN" altLang="en-US" dirty="0">
                  <a:solidFill>
                    <a:srgbClr val="105186"/>
                  </a:solidFill>
                  <a:latin typeface="思源宋体 CN Medium" panose="02020500000000000000" charset="-122"/>
                  <a:ea typeface="思源宋体 CN Medium" panose="02020500000000000000" charset="-122"/>
                </a:rPr>
                <a:t>等代码托管平台沉淀了海量的协作行为日志，结合</a:t>
              </a:r>
              <a:r>
                <a:rPr lang="en-US" altLang="zh-CN" dirty="0" err="1">
                  <a:solidFill>
                    <a:srgbClr val="105186"/>
                  </a:solidFill>
                  <a:latin typeface="思源宋体 CN Medium" panose="02020500000000000000" charset="-122"/>
                  <a:ea typeface="思源宋体 CN Medium" panose="02020500000000000000" charset="-122"/>
                </a:rPr>
                <a:t>OpenDigger</a:t>
              </a:r>
              <a:r>
                <a:rPr lang="zh-CN" altLang="en-US" dirty="0">
                  <a:solidFill>
                    <a:srgbClr val="105186"/>
                  </a:solidFill>
                  <a:latin typeface="思源宋体 CN Medium" panose="02020500000000000000" charset="-122"/>
                  <a:ea typeface="思源宋体 CN Medium" panose="02020500000000000000" charset="-122"/>
                </a:rPr>
                <a:t>等开源指标体系，为定量分析提供了数据基础 。通过对</a:t>
              </a:r>
              <a:r>
                <a:rPr lang="en-US" altLang="zh-CN" dirty="0">
                  <a:solidFill>
                    <a:srgbClr val="105186"/>
                  </a:solidFill>
                  <a:latin typeface="思源宋体 CN Medium" panose="02020500000000000000" charset="-122"/>
                  <a:ea typeface="思源宋体 CN Medium" panose="02020500000000000000" charset="-122"/>
                </a:rPr>
                <a:t>commit</a:t>
              </a:r>
              <a:r>
                <a:rPr lang="zh-CN" altLang="en-US" dirty="0">
                  <a:solidFill>
                    <a:srgbClr val="105186"/>
                  </a:solidFill>
                  <a:latin typeface="思源宋体 CN Medium" panose="02020500000000000000" charset="-122"/>
                  <a:ea typeface="思源宋体 CN Medium" panose="02020500000000000000" charset="-122"/>
                </a:rPr>
                <a:t>、</a:t>
              </a:r>
              <a:r>
                <a:rPr lang="en-US" altLang="zh-CN" dirty="0">
                  <a:solidFill>
                    <a:srgbClr val="105186"/>
                  </a:solidFill>
                  <a:latin typeface="思源宋体 CN Medium" panose="02020500000000000000" charset="-122"/>
                  <a:ea typeface="思源宋体 CN Medium" panose="02020500000000000000" charset="-122"/>
                </a:rPr>
                <a:t>PR</a:t>
              </a:r>
              <a:r>
                <a:rPr lang="zh-CN" altLang="en-US" dirty="0">
                  <a:solidFill>
                    <a:srgbClr val="105186"/>
                  </a:solidFill>
                  <a:latin typeface="思源宋体 CN Medium" panose="02020500000000000000" charset="-122"/>
                  <a:ea typeface="思源宋体 CN Medium" panose="02020500000000000000" charset="-122"/>
                </a:rPr>
                <a:t>等离散数据的挖掘与多维建模，使得对项目进行全生命周期的数字化洞察成为可能。</a:t>
              </a:r>
              <a:endParaRPr lang="zh-CN" altLang="en-US" dirty="0">
                <a:solidFill>
                  <a:srgbClr val="105186"/>
                </a:solidFill>
                <a:latin typeface="思源宋体 CN Medium" panose="02020500000000000000" charset="-122"/>
                <a:ea typeface="思源宋体 CN Medium" panose="02020500000000000000" charset="-122"/>
              </a:endParaRPr>
            </a:p>
          </p:txBody>
        </p:sp>
        <p:sp>
          <p:nvSpPr>
            <p:cNvPr id="137" name="平行四边形 136"/>
            <p:cNvSpPr/>
            <p:nvPr/>
          </p:nvSpPr>
          <p:spPr>
            <a:xfrm>
              <a:off x="5735069" y="1687951"/>
              <a:ext cx="6286791" cy="584026"/>
            </a:xfrm>
            <a:prstGeom prst="parallelogram">
              <a:avLst>
                <a:gd name="adj" fmla="val 7266"/>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396000" bIns="72000" rtlCol="0" anchor="ctr">
              <a:noAutofit/>
            </a:bodyPr>
            <a:lstStyle/>
            <a:p>
              <a:pPr algn="ctr">
                <a:lnSpc>
                  <a:spcPct val="150000"/>
                </a:lnSpc>
              </a:pPr>
              <a:r>
                <a:rPr lang="zh-CN" altLang="en-US" sz="2200" b="1" dirty="0">
                  <a:solidFill>
                    <a:srgbClr val="105186"/>
                  </a:solidFill>
                  <a:latin typeface="思源宋体 CN Medium" panose="02020500000000000000" charset="-122"/>
                  <a:ea typeface="思源宋体 CN Medium" panose="02020500000000000000" charset="-122"/>
                </a:rPr>
                <a:t>协作行为数据的结构化与可度量潜力</a:t>
              </a:r>
              <a:endParaRPr lang="zh-CN" altLang="en-US" sz="2200" b="1" dirty="0">
                <a:solidFill>
                  <a:srgbClr val="105186"/>
                </a:solidFill>
                <a:latin typeface="思源宋体 CN Medium" panose="02020500000000000000" charset="-122"/>
                <a:ea typeface="思源宋体 CN Medium" panose="02020500000000000000" charset="-122"/>
              </a:endParaRPr>
            </a:p>
          </p:txBody>
        </p:sp>
      </p:grpSp>
      <p:grpSp>
        <p:nvGrpSpPr>
          <p:cNvPr id="138" name="组合 137"/>
          <p:cNvGrpSpPr/>
          <p:nvPr/>
        </p:nvGrpSpPr>
        <p:grpSpPr>
          <a:xfrm>
            <a:off x="5455545" y="4301003"/>
            <a:ext cx="6431103" cy="2333042"/>
            <a:chOff x="5502780" y="1939702"/>
            <a:chExt cx="5962772" cy="2210079"/>
          </a:xfrm>
          <a:effectLst>
            <a:outerShdw blurRad="114300" dist="101600" dir="5400000" algn="t" rotWithShape="0">
              <a:prstClr val="black">
                <a:alpha val="40000"/>
              </a:prstClr>
            </a:outerShdw>
          </a:effectLst>
        </p:grpSpPr>
        <p:sp>
          <p:nvSpPr>
            <p:cNvPr id="139" name="平行四边形 138"/>
            <p:cNvSpPr/>
            <p:nvPr/>
          </p:nvSpPr>
          <p:spPr>
            <a:xfrm>
              <a:off x="5502780" y="2521641"/>
              <a:ext cx="5962772" cy="1628140"/>
            </a:xfrm>
            <a:prstGeom prst="parallelogram">
              <a:avLst>
                <a:gd name="adj" fmla="val 7266"/>
              </a:avLst>
            </a:prstGeom>
            <a:solidFill>
              <a:srgbClr val="FFFFFF"/>
            </a:solidFill>
            <a:ln>
              <a:solidFill>
                <a:srgbClr val="DFEBF9"/>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36000" rIns="0" rtlCol="0" anchor="ctr">
              <a:noAutofit/>
            </a:bodyPr>
            <a:lstStyle/>
            <a:p>
              <a:r>
                <a:rPr lang="zh-CN" altLang="en-US" dirty="0">
                  <a:solidFill>
                    <a:srgbClr val="105186"/>
                  </a:solidFill>
                  <a:latin typeface="思源宋体 CN Medium" panose="02020500000000000000" charset="-122"/>
                  <a:ea typeface="思源宋体 CN Medium" panose="02020500000000000000" charset="-122"/>
                </a:rPr>
                <a:t>传统的开源治理往往依赖人工经验，效率低下且主观性强。随着</a:t>
              </a:r>
              <a:r>
                <a:rPr lang="en-US" altLang="zh-CN" dirty="0">
                  <a:solidFill>
                    <a:srgbClr val="105186"/>
                  </a:solidFill>
                  <a:latin typeface="思源宋体 CN Medium" panose="02020500000000000000" charset="-122"/>
                  <a:ea typeface="思源宋体 CN Medium" panose="02020500000000000000" charset="-122"/>
                </a:rPr>
                <a:t>LLM</a:t>
              </a:r>
              <a:r>
                <a:rPr lang="zh-CN" altLang="en-US" dirty="0">
                  <a:solidFill>
                    <a:srgbClr val="105186"/>
                  </a:solidFill>
                  <a:latin typeface="思源宋体 CN Medium" panose="02020500000000000000" charset="-122"/>
                  <a:ea typeface="思源宋体 CN Medium" panose="02020500000000000000" charset="-122"/>
                </a:rPr>
                <a:t>技术的发展，利用</a:t>
              </a:r>
              <a:r>
                <a:rPr lang="en-US" altLang="zh-CN" dirty="0">
                  <a:solidFill>
                    <a:srgbClr val="105186"/>
                  </a:solidFill>
                  <a:latin typeface="思源宋体 CN Medium" panose="02020500000000000000" charset="-122"/>
                  <a:ea typeface="思源宋体 CN Medium" panose="02020500000000000000" charset="-122"/>
                </a:rPr>
                <a:t>AI Agent</a:t>
              </a:r>
              <a:r>
                <a:rPr lang="zh-CN" altLang="en-US" dirty="0">
                  <a:solidFill>
                    <a:srgbClr val="105186"/>
                  </a:solidFill>
                  <a:latin typeface="思源宋体 CN Medium" panose="02020500000000000000" charset="-122"/>
                  <a:ea typeface="思源宋体 CN Medium" panose="02020500000000000000" charset="-122"/>
                </a:rPr>
                <a:t>对结构化指标进行深度解读、风险归因并自动生成治理建议，正在重塑“数据监测</a:t>
              </a:r>
              <a:r>
                <a:rPr lang="en-US" altLang="zh-CN" dirty="0">
                  <a:solidFill>
                    <a:srgbClr val="105186"/>
                  </a:solidFill>
                  <a:latin typeface="思源宋体 CN Medium" panose="02020500000000000000" charset="-122"/>
                  <a:ea typeface="思源宋体 CN Medium" panose="02020500000000000000" charset="-122"/>
                </a:rPr>
                <a:t>—</a:t>
              </a:r>
              <a:r>
                <a:rPr lang="zh-CN" altLang="en-US" dirty="0">
                  <a:solidFill>
                    <a:srgbClr val="105186"/>
                  </a:solidFill>
                  <a:latin typeface="思源宋体 CN Medium" panose="02020500000000000000" charset="-122"/>
                  <a:ea typeface="思源宋体 CN Medium" panose="02020500000000000000" charset="-122"/>
                </a:rPr>
                <a:t>风险发现</a:t>
              </a:r>
              <a:r>
                <a:rPr lang="en-US" altLang="zh-CN" dirty="0">
                  <a:solidFill>
                    <a:srgbClr val="105186"/>
                  </a:solidFill>
                  <a:latin typeface="思源宋体 CN Medium" panose="02020500000000000000" charset="-122"/>
                  <a:ea typeface="思源宋体 CN Medium" panose="02020500000000000000" charset="-122"/>
                </a:rPr>
                <a:t>—</a:t>
              </a:r>
              <a:r>
                <a:rPr lang="zh-CN" altLang="en-US" dirty="0">
                  <a:solidFill>
                    <a:srgbClr val="105186"/>
                  </a:solidFill>
                  <a:latin typeface="思源宋体 CN Medium" panose="02020500000000000000" charset="-122"/>
                  <a:ea typeface="思源宋体 CN Medium" panose="02020500000000000000" charset="-122"/>
                </a:rPr>
                <a:t>决策执行”的治理闭环，推动开源治理向智能化方向跃迁 。</a:t>
              </a:r>
              <a:endParaRPr lang="zh-CN" altLang="en-US" dirty="0">
                <a:solidFill>
                  <a:srgbClr val="105186"/>
                </a:solidFill>
                <a:latin typeface="思源宋体 CN Medium" panose="02020500000000000000" charset="-122"/>
                <a:ea typeface="思源宋体 CN Medium" panose="02020500000000000000" charset="-122"/>
              </a:endParaRPr>
            </a:p>
          </p:txBody>
        </p:sp>
        <p:sp>
          <p:nvSpPr>
            <p:cNvPr id="140" name="平行四边形 139"/>
            <p:cNvSpPr/>
            <p:nvPr/>
          </p:nvSpPr>
          <p:spPr>
            <a:xfrm>
              <a:off x="5592655" y="1939702"/>
              <a:ext cx="5872897" cy="584026"/>
            </a:xfrm>
            <a:prstGeom prst="parallelogram">
              <a:avLst>
                <a:gd name="adj" fmla="val 7266"/>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396000" bIns="72000" rtlCol="0" anchor="ctr">
              <a:noAutofit/>
            </a:bodyPr>
            <a:lstStyle/>
            <a:p>
              <a:pPr algn="ctr">
                <a:lnSpc>
                  <a:spcPct val="150000"/>
                </a:lnSpc>
              </a:pPr>
              <a:r>
                <a:rPr lang="zh-CN" altLang="en-US" sz="2200" b="1" dirty="0">
                  <a:solidFill>
                    <a:srgbClr val="105186"/>
                  </a:solidFill>
                  <a:latin typeface="思源宋体 CN Medium" panose="02020500000000000000" charset="-122"/>
                  <a:ea typeface="思源宋体 CN Medium" panose="02020500000000000000" charset="-122"/>
                </a:rPr>
                <a:t>大模型技术赋予治理决策的新范式 </a:t>
              </a:r>
              <a:endParaRPr lang="zh-CN" altLang="en-US" sz="2200" b="1" dirty="0">
                <a:solidFill>
                  <a:srgbClr val="105186"/>
                </a:solidFill>
                <a:latin typeface="思源宋体 CN Medium" panose="02020500000000000000" charset="-122"/>
                <a:ea typeface="思源宋体 CN Medium" panose="02020500000000000000" charset="-122"/>
              </a:endParaRPr>
            </a:p>
          </p:txBody>
        </p:sp>
      </p:grpSp>
      <p:sp>
        <p:nvSpPr>
          <p:cNvPr id="141" name="文本框 140"/>
          <p:cNvSpPr txBox="1"/>
          <p:nvPr/>
        </p:nvSpPr>
        <p:spPr>
          <a:xfrm>
            <a:off x="1886763" y="1262443"/>
            <a:ext cx="3864610" cy="1048429"/>
          </a:xfrm>
          <a:prstGeom prst="rect">
            <a:avLst/>
          </a:prstGeom>
          <a:noFill/>
        </p:spPr>
        <p:txBody>
          <a:bodyPr wrap="square" rtlCol="0">
            <a:spAutoFit/>
          </a:bodyPr>
          <a:lstStyle/>
          <a:p>
            <a:pPr lvl="0" algn="ctr">
              <a:lnSpc>
                <a:spcPct val="150000"/>
              </a:lnSpc>
              <a:buClrTx/>
              <a:buSzTx/>
            </a:pPr>
            <a:r>
              <a:rPr lang="zh-CN" altLang="en-US" sz="2200" b="1" dirty="0">
                <a:solidFill>
                  <a:schemeClr val="bg1"/>
                </a:solidFill>
                <a:latin typeface="思源宋体 CN Medium" panose="02020500000000000000" charset="-122"/>
                <a:ea typeface="思源宋体 CN Medium" panose="02020500000000000000" charset="-122"/>
                <a:sym typeface="+mn-ea"/>
              </a:rPr>
              <a:t>开源生态的基础设施化</a:t>
            </a:r>
            <a:endParaRPr lang="en-US" altLang="zh-CN" sz="2200" b="1" dirty="0">
              <a:solidFill>
                <a:schemeClr val="bg1"/>
              </a:solidFill>
              <a:latin typeface="思源宋体 CN Medium" panose="02020500000000000000" charset="-122"/>
              <a:ea typeface="思源宋体 CN Medium" panose="02020500000000000000" charset="-122"/>
              <a:sym typeface="+mn-ea"/>
            </a:endParaRPr>
          </a:p>
          <a:p>
            <a:pPr lvl="0" algn="ctr">
              <a:lnSpc>
                <a:spcPct val="150000"/>
              </a:lnSpc>
              <a:buClrTx/>
              <a:buSzTx/>
            </a:pPr>
            <a:r>
              <a:rPr lang="zh-CN" altLang="en-US" sz="2200" b="1" dirty="0">
                <a:solidFill>
                  <a:schemeClr val="bg1"/>
                </a:solidFill>
                <a:latin typeface="思源宋体 CN Medium" panose="02020500000000000000" charset="-122"/>
                <a:ea typeface="思源宋体 CN Medium" panose="02020500000000000000" charset="-122"/>
                <a:sym typeface="+mn-ea"/>
              </a:rPr>
              <a:t>与治理需求激增 </a:t>
            </a:r>
            <a:endParaRPr lang="zh-CN" altLang="en-US" sz="2200" b="1" dirty="0">
              <a:solidFill>
                <a:schemeClr val="bg1"/>
              </a:solidFill>
              <a:latin typeface="思源宋体 CN Medium" panose="02020500000000000000" charset="-122"/>
              <a:ea typeface="思源宋体 CN Medium" panose="02020500000000000000" charset="-122"/>
              <a:sym typeface="+mn-ea"/>
            </a:endParaRPr>
          </a:p>
        </p:txBody>
      </p:sp>
      <p:sp>
        <p:nvSpPr>
          <p:cNvPr id="142" name="文本框 141"/>
          <p:cNvSpPr txBox="1"/>
          <p:nvPr/>
        </p:nvSpPr>
        <p:spPr>
          <a:xfrm>
            <a:off x="2400005" y="2444920"/>
            <a:ext cx="3007375" cy="3783087"/>
          </a:xfrm>
          <a:prstGeom prst="rect">
            <a:avLst/>
          </a:prstGeom>
          <a:noFill/>
        </p:spPr>
        <p:txBody>
          <a:bodyPr wrap="square" rtlCol="0">
            <a:spAutoFit/>
          </a:bodyPr>
          <a:lstStyle/>
          <a:p>
            <a:pPr lvl="0" algn="l">
              <a:lnSpc>
                <a:spcPct val="150000"/>
              </a:lnSpc>
              <a:buClrTx/>
              <a:buSzTx/>
              <a:buFontTx/>
            </a:pPr>
            <a:r>
              <a:rPr lang="zh-CN" altLang="en-US" dirty="0">
                <a:solidFill>
                  <a:schemeClr val="bg1"/>
                </a:solidFill>
                <a:latin typeface="思源宋体 CN Medium" panose="02020500000000000000" charset="-122"/>
                <a:ea typeface="思源宋体 CN Medium" panose="02020500000000000000" charset="-122"/>
                <a:sym typeface="+mn-ea"/>
              </a:rPr>
              <a:t>随着开源软件成为数字经济底座，开源项目的规模与复杂度呈指数级增长。开源已从单纯的代码共享演进为复杂的社会化协作网络，如何量化评估其健康状况与可持续性，已成为高校科研团队、企业及开源社区运营者的核心治理诉求 。</a:t>
            </a:r>
            <a:endParaRPr lang="zh-CN" altLang="en-US" dirty="0">
              <a:solidFill>
                <a:schemeClr val="bg1"/>
              </a:solidFill>
              <a:latin typeface="思源宋体 CN Medium" panose="02020500000000000000" charset="-122"/>
              <a:ea typeface="思源宋体 CN Medium" panose="02020500000000000000"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49" y="1777"/>
              <a:ext cx="3380" cy="1236"/>
              <a:chOff x="-158427" y="1128670"/>
              <a:chExt cx="2682811" cy="784695"/>
            </a:xfrm>
          </p:grpSpPr>
          <p:sp>
            <p:nvSpPr>
              <p:cNvPr id="121" name="矩形 120"/>
              <p:cNvSpPr/>
              <p:nvPr/>
            </p:nvSpPr>
            <p:spPr>
              <a:xfrm>
                <a:off x="-158427" y="1304146"/>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118" y="1741100"/>
                <a:ext cx="143731" cy="200800"/>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2490" y="1128670"/>
                <a:ext cx="2521295"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rgbClr val="092B42"/>
                  </a:solidFill>
                  <a:latin typeface="思源宋体 CN Medium" panose="02020500000000000000" charset="-122"/>
                  <a:ea typeface="思源宋体 CN Medium" panose="02020500000000000000" charset="-122"/>
                </a:rPr>
                <a:t>项目缘起</a:t>
              </a:r>
              <a:endParaRPr lang="en-US" altLang="zh-CN" sz="1600" b="1" dirty="0">
                <a:solidFill>
                  <a:srgbClr val="092B42"/>
                </a:solidFill>
                <a:latin typeface="思源宋体 CN Medium" panose="02020500000000000000" charset="-122"/>
                <a:ea typeface="思源宋体 CN Medium" panose="02020500000000000000" charset="-122"/>
              </a:endParaRPr>
            </a:p>
            <a:p>
              <a:pPr algn="ctr"/>
              <a:r>
                <a:rPr lang="zh-CN" altLang="en-US" sz="1600" b="1" dirty="0">
                  <a:solidFill>
                    <a:srgbClr val="092B42"/>
                  </a:solidFill>
                  <a:latin typeface="思源宋体 CN Medium" panose="02020500000000000000" charset="-122"/>
                  <a:ea typeface="思源宋体 CN Medium" panose="02020500000000000000" charset="-122"/>
                </a:rPr>
                <a:t>与开发背景</a:t>
              </a:r>
              <a:endParaRPr lang="zh-CN" altLang="en-US" sz="1600" b="1" dirty="0">
                <a:solidFill>
                  <a:srgbClr val="092B42"/>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技术难点</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与具体实现</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1.2  </a:t>
              </a:r>
              <a:r>
                <a:rPr lang="zh-CN" altLang="en-US" sz="2000" b="1" dirty="0">
                  <a:latin typeface="思源宋体 CN Medium" panose="02020500000000000000" charset="-122"/>
                  <a:ea typeface="思源宋体 CN Medium" panose="02020500000000000000" charset="-122"/>
                </a:rPr>
                <a:t>现实痛点</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grpSp>
        <p:nvGrpSpPr>
          <p:cNvPr id="4" name="组合 3"/>
          <p:cNvGrpSpPr/>
          <p:nvPr/>
        </p:nvGrpSpPr>
        <p:grpSpPr>
          <a:xfrm>
            <a:off x="2222021" y="1101736"/>
            <a:ext cx="9620125" cy="1604745"/>
            <a:chOff x="2884602" y="1124807"/>
            <a:chExt cx="9054592" cy="1578026"/>
          </a:xfrm>
        </p:grpSpPr>
        <p:sp>
          <p:nvSpPr>
            <p:cNvPr id="5" name="矩形: 剪去对角 18"/>
            <p:cNvSpPr/>
            <p:nvPr/>
          </p:nvSpPr>
          <p:spPr>
            <a:xfrm>
              <a:off x="2884602" y="1124807"/>
              <a:ext cx="8927183" cy="1458835"/>
            </a:xfrm>
            <a:prstGeom prst="snip2Diag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p>
          </p:txBody>
        </p:sp>
        <p:sp>
          <p:nvSpPr>
            <p:cNvPr id="6" name="矩形: 剪去对角 19"/>
            <p:cNvSpPr/>
            <p:nvPr/>
          </p:nvSpPr>
          <p:spPr>
            <a:xfrm>
              <a:off x="3012011" y="1243998"/>
              <a:ext cx="8927183" cy="1458835"/>
            </a:xfrm>
            <a:prstGeom prst="snip2DiagRect">
              <a:avLst/>
            </a:prstGeom>
            <a:solidFill>
              <a:schemeClr val="bg1"/>
            </a:solidFill>
            <a:ln w="15875">
              <a:solidFill>
                <a:srgbClr val="092B42"/>
              </a:solid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bIns="72000" rtlCol="0" anchor="ctr">
              <a:noAutofit/>
            </a:bodyPr>
            <a:lstStyle/>
            <a:p>
              <a:pPr>
                <a:lnSpc>
                  <a:spcPct val="150000"/>
                </a:lnSpc>
              </a:pPr>
              <a:r>
                <a:rPr lang="zh-CN" altLang="en-US" dirty="0">
                  <a:solidFill>
                    <a:srgbClr val="092B42"/>
                  </a:solidFill>
                  <a:latin typeface="思源宋体 CN Heavy" panose="02020900000000000000" pitchFamily="18" charset="-122"/>
                  <a:ea typeface="思源宋体 CN Heavy" panose="02020900000000000000" pitchFamily="18" charset="-122"/>
                </a:rPr>
                <a:t>现实痛点一：指标碎片化，缺乏统一健康评估框架</a:t>
              </a:r>
              <a:endParaRPr lang="en-US" altLang="zh-CN" dirty="0">
                <a:solidFill>
                  <a:srgbClr val="092B42"/>
                </a:solidFill>
                <a:latin typeface="思源宋体 CN Heavy" panose="02020900000000000000" pitchFamily="18" charset="-122"/>
                <a:ea typeface="思源宋体 CN Heavy" panose="02020900000000000000" pitchFamily="18" charset="-122"/>
              </a:endParaRPr>
            </a:p>
            <a:p>
              <a:r>
                <a:rPr lang="zh-CN" altLang="en-US" dirty="0">
                  <a:solidFill>
                    <a:srgbClr val="092B42"/>
                  </a:solidFill>
                  <a:ea typeface="思源宋体 CN" panose="02020400000000000000" pitchFamily="18" charset="-122"/>
                </a:rPr>
                <a:t>当前开源数据大多以散点形式存在（如仅看</a:t>
              </a:r>
              <a:r>
                <a:rPr lang="en-US" altLang="zh-CN" dirty="0">
                  <a:solidFill>
                    <a:srgbClr val="105186"/>
                  </a:solidFill>
                  <a:ea typeface="思源宋体 CN Medium" panose="02020500000000000000" charset="-122"/>
                </a:rPr>
                <a:t>star</a:t>
              </a:r>
              <a:r>
                <a:rPr lang="zh-CN" altLang="en-US" dirty="0">
                  <a:solidFill>
                    <a:srgbClr val="092B42"/>
                  </a:solidFill>
                  <a:ea typeface="思源宋体 CN" panose="02020400000000000000" pitchFamily="18" charset="-122"/>
                </a:rPr>
                <a:t>数或</a:t>
              </a:r>
              <a:r>
                <a:rPr lang="en-US" altLang="zh-CN" dirty="0">
                  <a:solidFill>
                    <a:srgbClr val="105186"/>
                  </a:solidFill>
                  <a:ea typeface="思源宋体 CN Medium" panose="02020500000000000000" charset="-122"/>
                </a:rPr>
                <a:t>commit</a:t>
              </a:r>
              <a:r>
                <a:rPr lang="zh-CN" altLang="en-US" dirty="0">
                  <a:solidFill>
                    <a:srgbClr val="092B42"/>
                  </a:solidFill>
                  <a:ea typeface="思源宋体 CN" panose="02020400000000000000" pitchFamily="18" charset="-122"/>
                </a:rPr>
                <a:t>量），指标高度离散且维度单一。维护者缺乏一套涵盖活跃度、响应效率、贡献结构等多维度的统一评估标准，导致难以直观判断项目的整体健康水位 。</a:t>
              </a:r>
              <a:endParaRPr lang="zh-CN" altLang="en-US" dirty="0">
                <a:solidFill>
                  <a:srgbClr val="092B42"/>
                </a:solidFill>
                <a:ea typeface="思源宋体 CN" panose="02020400000000000000" pitchFamily="18" charset="-122"/>
              </a:endParaRPr>
            </a:p>
          </p:txBody>
        </p:sp>
      </p:grpSp>
      <p:grpSp>
        <p:nvGrpSpPr>
          <p:cNvPr id="7" name="组合 6"/>
          <p:cNvGrpSpPr/>
          <p:nvPr/>
        </p:nvGrpSpPr>
        <p:grpSpPr>
          <a:xfrm>
            <a:off x="2222021" y="2887466"/>
            <a:ext cx="9597405" cy="1702715"/>
            <a:chOff x="2884602" y="941292"/>
            <a:chExt cx="9060215" cy="1702715"/>
          </a:xfrm>
        </p:grpSpPr>
        <p:sp>
          <p:nvSpPr>
            <p:cNvPr id="8" name="矩形: 剪去对角 22"/>
            <p:cNvSpPr/>
            <p:nvPr/>
          </p:nvSpPr>
          <p:spPr>
            <a:xfrm>
              <a:off x="2884602" y="941292"/>
              <a:ext cx="8926951" cy="1642110"/>
            </a:xfrm>
            <a:prstGeom prst="snip2Diag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p>
          </p:txBody>
        </p:sp>
        <p:sp>
          <p:nvSpPr>
            <p:cNvPr id="9" name="矩形: 剪去对角 23"/>
            <p:cNvSpPr/>
            <p:nvPr/>
          </p:nvSpPr>
          <p:spPr>
            <a:xfrm>
              <a:off x="3017866" y="1093337"/>
              <a:ext cx="8926951" cy="1550670"/>
            </a:xfrm>
            <a:prstGeom prst="snip2DiagRect">
              <a:avLst/>
            </a:prstGeom>
            <a:solidFill>
              <a:schemeClr val="bg1"/>
            </a:solidFill>
            <a:ln w="15875">
              <a:solidFill>
                <a:srgbClr val="092B42"/>
              </a:solid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bIns="72000" rtlCol="0" anchor="ctr">
              <a:noAutofit/>
            </a:bodyPr>
            <a:lstStyle/>
            <a:p>
              <a:pPr>
                <a:lnSpc>
                  <a:spcPct val="150000"/>
                </a:lnSpc>
              </a:pPr>
              <a:r>
                <a:rPr lang="zh-CN" altLang="en-US" dirty="0">
                  <a:solidFill>
                    <a:srgbClr val="092B42"/>
                  </a:solidFill>
                  <a:latin typeface="思源宋体 CN Heavy" panose="02020900000000000000" pitchFamily="18" charset="-122"/>
                  <a:ea typeface="思源宋体 CN Heavy" panose="02020900000000000000" pitchFamily="18" charset="-122"/>
                </a:rPr>
                <a:t>现实痛点二：分析静态化，难以捕捉项目演化趋势</a:t>
              </a:r>
              <a:endParaRPr lang="en-US" altLang="zh-CN" dirty="0">
                <a:solidFill>
                  <a:srgbClr val="092B42"/>
                </a:solidFill>
                <a:latin typeface="思源宋体 CN Heavy" panose="02020900000000000000" pitchFamily="18" charset="-122"/>
                <a:ea typeface="思源宋体 CN Heavy" panose="02020900000000000000" pitchFamily="18" charset="-122"/>
              </a:endParaRPr>
            </a:p>
            <a:p>
              <a:r>
                <a:rPr lang="zh-CN" altLang="en-US" dirty="0">
                  <a:solidFill>
                    <a:srgbClr val="092B42"/>
                  </a:solidFill>
                  <a:latin typeface="思源宋体 CN" panose="02020400000000000000" pitchFamily="18" charset="-122"/>
                  <a:ea typeface="思源宋体 CN" panose="02020400000000000000" pitchFamily="18" charset="-122"/>
                </a:rPr>
                <a:t>现有工具多停留在对某一时间点的静态统计，忽略了项目发展的时序特征。这种静态视角难以识别“活跃度逐渐下滑”、“响应时间缓慢爬升”等动态演化过程，导致维护者无法在问题爆发前捕捉到潜在的趋势性风险 。</a:t>
              </a:r>
              <a:endParaRPr lang="zh-CN" altLang="en-US" dirty="0">
                <a:solidFill>
                  <a:srgbClr val="092B42"/>
                </a:solidFill>
                <a:latin typeface="思源宋体 CN" panose="02020400000000000000" pitchFamily="18" charset="-122"/>
                <a:ea typeface="思源宋体 CN" panose="02020400000000000000" pitchFamily="18" charset="-122"/>
              </a:endParaRPr>
            </a:p>
          </p:txBody>
        </p:sp>
      </p:grpSp>
      <p:grpSp>
        <p:nvGrpSpPr>
          <p:cNvPr id="10" name="组合 9"/>
          <p:cNvGrpSpPr/>
          <p:nvPr/>
        </p:nvGrpSpPr>
        <p:grpSpPr>
          <a:xfrm>
            <a:off x="2219157" y="4798696"/>
            <a:ext cx="9600269" cy="1788530"/>
            <a:chOff x="2884602" y="1124807"/>
            <a:chExt cx="9089092" cy="1591301"/>
          </a:xfrm>
        </p:grpSpPr>
        <p:sp>
          <p:nvSpPr>
            <p:cNvPr id="11" name="矩形: 剪去对角 25"/>
            <p:cNvSpPr/>
            <p:nvPr/>
          </p:nvSpPr>
          <p:spPr>
            <a:xfrm>
              <a:off x="2884602" y="1124807"/>
              <a:ext cx="8927183" cy="1458835"/>
            </a:xfrm>
            <a:prstGeom prst="snip2Diag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p>
          </p:txBody>
        </p:sp>
        <p:sp>
          <p:nvSpPr>
            <p:cNvPr id="12" name="矩形: 剪去对角 26"/>
            <p:cNvSpPr/>
            <p:nvPr/>
          </p:nvSpPr>
          <p:spPr>
            <a:xfrm>
              <a:off x="3046511" y="1257273"/>
              <a:ext cx="8927183" cy="1458835"/>
            </a:xfrm>
            <a:prstGeom prst="snip2DiagRect">
              <a:avLst/>
            </a:prstGeom>
            <a:solidFill>
              <a:schemeClr val="bg1"/>
            </a:solidFill>
            <a:ln w="15875">
              <a:solidFill>
                <a:srgbClr val="092B42"/>
              </a:solid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bIns="72000" rtlCol="0" anchor="ctr">
              <a:noAutofit/>
            </a:bodyPr>
            <a:lstStyle/>
            <a:p>
              <a:pPr>
                <a:lnSpc>
                  <a:spcPct val="150000"/>
                </a:lnSpc>
              </a:pPr>
              <a:r>
                <a:rPr lang="zh-CN" altLang="en-US" dirty="0">
                  <a:solidFill>
                    <a:srgbClr val="092B42"/>
                  </a:solidFill>
                  <a:latin typeface="思源宋体 CN Heavy" panose="02020900000000000000" pitchFamily="18" charset="-122"/>
                  <a:ea typeface="思源宋体 CN Heavy" panose="02020900000000000000" pitchFamily="18" charset="-122"/>
                </a:rPr>
                <a:t>现实痛点三：风险隐蔽性高，治理决策缺乏行动抓手</a:t>
              </a:r>
              <a:endParaRPr lang="en-US" altLang="zh-CN" dirty="0">
                <a:solidFill>
                  <a:srgbClr val="092B42"/>
                </a:solidFill>
                <a:latin typeface="思源宋体 CN Heavy" panose="02020900000000000000" pitchFamily="18" charset="-122"/>
                <a:ea typeface="思源宋体 CN Heavy" panose="02020900000000000000" pitchFamily="18" charset="-122"/>
              </a:endParaRPr>
            </a:p>
            <a:p>
              <a:r>
                <a:rPr lang="zh-CN" altLang="en-US" dirty="0">
                  <a:solidFill>
                    <a:srgbClr val="092B42"/>
                  </a:solidFill>
                  <a:latin typeface="思源宋体 CN" panose="02020400000000000000" pitchFamily="18" charset="-122"/>
                  <a:ea typeface="思源宋体 CN" panose="02020400000000000000" pitchFamily="18" charset="-122"/>
                </a:rPr>
                <a:t>项目运行中的深层风险往往具有极强的隐蔽性，例如核心贡献者流失或者隐性</a:t>
              </a:r>
              <a:r>
                <a:rPr lang="en-US" altLang="zh-CN" dirty="0">
                  <a:solidFill>
                    <a:srgbClr val="105186"/>
                  </a:solidFill>
                  <a:ea typeface="思源宋体 CN Medium" panose="02020500000000000000" charset="-122"/>
                </a:rPr>
                <a:t>issue</a:t>
              </a:r>
              <a:r>
                <a:rPr lang="zh-CN" altLang="en-US" dirty="0">
                  <a:solidFill>
                    <a:srgbClr val="092B42"/>
                  </a:solidFill>
                  <a:latin typeface="思源宋体 CN" panose="02020400000000000000" pitchFamily="18" charset="-122"/>
                  <a:ea typeface="思源宋体 CN" panose="02020400000000000000" pitchFamily="18" charset="-122"/>
                </a:rPr>
                <a:t>积压 。单纯的数据展示无法直接转化为行动指南，维护者面临看见数据但不知如何改进的决策困境，亟需可解释的归因分析与具体的治理建议 。</a:t>
              </a:r>
              <a:endParaRPr lang="zh-CN" altLang="en-US" dirty="0">
                <a:solidFill>
                  <a:srgbClr val="092B42"/>
                </a:solidFill>
                <a:latin typeface="思源宋体 CN" panose="02020400000000000000" pitchFamily="18" charset="-122"/>
                <a:ea typeface="思源宋体 CN" panose="02020400000000000000" pitchFamily="18" charset="-122"/>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noRot="1" noMove="1" noResize="1" noEditPoints="1" noAdjustHandles="1" noChangeArrowheads="1" noChangeShapeType="1"/>
          </p:cNvSpPr>
          <p:nvPr/>
        </p:nvSpPr>
        <p:spPr>
          <a:xfrm>
            <a:off x="0" y="0"/>
            <a:ext cx="12192000" cy="685800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2"/>
          <p:cNvSpPr>
            <a:spLocks noGrp="1" noRot="1" noMove="1" noResize="1" noEditPoints="1" noAdjustHandles="1" noChangeArrowheads="1" noChangeShapeType="1"/>
          </p:cNvSpPr>
          <p:nvPr/>
        </p:nvSpPr>
        <p:spPr>
          <a:xfrm>
            <a:off x="254524" y="245097"/>
            <a:ext cx="11679810" cy="6381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138113" y="4610099"/>
            <a:ext cx="11796221" cy="46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5" name="文本框 4"/>
          <p:cNvSpPr txBox="1"/>
          <p:nvPr/>
        </p:nvSpPr>
        <p:spPr>
          <a:xfrm>
            <a:off x="5222449" y="4656841"/>
            <a:ext cx="1743959" cy="1569660"/>
          </a:xfrm>
          <a:prstGeom prst="rect">
            <a:avLst/>
          </a:prstGeom>
          <a:noFill/>
        </p:spPr>
        <p:txBody>
          <a:bodyPr wrap="square" rtlCol="0">
            <a:spAutoFit/>
          </a:bodyPr>
          <a:lstStyle/>
          <a:p>
            <a:r>
              <a:rPr lang="en-US" altLang="zh-CN" sz="9600" dirty="0">
                <a:solidFill>
                  <a:srgbClr val="105186"/>
                </a:solidFill>
                <a:latin typeface="+mj-lt"/>
                <a:ea typeface="思源宋体 CN Medium" panose="02020500000000000000" charset="-122"/>
              </a:rPr>
              <a:t>02</a:t>
            </a:r>
            <a:endParaRPr lang="zh-CN" altLang="en-US" sz="9600" dirty="0">
              <a:solidFill>
                <a:srgbClr val="105186"/>
              </a:solidFill>
              <a:latin typeface="+mj-lt"/>
              <a:ea typeface="思源宋体 CN Medium" panose="02020500000000000000" charset="-122"/>
            </a:endParaRPr>
          </a:p>
        </p:txBody>
      </p:sp>
      <p:sp>
        <p:nvSpPr>
          <p:cNvPr id="22" name="矩形 21"/>
          <p:cNvSpPr/>
          <p:nvPr/>
        </p:nvSpPr>
        <p:spPr>
          <a:xfrm>
            <a:off x="3063711" y="-653019"/>
            <a:ext cx="6249971" cy="12403395"/>
          </a:xfrm>
          <a:prstGeom prst="rect">
            <a:avLst/>
          </a:prstGeom>
          <a:noFill/>
        </p:spPr>
        <p:txBody>
          <a:bodyPr wrap="square" lIns="91440" tIns="45720" rIns="91440" bIns="45720">
            <a:spAutoFit/>
          </a:bodyPr>
          <a:lstStyle/>
          <a:p>
            <a:pPr algn="ctr"/>
            <a:r>
              <a:rPr lang="en-US" altLang="zh-CN"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rPr>
              <a:t>02</a:t>
            </a:r>
            <a:endParaRPr lang="zh-CN" altLang="en-US"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endParaRPr>
          </a:p>
        </p:txBody>
      </p:sp>
      <p:sp>
        <p:nvSpPr>
          <p:cNvPr id="6" name="文本框 5"/>
          <p:cNvSpPr txBox="1"/>
          <p:nvPr/>
        </p:nvSpPr>
        <p:spPr>
          <a:xfrm>
            <a:off x="2945877" y="1808140"/>
            <a:ext cx="6249971" cy="1107996"/>
          </a:xfrm>
          <a:prstGeom prst="rect">
            <a:avLst/>
          </a:prstGeom>
          <a:noFill/>
        </p:spPr>
        <p:txBody>
          <a:bodyPr wrap="square" rtlCol="0">
            <a:spAutoFit/>
          </a:bodyPr>
          <a:lstStyle/>
          <a:p>
            <a:r>
              <a:rPr lang="zh-CN" altLang="en-US" sz="6600" dirty="0">
                <a:latin typeface="+mj-ea"/>
                <a:ea typeface="+mj-ea"/>
              </a:rPr>
              <a:t>主要功能创新点</a:t>
            </a:r>
            <a:endParaRPr lang="zh-CN" altLang="en-US" sz="6600" dirty="0">
              <a:latin typeface="+mj-ea"/>
              <a:ea typeface="+mj-ea"/>
            </a:endParaRPr>
          </a:p>
        </p:txBody>
      </p:sp>
      <p:sp>
        <p:nvSpPr>
          <p:cNvPr id="7" name="文本框 6"/>
          <p:cNvSpPr txBox="1"/>
          <p:nvPr/>
        </p:nvSpPr>
        <p:spPr>
          <a:xfrm>
            <a:off x="4035375" y="3301452"/>
            <a:ext cx="4807790" cy="461665"/>
          </a:xfrm>
          <a:prstGeom prst="rect">
            <a:avLst/>
          </a:prstGeom>
          <a:noFill/>
        </p:spPr>
        <p:txBody>
          <a:bodyPr wrap="square" rtlCol="0">
            <a:spAutoFit/>
          </a:bodyPr>
          <a:lstStyle/>
          <a:p>
            <a:r>
              <a:rPr lang="en-US" altLang="zh-CN" sz="2400" dirty="0">
                <a:ea typeface="思源宋体 CN Medium" panose="02020500000000000000" charset="-122"/>
              </a:rPr>
              <a:t>Key Functional Innovations</a:t>
            </a:r>
            <a:endParaRPr lang="en-US" altLang="zh-CN" sz="2400" dirty="0">
              <a:ea typeface="思源宋体 CN Medium" panose="020205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48" y="3227"/>
              <a:ext cx="3384" cy="1262"/>
              <a:chOff x="-157839" y="2048729"/>
              <a:chExt cx="2686070" cy="801094"/>
            </a:xfrm>
          </p:grpSpPr>
          <p:sp>
            <p:nvSpPr>
              <p:cNvPr id="121" name="矩形 120"/>
              <p:cNvSpPr/>
              <p:nvPr/>
            </p:nvSpPr>
            <p:spPr>
              <a:xfrm>
                <a:off x="-157839" y="2224077"/>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5965" y="2677557"/>
                <a:ext cx="143731" cy="200801"/>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3090" y="2048729"/>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latin typeface="+mj-ea"/>
                </a:rPr>
                <a:t>主要功能创新点</a:t>
              </a:r>
              <a:endParaRPr lang="zh-CN" altLang="en-US" sz="1600" b="1" dirty="0">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技术难点</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与具体实现</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2 </a:t>
              </a:r>
              <a:r>
                <a:rPr lang="zh-CN" altLang="en-US" sz="2000" b="1" dirty="0">
                  <a:latin typeface="思源宋体 CN Medium" panose="02020500000000000000" charset="-122"/>
                  <a:ea typeface="思源宋体 CN Medium" panose="02020500000000000000" charset="-122"/>
                </a:rPr>
                <a:t>主要功能创新点</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3" name="矩形: 圆角 18"/>
          <p:cNvSpPr/>
          <p:nvPr/>
        </p:nvSpPr>
        <p:spPr>
          <a:xfrm>
            <a:off x="2216524" y="2364253"/>
            <a:ext cx="4695472" cy="4103222"/>
          </a:xfrm>
          <a:prstGeom prst="roundRect">
            <a:avLst>
              <a:gd name="adj" fmla="val 8657"/>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lnSpc>
                <a:spcPct val="100000"/>
              </a:lnSpc>
              <a:buClrTx/>
              <a:buSzTx/>
            </a:pPr>
            <a:r>
              <a:rPr lang="en-US" altLang="zh-CN" b="1" dirty="0">
                <a:solidFill>
                  <a:schemeClr val="tx1"/>
                </a:solidFill>
                <a:latin typeface="+mn-ea"/>
              </a:rPr>
              <a:t>1.</a:t>
            </a:r>
            <a:r>
              <a:rPr lang="zh-CN" altLang="en-US" b="1" dirty="0">
                <a:solidFill>
                  <a:schemeClr val="accent3">
                    <a:lumMod val="50000"/>
                  </a:schemeClr>
                </a:solidFill>
                <a:latin typeface="+mn-ea"/>
              </a:rPr>
              <a:t>全域指标体系构建</a:t>
            </a:r>
            <a:r>
              <a:rPr lang="zh-CN" altLang="en-US" dirty="0">
                <a:solidFill>
                  <a:schemeClr val="tx1"/>
                </a:solidFill>
                <a:latin typeface="+mn-ea"/>
              </a:rPr>
              <a:t>：基于</a:t>
            </a:r>
            <a:r>
              <a:rPr lang="en-US" altLang="zh-CN" dirty="0" err="1">
                <a:solidFill>
                  <a:schemeClr val="tx1"/>
                </a:solidFill>
                <a:latin typeface="+mn-ea"/>
              </a:rPr>
              <a:t>OpenDigger</a:t>
            </a:r>
            <a:r>
              <a:rPr lang="zh-CN" altLang="en-US" dirty="0">
                <a:solidFill>
                  <a:schemeClr val="tx1"/>
                </a:solidFill>
                <a:latin typeface="+mn-ea"/>
              </a:rPr>
              <a:t>数据集，重构了涵盖活跃度</a:t>
            </a:r>
            <a:r>
              <a:rPr lang="en-US" altLang="zh-CN" dirty="0">
                <a:solidFill>
                  <a:schemeClr val="tx1"/>
                </a:solidFill>
                <a:latin typeface="+mn-ea"/>
              </a:rPr>
              <a:t>(A)</a:t>
            </a:r>
            <a:r>
              <a:rPr lang="zh-CN" altLang="en-US" dirty="0">
                <a:solidFill>
                  <a:schemeClr val="tx1"/>
                </a:solidFill>
                <a:latin typeface="+mn-ea"/>
              </a:rPr>
              <a:t>、响应效率</a:t>
            </a:r>
            <a:r>
              <a:rPr lang="en-US" altLang="zh-CN" dirty="0">
                <a:solidFill>
                  <a:schemeClr val="tx1"/>
                </a:solidFill>
                <a:latin typeface="+mn-ea"/>
              </a:rPr>
              <a:t>(R)</a:t>
            </a:r>
            <a:r>
              <a:rPr lang="zh-CN" altLang="en-US" dirty="0">
                <a:solidFill>
                  <a:schemeClr val="tx1"/>
                </a:solidFill>
                <a:latin typeface="+mn-ea"/>
              </a:rPr>
              <a:t>、贡献结构</a:t>
            </a:r>
            <a:r>
              <a:rPr lang="en-US" altLang="zh-CN" dirty="0">
                <a:solidFill>
                  <a:schemeClr val="tx1"/>
                </a:solidFill>
                <a:latin typeface="+mn-ea"/>
              </a:rPr>
              <a:t>(C)</a:t>
            </a:r>
            <a:r>
              <a:rPr lang="zh-CN" altLang="en-US" dirty="0">
                <a:solidFill>
                  <a:schemeClr val="tx1"/>
                </a:solidFill>
                <a:latin typeface="+mn-ea"/>
              </a:rPr>
              <a:t>、关注度</a:t>
            </a:r>
            <a:r>
              <a:rPr lang="en-US" altLang="zh-CN" dirty="0">
                <a:solidFill>
                  <a:schemeClr val="tx1"/>
                </a:solidFill>
                <a:latin typeface="+mn-ea"/>
              </a:rPr>
              <a:t>(T)</a:t>
            </a:r>
            <a:r>
              <a:rPr lang="zh-CN" altLang="en-US" dirty="0">
                <a:solidFill>
                  <a:schemeClr val="tx1"/>
                </a:solidFill>
                <a:latin typeface="+mn-ea"/>
              </a:rPr>
              <a:t>、可持续性</a:t>
            </a:r>
            <a:r>
              <a:rPr lang="en-US" altLang="zh-CN" dirty="0">
                <a:solidFill>
                  <a:schemeClr val="tx1"/>
                </a:solidFill>
                <a:latin typeface="+mn-ea"/>
              </a:rPr>
              <a:t>(S) </a:t>
            </a:r>
            <a:r>
              <a:rPr lang="zh-CN" altLang="en-US" dirty="0">
                <a:solidFill>
                  <a:schemeClr val="tx1"/>
                </a:solidFill>
                <a:latin typeface="+mn-ea"/>
              </a:rPr>
              <a:t>的五维健康评估模型。</a:t>
            </a:r>
            <a:endParaRPr lang="en-US" altLang="zh-CN" dirty="0">
              <a:solidFill>
                <a:schemeClr val="tx1"/>
              </a:solidFill>
              <a:latin typeface="+mn-ea"/>
            </a:endParaRPr>
          </a:p>
          <a:p>
            <a:pPr algn="l">
              <a:lnSpc>
                <a:spcPct val="100000"/>
              </a:lnSpc>
              <a:buClrTx/>
              <a:buSzTx/>
            </a:pPr>
            <a:r>
              <a:rPr lang="en-US" altLang="zh-CN" b="1" dirty="0">
                <a:solidFill>
                  <a:schemeClr val="tx1"/>
                </a:solidFill>
                <a:latin typeface="+mn-ea"/>
              </a:rPr>
              <a:t>2.</a:t>
            </a:r>
            <a:r>
              <a:rPr lang="zh-CN" altLang="en-US" b="1" dirty="0">
                <a:solidFill>
                  <a:schemeClr val="accent3">
                    <a:lumMod val="50000"/>
                  </a:schemeClr>
                </a:solidFill>
                <a:latin typeface="+mn-ea"/>
              </a:rPr>
              <a:t>鲁棒性自适应评分算法</a:t>
            </a:r>
            <a:r>
              <a:rPr lang="zh-CN" altLang="en-US" dirty="0">
                <a:solidFill>
                  <a:schemeClr val="tx1"/>
                </a:solidFill>
                <a:latin typeface="+mn-ea"/>
              </a:rPr>
              <a:t>：针对开源项目长尾分布特征，设计了基于历史分位数的</a:t>
            </a:r>
            <a:r>
              <a:rPr lang="en-US" altLang="zh-CN" dirty="0">
                <a:solidFill>
                  <a:schemeClr val="tx1"/>
                </a:solidFill>
                <a:latin typeface="+mn-ea"/>
              </a:rPr>
              <a:t>Min-Max</a:t>
            </a:r>
            <a:r>
              <a:rPr lang="zh-CN" altLang="en-US" dirty="0">
                <a:solidFill>
                  <a:schemeClr val="tx1"/>
                </a:solidFill>
                <a:latin typeface="+mn-ea"/>
              </a:rPr>
              <a:t>归一化算法。系统能根据项目自身体量自适应调整评分基准，并内置抗噪逻辑，有效解决小众项目与巨型项目无法横向对标的难题。</a:t>
            </a:r>
            <a:endParaRPr lang="en-US" altLang="zh-CN" dirty="0">
              <a:solidFill>
                <a:schemeClr val="tx1"/>
              </a:solidFill>
              <a:latin typeface="+mn-ea"/>
            </a:endParaRPr>
          </a:p>
          <a:p>
            <a:pPr algn="l">
              <a:lnSpc>
                <a:spcPct val="100000"/>
              </a:lnSpc>
              <a:buClrTx/>
              <a:buSzTx/>
            </a:pPr>
            <a:r>
              <a:rPr lang="en-US" altLang="zh-CN" b="1" dirty="0">
                <a:solidFill>
                  <a:schemeClr val="tx1"/>
                </a:solidFill>
                <a:latin typeface="+mn-ea"/>
              </a:rPr>
              <a:t>3.</a:t>
            </a:r>
            <a:r>
              <a:rPr lang="zh-CN" altLang="en-US" b="1" dirty="0">
                <a:solidFill>
                  <a:schemeClr val="accent3">
                    <a:lumMod val="50000"/>
                  </a:schemeClr>
                </a:solidFill>
                <a:latin typeface="+mn-ea"/>
              </a:rPr>
              <a:t>可解释的权重体系</a:t>
            </a:r>
            <a:r>
              <a:rPr lang="zh-CN" altLang="en-US" dirty="0">
                <a:solidFill>
                  <a:schemeClr val="tx1"/>
                </a:solidFill>
                <a:latin typeface="+mn-ea"/>
              </a:rPr>
              <a:t>：摒弃黑盒打分，采用透明的加权机制，确保每一个分数变动都能追溯到具体的业务指标，提升评估结果的公信力。</a:t>
            </a:r>
            <a:endParaRPr lang="zh-CN" altLang="en-US" dirty="0">
              <a:solidFill>
                <a:schemeClr val="tx1"/>
              </a:solidFill>
              <a:latin typeface="+mn-ea"/>
            </a:endParaRPr>
          </a:p>
        </p:txBody>
      </p:sp>
      <p:sp>
        <p:nvSpPr>
          <p:cNvPr id="13" name="矩形: 圆角 20"/>
          <p:cNvSpPr/>
          <p:nvPr/>
        </p:nvSpPr>
        <p:spPr>
          <a:xfrm>
            <a:off x="2686717" y="1724342"/>
            <a:ext cx="3730175" cy="498475"/>
          </a:xfrm>
          <a:prstGeom prst="roundRect">
            <a:avLst>
              <a:gd name="adj" fmla="val 50000"/>
            </a:avLst>
          </a:prstGeom>
          <a:solidFill>
            <a:srgbClr val="105186"/>
          </a:solidFill>
          <a:ln>
            <a:solidFill>
              <a:srgbClr val="FFFF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08000" rtlCol="0" anchor="ctr">
            <a:noAutofit/>
          </a:bodyPr>
          <a:lstStyle/>
          <a:p>
            <a:pPr algn="ctr">
              <a:lnSpc>
                <a:spcPct val="150000"/>
              </a:lnSpc>
            </a:pPr>
            <a:r>
              <a:rPr lang="zh-CN" altLang="en-US" sz="2000" b="1" dirty="0">
                <a:latin typeface="+mj-ea"/>
                <a:ea typeface="+mj-ea"/>
              </a:rPr>
              <a:t>五维全景健康评估模型</a:t>
            </a:r>
            <a:endParaRPr lang="zh-CN" altLang="en-US" sz="2000" b="1" dirty="0">
              <a:latin typeface="+mj-ea"/>
              <a:ea typeface="+mj-ea"/>
            </a:endParaRPr>
          </a:p>
        </p:txBody>
      </p:sp>
      <p:sp>
        <p:nvSpPr>
          <p:cNvPr id="19" name="矩形: 圆角 18"/>
          <p:cNvSpPr/>
          <p:nvPr/>
        </p:nvSpPr>
        <p:spPr>
          <a:xfrm>
            <a:off x="7156210" y="2381635"/>
            <a:ext cx="4552676" cy="3677135"/>
          </a:xfrm>
          <a:prstGeom prst="roundRect">
            <a:avLst>
              <a:gd name="adj" fmla="val 8657"/>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lnSpc>
                <a:spcPct val="100000"/>
              </a:lnSpc>
              <a:buClrTx/>
              <a:buSzTx/>
            </a:pPr>
            <a:r>
              <a:rPr lang="en-US" altLang="zh-CN" b="1" dirty="0">
                <a:solidFill>
                  <a:schemeClr val="tx1"/>
                </a:solidFill>
                <a:latin typeface="+mn-ea"/>
              </a:rPr>
              <a:t>1.</a:t>
            </a:r>
            <a:r>
              <a:rPr lang="zh-CN" altLang="en-US" b="1" dirty="0">
                <a:solidFill>
                  <a:schemeClr val="accent3">
                    <a:lumMod val="50000"/>
                  </a:schemeClr>
                </a:solidFill>
                <a:latin typeface="+mn-ea"/>
              </a:rPr>
              <a:t>自动化分析报告生成</a:t>
            </a:r>
            <a:r>
              <a:rPr lang="zh-CN" altLang="en-US" b="1" dirty="0">
                <a:solidFill>
                  <a:schemeClr val="tx1"/>
                </a:solidFill>
                <a:latin typeface="+mn-ea"/>
              </a:rPr>
              <a:t>：</a:t>
            </a:r>
            <a:r>
              <a:rPr lang="zh-CN" altLang="en-US" dirty="0">
                <a:solidFill>
                  <a:schemeClr val="tx1"/>
                </a:solidFill>
                <a:latin typeface="+mn-ea"/>
              </a:rPr>
              <a:t>集成</a:t>
            </a:r>
            <a:r>
              <a:rPr lang="en-US" altLang="zh-CN" dirty="0">
                <a:solidFill>
                  <a:schemeClr val="tx1"/>
                </a:solidFill>
                <a:latin typeface="+mn-ea"/>
              </a:rPr>
              <a:t>LLM</a:t>
            </a:r>
            <a:r>
              <a:rPr lang="zh-CN" altLang="en-US" dirty="0">
                <a:solidFill>
                  <a:schemeClr val="tx1"/>
                </a:solidFill>
                <a:latin typeface="+mn-ea"/>
              </a:rPr>
              <a:t>能力，构建</a:t>
            </a:r>
            <a:r>
              <a:rPr lang="en-US" altLang="zh-CN" dirty="0">
                <a:solidFill>
                  <a:schemeClr val="tx1"/>
                </a:solidFill>
                <a:latin typeface="+mn-ea"/>
              </a:rPr>
              <a:t>Agent</a:t>
            </a:r>
            <a:r>
              <a:rPr lang="zh-CN" altLang="en-US" dirty="0">
                <a:solidFill>
                  <a:schemeClr val="tx1"/>
                </a:solidFill>
                <a:latin typeface="+mn-ea"/>
              </a:rPr>
              <a:t>分析助手。用户点击即可生成结构化</a:t>
            </a:r>
            <a:r>
              <a:rPr lang="en-US" altLang="zh-CN" dirty="0">
                <a:solidFill>
                  <a:schemeClr val="tx1"/>
                </a:solidFill>
                <a:latin typeface="+mn-ea"/>
              </a:rPr>
              <a:t>Markdown</a:t>
            </a:r>
            <a:r>
              <a:rPr lang="zh-CN" altLang="en-US" dirty="0">
                <a:solidFill>
                  <a:schemeClr val="tx1"/>
                </a:solidFill>
                <a:latin typeface="+mn-ea"/>
              </a:rPr>
              <a:t>健康报告，自动解读复杂图表，将数据转化为自然语言。</a:t>
            </a:r>
            <a:endParaRPr lang="en-US" altLang="zh-CN" dirty="0">
              <a:solidFill>
                <a:schemeClr val="tx1"/>
              </a:solidFill>
              <a:latin typeface="+mn-ea"/>
            </a:endParaRPr>
          </a:p>
          <a:p>
            <a:pPr algn="l">
              <a:lnSpc>
                <a:spcPct val="100000"/>
              </a:lnSpc>
              <a:buClrTx/>
              <a:buSzTx/>
            </a:pPr>
            <a:r>
              <a:rPr lang="en-US" altLang="zh-CN" b="1" dirty="0">
                <a:solidFill>
                  <a:schemeClr val="tx1"/>
                </a:solidFill>
                <a:latin typeface="+mn-ea"/>
              </a:rPr>
              <a:t>2.</a:t>
            </a:r>
            <a:r>
              <a:rPr lang="zh-CN" altLang="en-US" b="1" dirty="0">
                <a:solidFill>
                  <a:schemeClr val="accent3">
                    <a:lumMod val="50000"/>
                  </a:schemeClr>
                </a:solidFill>
                <a:latin typeface="+mn-ea"/>
              </a:rPr>
              <a:t>从监测到行动的映射</a:t>
            </a:r>
            <a:r>
              <a:rPr lang="zh-CN" altLang="en-US" dirty="0">
                <a:solidFill>
                  <a:schemeClr val="tx1"/>
                </a:solidFill>
                <a:latin typeface="+mn-ea"/>
              </a:rPr>
              <a:t>：实现“数据</a:t>
            </a:r>
            <a:r>
              <a:rPr lang="en-US" altLang="zh-CN" dirty="0">
                <a:solidFill>
                  <a:schemeClr val="tx1"/>
                </a:solidFill>
                <a:latin typeface="+mn-ea"/>
              </a:rPr>
              <a:t>—</a:t>
            </a:r>
            <a:r>
              <a:rPr lang="zh-CN" altLang="en-US" dirty="0">
                <a:solidFill>
                  <a:schemeClr val="tx1"/>
                </a:solidFill>
                <a:latin typeface="+mn-ea"/>
              </a:rPr>
              <a:t>风险</a:t>
            </a:r>
            <a:r>
              <a:rPr lang="en-US" altLang="zh-CN" dirty="0">
                <a:solidFill>
                  <a:schemeClr val="tx1"/>
                </a:solidFill>
                <a:latin typeface="+mn-ea"/>
              </a:rPr>
              <a:t>—</a:t>
            </a:r>
            <a:r>
              <a:rPr lang="zh-CN" altLang="en-US" dirty="0">
                <a:solidFill>
                  <a:schemeClr val="tx1"/>
                </a:solidFill>
                <a:latin typeface="+mn-ea"/>
              </a:rPr>
              <a:t>建议”的闭环。发现例如“</a:t>
            </a:r>
            <a:r>
              <a:rPr lang="en-US" altLang="zh-CN" dirty="0">
                <a:solidFill>
                  <a:schemeClr val="tx1"/>
                </a:solidFill>
                <a:latin typeface="+mn-ea"/>
              </a:rPr>
              <a:t>PR </a:t>
            </a:r>
            <a:r>
              <a:rPr lang="zh-CN" altLang="en-US" dirty="0">
                <a:solidFill>
                  <a:schemeClr val="tx1"/>
                </a:solidFill>
                <a:latin typeface="+mn-ea"/>
              </a:rPr>
              <a:t>积压的等风险，更能直接输出如“建立轮值机制”的可执行治理建议。</a:t>
            </a:r>
            <a:endParaRPr lang="en-US" altLang="zh-CN" dirty="0">
              <a:solidFill>
                <a:schemeClr val="tx1"/>
              </a:solidFill>
              <a:latin typeface="+mn-ea"/>
            </a:endParaRPr>
          </a:p>
          <a:p>
            <a:pPr algn="l">
              <a:lnSpc>
                <a:spcPct val="100000"/>
              </a:lnSpc>
              <a:buClrTx/>
              <a:buSzTx/>
            </a:pPr>
            <a:r>
              <a:rPr lang="en-US" altLang="zh-CN" b="1" dirty="0">
                <a:solidFill>
                  <a:schemeClr val="tx1"/>
                </a:solidFill>
                <a:latin typeface="+mn-ea"/>
              </a:rPr>
              <a:t>3.</a:t>
            </a:r>
            <a:r>
              <a:rPr lang="zh-CN" altLang="en-US" b="1" dirty="0">
                <a:solidFill>
                  <a:schemeClr val="accent3">
                    <a:lumMod val="50000"/>
                  </a:schemeClr>
                </a:solidFill>
                <a:latin typeface="+mn-ea"/>
              </a:rPr>
              <a:t>高可用兜底机制</a:t>
            </a:r>
            <a:r>
              <a:rPr lang="zh-CN" altLang="en-US" dirty="0">
                <a:solidFill>
                  <a:schemeClr val="tx1"/>
                </a:solidFill>
                <a:latin typeface="+mn-ea"/>
              </a:rPr>
              <a:t>：系统内置离线</a:t>
            </a:r>
            <a:r>
              <a:rPr lang="en-US" altLang="zh-CN" dirty="0">
                <a:solidFill>
                  <a:schemeClr val="tx1"/>
                </a:solidFill>
                <a:latin typeface="+mn-ea"/>
              </a:rPr>
              <a:t>/</a:t>
            </a:r>
            <a:r>
              <a:rPr lang="zh-CN" altLang="en-US" dirty="0">
                <a:solidFill>
                  <a:schemeClr val="tx1"/>
                </a:solidFill>
                <a:latin typeface="+mn-ea"/>
              </a:rPr>
              <a:t>在线双模式。在</a:t>
            </a:r>
            <a:r>
              <a:rPr lang="en-US" altLang="zh-CN" dirty="0">
                <a:solidFill>
                  <a:schemeClr val="tx1"/>
                </a:solidFill>
                <a:latin typeface="+mn-ea"/>
              </a:rPr>
              <a:t>LLM</a:t>
            </a:r>
            <a:r>
              <a:rPr lang="zh-CN" altLang="en-US" dirty="0">
                <a:solidFill>
                  <a:schemeClr val="tx1"/>
                </a:solidFill>
                <a:latin typeface="+mn-ea"/>
              </a:rPr>
              <a:t>服务不可用或无</a:t>
            </a:r>
            <a:r>
              <a:rPr lang="en-US" altLang="zh-CN" dirty="0">
                <a:solidFill>
                  <a:schemeClr val="tx1"/>
                </a:solidFill>
                <a:latin typeface="+mn-ea"/>
              </a:rPr>
              <a:t>Key</a:t>
            </a:r>
            <a:r>
              <a:rPr lang="zh-CN" altLang="en-US" dirty="0">
                <a:solidFill>
                  <a:schemeClr val="tx1"/>
                </a:solidFill>
                <a:latin typeface="+mn-ea"/>
              </a:rPr>
              <a:t>状态下，自动切换至基于规则的模板引擎，确保大屏核心功能始终能够实现。</a:t>
            </a:r>
            <a:endParaRPr lang="zh-CN" altLang="en-US" dirty="0">
              <a:solidFill>
                <a:schemeClr val="tx1"/>
              </a:solidFill>
              <a:latin typeface="+mn-ea"/>
            </a:endParaRPr>
          </a:p>
        </p:txBody>
      </p:sp>
      <p:sp>
        <p:nvSpPr>
          <p:cNvPr id="20" name="矩形: 圆角 20"/>
          <p:cNvSpPr/>
          <p:nvPr/>
        </p:nvSpPr>
        <p:spPr>
          <a:xfrm>
            <a:off x="7424133" y="1724342"/>
            <a:ext cx="4073710" cy="498475"/>
          </a:xfrm>
          <a:prstGeom prst="roundRect">
            <a:avLst>
              <a:gd name="adj" fmla="val 50000"/>
            </a:avLst>
          </a:prstGeom>
          <a:solidFill>
            <a:srgbClr val="105186"/>
          </a:solidFill>
          <a:ln>
            <a:solidFill>
              <a:srgbClr val="FFFF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08000" rtlCol="0" anchor="ctr">
            <a:noAutofit/>
          </a:bodyPr>
          <a:lstStyle/>
          <a:p>
            <a:pPr algn="ctr">
              <a:lnSpc>
                <a:spcPct val="150000"/>
              </a:lnSpc>
            </a:pPr>
            <a:r>
              <a:rPr lang="en-US" altLang="zh-CN" sz="2000" b="1" dirty="0">
                <a:latin typeface="+mj-ea"/>
                <a:ea typeface="+mj-ea"/>
              </a:rPr>
              <a:t>Agent </a:t>
            </a:r>
            <a:r>
              <a:rPr lang="zh-CN" altLang="en-US" sz="2000" b="1" dirty="0">
                <a:latin typeface="+mj-ea"/>
                <a:ea typeface="+mj-ea"/>
              </a:rPr>
              <a:t>驱动的智能治理决策闭环</a:t>
            </a:r>
            <a:endParaRPr lang="zh-CN" altLang="en-US" sz="2000" b="1" dirty="0">
              <a:latin typeface="+mj-ea"/>
              <a:ea typeface="+mj-ea"/>
            </a:endParaRPr>
          </a:p>
        </p:txBody>
      </p:sp>
      <p:sp>
        <p:nvSpPr>
          <p:cNvPr id="21" name="矩形 20"/>
          <p:cNvSpPr/>
          <p:nvPr/>
        </p:nvSpPr>
        <p:spPr>
          <a:xfrm>
            <a:off x="2265416" y="979003"/>
            <a:ext cx="9468382" cy="511810"/>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000" dirty="0">
                <a:latin typeface="+mj-ea"/>
                <a:ea typeface="+mj-ea"/>
              </a:rPr>
              <a:t>围绕开源治理与运营，构建一个面向开源项目基于</a:t>
            </a:r>
            <a:r>
              <a:rPr lang="en-US" altLang="zh-CN" sz="2000" dirty="0">
                <a:latin typeface="+mj-ea"/>
                <a:ea typeface="+mj-ea"/>
              </a:rPr>
              <a:t>Agent</a:t>
            </a:r>
            <a:r>
              <a:rPr lang="zh-CN" altLang="en-US" sz="2000" dirty="0">
                <a:latin typeface="+mj-ea"/>
                <a:ea typeface="+mj-ea"/>
              </a:rPr>
              <a:t>的健康度监控与分析平台</a:t>
            </a:r>
            <a:endParaRPr lang="zh-CN" altLang="en-US" sz="2000" dirty="0">
              <a:latin typeface="+mj-ea"/>
              <a:ea typeface="+mj-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48" y="3227"/>
              <a:ext cx="3384" cy="1262"/>
              <a:chOff x="-157839" y="2048729"/>
              <a:chExt cx="2686070" cy="801094"/>
            </a:xfrm>
          </p:grpSpPr>
          <p:sp>
            <p:nvSpPr>
              <p:cNvPr id="121" name="矩形 120"/>
              <p:cNvSpPr/>
              <p:nvPr/>
            </p:nvSpPr>
            <p:spPr>
              <a:xfrm>
                <a:off x="-157839" y="2224077"/>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5965" y="2677557"/>
                <a:ext cx="143731" cy="200801"/>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3090" y="2048729"/>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latin typeface="+mj-ea"/>
                </a:rPr>
                <a:t>主要功能创新点</a:t>
              </a:r>
              <a:endParaRPr lang="zh-CN" altLang="en-US" sz="1600" b="1" dirty="0">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技术难点</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与具体实现</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2 </a:t>
              </a:r>
              <a:r>
                <a:rPr lang="zh-CN" altLang="en-US" sz="2000" b="1" dirty="0">
                  <a:latin typeface="思源宋体 CN Medium" panose="02020500000000000000" charset="-122"/>
                  <a:ea typeface="思源宋体 CN Medium" panose="02020500000000000000" charset="-122"/>
                </a:rPr>
                <a:t>主要功能创新点</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6" name="矩形 5"/>
          <p:cNvSpPr/>
          <p:nvPr/>
        </p:nvSpPr>
        <p:spPr>
          <a:xfrm>
            <a:off x="2162627" y="1509268"/>
            <a:ext cx="4837780" cy="5128485"/>
          </a:xfrm>
          <a:prstGeom prst="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黑体 CN Light" panose="020B0300000000000000" pitchFamily="34" charset="-128"/>
            </a:endParaRPr>
          </a:p>
        </p:txBody>
      </p:sp>
      <p:sp>
        <p:nvSpPr>
          <p:cNvPr id="7" name="矩形 6"/>
          <p:cNvSpPr/>
          <p:nvPr/>
        </p:nvSpPr>
        <p:spPr>
          <a:xfrm>
            <a:off x="7276947" y="1746885"/>
            <a:ext cx="4354115" cy="4346963"/>
          </a:xfrm>
          <a:prstGeom prst="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黑体 CN Light" panose="020B0300000000000000" pitchFamily="34" charset="-128"/>
            </a:endParaRPr>
          </a:p>
        </p:txBody>
      </p:sp>
      <p:sp>
        <p:nvSpPr>
          <p:cNvPr id="10" name="文本框 9"/>
          <p:cNvSpPr txBox="1"/>
          <p:nvPr/>
        </p:nvSpPr>
        <p:spPr>
          <a:xfrm>
            <a:off x="2267831" y="1556287"/>
            <a:ext cx="4676160" cy="5029582"/>
          </a:xfrm>
          <a:prstGeom prst="rect">
            <a:avLst/>
          </a:prstGeom>
          <a:noFill/>
        </p:spPr>
        <p:txBody>
          <a:bodyPr wrap="square" rtlCol="0">
            <a:spAutoFit/>
          </a:bodyPr>
          <a:lstStyle/>
          <a:p>
            <a:pPr>
              <a:lnSpc>
                <a:spcPct val="150000"/>
              </a:lnSpc>
            </a:pPr>
            <a:r>
              <a:rPr lang="en-US" altLang="zh-CN" b="1" dirty="0"/>
              <a:t>1.</a:t>
            </a:r>
            <a:r>
              <a:rPr lang="en-US" altLang="zh-CN" b="1" dirty="0">
                <a:solidFill>
                  <a:schemeClr val="accent3">
                    <a:lumMod val="50000"/>
                  </a:schemeClr>
                </a:solidFill>
              </a:rPr>
              <a:t>“</a:t>
            </a:r>
            <a:r>
              <a:rPr lang="zh-CN" altLang="en-US" b="1" dirty="0">
                <a:solidFill>
                  <a:schemeClr val="accent3">
                    <a:lumMod val="50000"/>
                  </a:schemeClr>
                </a:solidFill>
              </a:rPr>
              <a:t>规则</a:t>
            </a:r>
            <a:r>
              <a:rPr lang="en-US" altLang="zh-CN" b="1" dirty="0">
                <a:solidFill>
                  <a:schemeClr val="accent3">
                    <a:lumMod val="50000"/>
                  </a:schemeClr>
                </a:solidFill>
              </a:rPr>
              <a:t>+AI”</a:t>
            </a:r>
            <a:r>
              <a:rPr lang="zh-CN" altLang="en-US" b="1" dirty="0">
                <a:solidFill>
                  <a:schemeClr val="accent3">
                    <a:lumMod val="50000"/>
                  </a:schemeClr>
                </a:solidFill>
              </a:rPr>
              <a:t>双通道预警</a:t>
            </a:r>
            <a:r>
              <a:rPr lang="zh-CN" altLang="en-US" dirty="0"/>
              <a:t>：结合确定性规则（强可解释性）与</a:t>
            </a:r>
            <a:r>
              <a:rPr lang="en-US" altLang="zh-CN" dirty="0"/>
              <a:t>AI</a:t>
            </a:r>
            <a:r>
              <a:rPr lang="zh-CN" altLang="en-US" dirty="0"/>
              <a:t>语义解读（强可读性），保证了预警的准确性，又提升了信息的易读性。</a:t>
            </a:r>
            <a:endParaRPr lang="zh-CN" altLang="en-US" dirty="0"/>
          </a:p>
          <a:p>
            <a:pPr>
              <a:lnSpc>
                <a:spcPct val="150000"/>
              </a:lnSpc>
            </a:pPr>
            <a:r>
              <a:rPr lang="en-US" altLang="zh-CN" b="1" dirty="0"/>
              <a:t>2.</a:t>
            </a:r>
            <a:r>
              <a:rPr lang="en-US" altLang="zh-CN" b="1" dirty="0">
                <a:solidFill>
                  <a:schemeClr val="accent3">
                    <a:lumMod val="50000"/>
                  </a:schemeClr>
                </a:solidFill>
              </a:rPr>
              <a:t>DuckDB</a:t>
            </a:r>
            <a:r>
              <a:rPr lang="zh-CN" altLang="en-US" b="1" dirty="0">
                <a:solidFill>
                  <a:schemeClr val="accent3">
                    <a:lumMod val="50000"/>
                  </a:schemeClr>
                </a:solidFill>
              </a:rPr>
              <a:t>海量日志秒级聚合</a:t>
            </a:r>
            <a:r>
              <a:rPr lang="zh-CN" altLang="en-US" dirty="0"/>
              <a:t>：底层采用 </a:t>
            </a:r>
            <a:r>
              <a:rPr lang="en-US" altLang="zh-CN" dirty="0" err="1"/>
              <a:t>DuckDB</a:t>
            </a:r>
            <a:r>
              <a:rPr lang="en-US" altLang="zh-CN" dirty="0"/>
              <a:t> OLAP</a:t>
            </a:r>
            <a:r>
              <a:rPr lang="zh-CN" altLang="en-US" dirty="0"/>
              <a:t>引擎处理</a:t>
            </a:r>
            <a:r>
              <a:rPr lang="en-US" altLang="zh-CN" dirty="0"/>
              <a:t>GB</a:t>
            </a:r>
            <a:r>
              <a:rPr lang="zh-CN" altLang="en-US" dirty="0"/>
              <a:t>级协作日志，在本地即可高效完成从原始</a:t>
            </a:r>
            <a:r>
              <a:rPr lang="en-US" altLang="zh-CN" dirty="0"/>
              <a:t>Log</a:t>
            </a:r>
            <a:r>
              <a:rPr lang="zh-CN" altLang="en-US" dirty="0"/>
              <a:t>到月度 </a:t>
            </a:r>
            <a:r>
              <a:rPr lang="en-US" altLang="zh-CN" dirty="0"/>
              <a:t>KPI</a:t>
            </a:r>
            <a:r>
              <a:rPr lang="zh-CN" altLang="en-US" dirty="0"/>
              <a:t>的聚合清洗，大幅降低了数据处理的时间成本。</a:t>
            </a:r>
            <a:endParaRPr lang="zh-CN" altLang="en-US" dirty="0"/>
          </a:p>
          <a:p>
            <a:pPr>
              <a:lnSpc>
                <a:spcPct val="150000"/>
              </a:lnSpc>
            </a:pPr>
            <a:r>
              <a:rPr lang="en-US" altLang="zh-CN" b="1" dirty="0"/>
              <a:t>3.</a:t>
            </a:r>
            <a:r>
              <a:rPr lang="zh-CN" altLang="en-US" b="1" dirty="0">
                <a:solidFill>
                  <a:schemeClr val="accent3">
                    <a:lumMod val="50000"/>
                  </a:schemeClr>
                </a:solidFill>
              </a:rPr>
              <a:t>前后端解耦的静态化发布</a:t>
            </a:r>
            <a:r>
              <a:rPr lang="zh-CN" altLang="en-US" dirty="0"/>
              <a:t>：采用静态 </a:t>
            </a:r>
            <a:r>
              <a:rPr lang="en-US" altLang="zh-CN" dirty="0"/>
              <a:t>JSON</a:t>
            </a:r>
            <a:r>
              <a:rPr lang="zh-CN" altLang="en-US" dirty="0"/>
              <a:t>预生成架构，前端直接读取预处理产物，极大提升了大屏加载速度与交互流畅度，适合各类离线演示与低延迟场景。</a:t>
            </a:r>
            <a:endParaRPr lang="zh-CN" altLang="en-US" dirty="0"/>
          </a:p>
        </p:txBody>
      </p:sp>
      <p:sp>
        <p:nvSpPr>
          <p:cNvPr id="11" name="矩形 10"/>
          <p:cNvSpPr/>
          <p:nvPr/>
        </p:nvSpPr>
        <p:spPr>
          <a:xfrm>
            <a:off x="2281372" y="900430"/>
            <a:ext cx="4510364" cy="511810"/>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000" b="1" dirty="0"/>
              <a:t>双通道预警体系与高性能工程架构</a:t>
            </a:r>
            <a:endParaRPr lang="zh-CN" altLang="en-US" sz="2000" dirty="0">
              <a:latin typeface="+mj-ea"/>
              <a:ea typeface="+mj-ea"/>
            </a:endParaRPr>
          </a:p>
        </p:txBody>
      </p:sp>
      <p:sp>
        <p:nvSpPr>
          <p:cNvPr id="12" name="矩形 11"/>
          <p:cNvSpPr/>
          <p:nvPr/>
        </p:nvSpPr>
        <p:spPr>
          <a:xfrm>
            <a:off x="7453359" y="900430"/>
            <a:ext cx="3969603" cy="511810"/>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000" b="1" dirty="0"/>
              <a:t>动态时序监测与沉浸式可视分析</a:t>
            </a:r>
            <a:endParaRPr lang="zh-CN" altLang="en-US" sz="2000" b="1" dirty="0">
              <a:latin typeface="+mj-ea"/>
              <a:ea typeface="+mj-ea"/>
            </a:endParaRPr>
          </a:p>
        </p:txBody>
      </p:sp>
      <p:sp>
        <p:nvSpPr>
          <p:cNvPr id="2" name="文本框 1"/>
          <p:cNvSpPr txBox="1"/>
          <p:nvPr/>
        </p:nvSpPr>
        <p:spPr>
          <a:xfrm>
            <a:off x="7371379" y="1795256"/>
            <a:ext cx="4294631" cy="4198585"/>
          </a:xfrm>
          <a:prstGeom prst="rect">
            <a:avLst/>
          </a:prstGeom>
          <a:noFill/>
        </p:spPr>
        <p:txBody>
          <a:bodyPr wrap="square" rtlCol="0">
            <a:spAutoFit/>
          </a:bodyPr>
          <a:lstStyle/>
          <a:p>
            <a:pPr>
              <a:lnSpc>
                <a:spcPct val="150000"/>
              </a:lnSpc>
            </a:pPr>
            <a:r>
              <a:rPr lang="en-US" altLang="zh-CN" b="1" dirty="0"/>
              <a:t>1.</a:t>
            </a:r>
            <a:r>
              <a:rPr lang="zh-CN" altLang="en-US" b="1" dirty="0">
                <a:solidFill>
                  <a:schemeClr val="accent3">
                    <a:lumMod val="50000"/>
                  </a:schemeClr>
                </a:solidFill>
              </a:rPr>
              <a:t>全生命周期时序建模</a:t>
            </a:r>
            <a:r>
              <a:rPr lang="zh-CN" altLang="en-US" dirty="0"/>
              <a:t>：突破传统静态快照的局限，引入时间序列分析。通过滑动窗口技术监测指标的连续变化，精准捕捉“活跃度逐月衰减”等隐蔽的趋势性风险。</a:t>
            </a:r>
            <a:endParaRPr lang="en-US" altLang="zh-CN" dirty="0"/>
          </a:p>
          <a:p>
            <a:pPr>
              <a:lnSpc>
                <a:spcPct val="150000"/>
              </a:lnSpc>
            </a:pPr>
            <a:r>
              <a:rPr lang="en-US" altLang="zh-CN" b="1" dirty="0"/>
              <a:t>2.</a:t>
            </a:r>
            <a:r>
              <a:rPr lang="zh-CN" altLang="en-US" b="1" dirty="0">
                <a:solidFill>
                  <a:schemeClr val="accent3">
                    <a:lumMod val="50000"/>
                  </a:schemeClr>
                </a:solidFill>
              </a:rPr>
              <a:t>交互式趋势看板</a:t>
            </a:r>
            <a:r>
              <a:rPr lang="zh-CN" altLang="en-US" dirty="0"/>
              <a:t>：前端集成</a:t>
            </a:r>
            <a:r>
              <a:rPr lang="en-US" altLang="zh-CN" dirty="0" err="1"/>
              <a:t>ECharts</a:t>
            </a:r>
            <a:r>
              <a:rPr lang="zh-CN" altLang="en-US" dirty="0"/>
              <a:t>高性能图表库，支持多指标叠加对比与时间轴缩放，让维护者能直观看到项目健康的心电图，清晰地地识别出异常波动的具体时间点。</a:t>
            </a:r>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2"/>
          <p:cNvSpPr/>
          <p:nvPr/>
        </p:nvSpPr>
        <p:spPr>
          <a:xfrm>
            <a:off x="254524" y="245097"/>
            <a:ext cx="11679810" cy="6381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138113" y="4610099"/>
            <a:ext cx="11796221" cy="46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5" name="文本框 4"/>
          <p:cNvSpPr txBox="1"/>
          <p:nvPr/>
        </p:nvSpPr>
        <p:spPr>
          <a:xfrm>
            <a:off x="5222449" y="4656841"/>
            <a:ext cx="1743959" cy="1569660"/>
          </a:xfrm>
          <a:prstGeom prst="rect">
            <a:avLst/>
          </a:prstGeom>
          <a:noFill/>
        </p:spPr>
        <p:txBody>
          <a:bodyPr wrap="square" rtlCol="0">
            <a:spAutoFit/>
          </a:bodyPr>
          <a:lstStyle/>
          <a:p>
            <a:r>
              <a:rPr lang="en-US" altLang="zh-CN" sz="9600" dirty="0">
                <a:solidFill>
                  <a:srgbClr val="105186"/>
                </a:solidFill>
                <a:latin typeface="+mj-lt"/>
                <a:ea typeface="思源宋体 CN Medium" panose="02020500000000000000" charset="-122"/>
              </a:rPr>
              <a:t>03</a:t>
            </a:r>
            <a:endParaRPr lang="zh-CN" altLang="en-US" sz="9600" dirty="0">
              <a:solidFill>
                <a:srgbClr val="105186"/>
              </a:solidFill>
              <a:latin typeface="+mj-lt"/>
              <a:ea typeface="思源宋体 CN Medium" panose="02020500000000000000" charset="-122"/>
            </a:endParaRPr>
          </a:p>
        </p:txBody>
      </p:sp>
      <p:sp>
        <p:nvSpPr>
          <p:cNvPr id="20" name="矩形 19"/>
          <p:cNvSpPr/>
          <p:nvPr/>
        </p:nvSpPr>
        <p:spPr>
          <a:xfrm>
            <a:off x="3063711" y="-653019"/>
            <a:ext cx="6249971" cy="12403395"/>
          </a:xfrm>
          <a:prstGeom prst="rect">
            <a:avLst/>
          </a:prstGeom>
          <a:noFill/>
        </p:spPr>
        <p:txBody>
          <a:bodyPr wrap="square" lIns="91440" tIns="45720" rIns="91440" bIns="45720">
            <a:spAutoFit/>
          </a:bodyPr>
          <a:lstStyle/>
          <a:p>
            <a:pPr algn="ctr"/>
            <a:r>
              <a:rPr lang="en-US" altLang="zh-CN"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rPr>
              <a:t>03</a:t>
            </a:r>
            <a:endParaRPr lang="zh-CN" altLang="en-US"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endParaRPr>
          </a:p>
        </p:txBody>
      </p:sp>
      <p:sp>
        <p:nvSpPr>
          <p:cNvPr id="6" name="文本框 5"/>
          <p:cNvSpPr txBox="1"/>
          <p:nvPr/>
        </p:nvSpPr>
        <p:spPr>
          <a:xfrm>
            <a:off x="3302180" y="1873600"/>
            <a:ext cx="6127913" cy="1107996"/>
          </a:xfrm>
          <a:prstGeom prst="rect">
            <a:avLst/>
          </a:prstGeom>
          <a:noFill/>
        </p:spPr>
        <p:txBody>
          <a:bodyPr wrap="square" rtlCol="0">
            <a:spAutoFit/>
          </a:bodyPr>
          <a:lstStyle/>
          <a:p>
            <a:r>
              <a:rPr lang="zh-CN" altLang="en-US" sz="6600" dirty="0">
                <a:latin typeface="+mj-ea"/>
                <a:ea typeface="+mj-ea"/>
              </a:rPr>
              <a:t>产品效果展示</a:t>
            </a:r>
            <a:endParaRPr lang="zh-CN" altLang="en-US" sz="6600" dirty="0">
              <a:latin typeface="+mj-ea"/>
              <a:ea typeface="+mj-ea"/>
            </a:endParaRPr>
          </a:p>
        </p:txBody>
      </p:sp>
      <p:sp>
        <p:nvSpPr>
          <p:cNvPr id="7" name="文本框 6"/>
          <p:cNvSpPr txBox="1"/>
          <p:nvPr/>
        </p:nvSpPr>
        <p:spPr>
          <a:xfrm>
            <a:off x="4788086" y="3011393"/>
            <a:ext cx="2612683" cy="461665"/>
          </a:xfrm>
          <a:prstGeom prst="rect">
            <a:avLst/>
          </a:prstGeom>
          <a:noFill/>
        </p:spPr>
        <p:txBody>
          <a:bodyPr wrap="square" rtlCol="0">
            <a:spAutoFit/>
          </a:bodyPr>
          <a:lstStyle/>
          <a:p>
            <a:r>
              <a:rPr lang="en-US" altLang="zh-CN" sz="2400" dirty="0">
                <a:ea typeface="思源宋体 CN Medium" panose="02020500000000000000" charset="-122"/>
              </a:rPr>
              <a:t>Project display</a:t>
            </a:r>
            <a:endParaRPr lang="en-US" altLang="zh-CN" sz="2400" dirty="0">
              <a:ea typeface="思源宋体 CN Medium" panose="02020500000000000000" charset="-122"/>
            </a:endParaRPr>
          </a:p>
        </p:txBody>
      </p:sp>
      <p:sp>
        <p:nvSpPr>
          <p:cNvPr id="8" name="文本框 7"/>
          <p:cNvSpPr txBox="1"/>
          <p:nvPr/>
        </p:nvSpPr>
        <p:spPr>
          <a:xfrm>
            <a:off x="2947300" y="3734152"/>
            <a:ext cx="3019647" cy="461665"/>
          </a:xfrm>
          <a:prstGeom prst="rect">
            <a:avLst/>
          </a:prstGeom>
          <a:noFill/>
        </p:spPr>
        <p:txBody>
          <a:bodyPr wrap="square" rtlCol="0">
            <a:spAutoFit/>
          </a:bodyPr>
          <a:lstStyle/>
          <a:p>
            <a:r>
              <a:rPr lang="zh-CN" altLang="en-US" sz="2400" dirty="0">
                <a:ea typeface="思源宋体 CN Medium" panose="02020500000000000000" charset="-122"/>
              </a:rPr>
              <a:t>项目网址与主要页面</a:t>
            </a:r>
            <a:endParaRPr lang="zh-CN" altLang="en-US" sz="2400" dirty="0">
              <a:ea typeface="思源宋体 CN Medium" panose="02020500000000000000" charset="-122"/>
            </a:endParaRPr>
          </a:p>
        </p:txBody>
      </p:sp>
      <p:grpSp>
        <p:nvGrpSpPr>
          <p:cNvPr id="9" name="组合 8"/>
          <p:cNvGrpSpPr/>
          <p:nvPr/>
        </p:nvGrpSpPr>
        <p:grpSpPr>
          <a:xfrm>
            <a:off x="6983783" y="3734152"/>
            <a:ext cx="1675940" cy="461665"/>
            <a:chOff x="7549225" y="3110845"/>
            <a:chExt cx="1675940" cy="461665"/>
          </a:xfrm>
        </p:grpSpPr>
        <p:sp>
          <p:nvSpPr>
            <p:cNvPr id="10" name="矩形 9"/>
            <p:cNvSpPr/>
            <p:nvPr/>
          </p:nvSpPr>
          <p:spPr>
            <a:xfrm>
              <a:off x="7549225" y="3214540"/>
              <a:ext cx="150829" cy="150829"/>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1" name="文本框 10"/>
            <p:cNvSpPr txBox="1"/>
            <p:nvPr/>
          </p:nvSpPr>
          <p:spPr>
            <a:xfrm>
              <a:off x="7744118" y="3110845"/>
              <a:ext cx="1481047" cy="461665"/>
            </a:xfrm>
            <a:prstGeom prst="rect">
              <a:avLst/>
            </a:prstGeom>
            <a:noFill/>
          </p:spPr>
          <p:txBody>
            <a:bodyPr wrap="square" rtlCol="0">
              <a:spAutoFit/>
            </a:bodyPr>
            <a:lstStyle/>
            <a:p>
              <a:r>
                <a:rPr lang="zh-CN" altLang="en-US" sz="2400" dirty="0">
                  <a:ea typeface="思源宋体 CN Medium" panose="02020500000000000000" charset="-122"/>
                </a:rPr>
                <a:t>功能演示</a:t>
              </a:r>
              <a:endParaRPr lang="zh-CN" altLang="en-US" sz="2400" dirty="0">
                <a:ea typeface="思源宋体 CN Medium" panose="02020500000000000000" charset="-122"/>
              </a:endParaRPr>
            </a:p>
          </p:txBody>
        </p:sp>
      </p:grpSp>
      <p:sp>
        <p:nvSpPr>
          <p:cNvPr id="12" name="矩形 11"/>
          <p:cNvSpPr/>
          <p:nvPr/>
        </p:nvSpPr>
        <p:spPr>
          <a:xfrm>
            <a:off x="2752408" y="3837846"/>
            <a:ext cx="150829" cy="150829"/>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4477"/>
              <a:ext cx="3384" cy="1241"/>
              <a:chOff x="-161772" y="2842482"/>
              <a:chExt cx="2686590" cy="787902"/>
            </a:xfrm>
          </p:grpSpPr>
          <p:sp>
            <p:nvSpPr>
              <p:cNvPr id="121" name="矩形 120"/>
              <p:cNvSpPr/>
              <p:nvPr/>
            </p:nvSpPr>
            <p:spPr>
              <a:xfrm>
                <a:off x="-161772" y="3016747"/>
                <a:ext cx="2607259"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551" y="3458118"/>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829" y="2842482"/>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latin typeface="思源宋体 CN Medium" panose="02020500000000000000" charset="-122"/>
                  <a:ea typeface="思源宋体 CN Medium" panose="02020500000000000000" charset="-122"/>
                </a:rPr>
                <a:t>产品效果展示</a:t>
              </a:r>
              <a:endParaRPr lang="zh-CN" altLang="en-US" sz="1600" b="1" dirty="0">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技术难点</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与具体实现</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3.1 </a:t>
              </a:r>
              <a:r>
                <a:rPr lang="zh-CN" altLang="en-US" sz="2000" b="1" dirty="0">
                  <a:latin typeface="思源宋体 CN Medium" panose="02020500000000000000" charset="-122"/>
                  <a:ea typeface="思源宋体 CN Medium" panose="02020500000000000000" charset="-122"/>
                </a:rPr>
                <a:t>项目网址与主要页面</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 name="文本框 11"/>
          <p:cNvSpPr txBox="1"/>
          <p:nvPr/>
        </p:nvSpPr>
        <p:spPr>
          <a:xfrm>
            <a:off x="2118995" y="862771"/>
            <a:ext cx="6101654" cy="400110"/>
          </a:xfrm>
          <a:prstGeom prst="rect">
            <a:avLst/>
          </a:prstGeom>
          <a:noFill/>
        </p:spPr>
        <p:txBody>
          <a:bodyPr wrap="square">
            <a:spAutoFit/>
          </a:bodyPr>
          <a:lstStyle/>
          <a:p>
            <a:r>
              <a:rPr lang="zh-CN" altLang="en-US" sz="2000" dirty="0">
                <a:solidFill>
                  <a:schemeClr val="accent1"/>
                </a:solidFill>
                <a:hlinkClick r:id="rId1"/>
              </a:rPr>
              <a:t>https://open-pulse-red.vercel.app/</a:t>
            </a:r>
            <a:endParaRPr lang="zh-CN" altLang="en-US" sz="2000" dirty="0">
              <a:solidFill>
                <a:schemeClr val="accent1"/>
              </a:solidFill>
              <a:hlinkClick r:id="rId1"/>
            </a:endParaRPr>
          </a:p>
        </p:txBody>
      </p:sp>
      <p:pic>
        <p:nvPicPr>
          <p:cNvPr id="14" name="图片 13" descr="屏幕上有字&#10;&#10;AI 生成的内容可能不正确。"/>
          <p:cNvPicPr>
            <a:picLocks noChangeAspect="1"/>
          </p:cNvPicPr>
          <p:nvPr/>
        </p:nvPicPr>
        <p:blipFill>
          <a:blip r:embed="rId2"/>
          <a:stretch>
            <a:fillRect/>
          </a:stretch>
        </p:blipFill>
        <p:spPr>
          <a:xfrm>
            <a:off x="2186940" y="1315198"/>
            <a:ext cx="4731083" cy="2647564"/>
          </a:xfrm>
          <a:prstGeom prst="rect">
            <a:avLst/>
          </a:prstGeom>
        </p:spPr>
      </p:pic>
      <p:pic>
        <p:nvPicPr>
          <p:cNvPr id="16" name="图片 15" descr="电脑游戏的屏幕&#10;&#10;AI 生成的内容可能不正确。"/>
          <p:cNvPicPr>
            <a:picLocks noChangeAspect="1"/>
          </p:cNvPicPr>
          <p:nvPr/>
        </p:nvPicPr>
        <p:blipFill>
          <a:blip r:embed="rId3"/>
          <a:stretch>
            <a:fillRect/>
          </a:stretch>
        </p:blipFill>
        <p:spPr>
          <a:xfrm>
            <a:off x="2186939" y="4015079"/>
            <a:ext cx="4731083" cy="2658872"/>
          </a:xfrm>
          <a:prstGeom prst="rect">
            <a:avLst/>
          </a:prstGeom>
        </p:spPr>
      </p:pic>
      <p:pic>
        <p:nvPicPr>
          <p:cNvPr id="21" name="图片 20"/>
          <p:cNvPicPr>
            <a:picLocks noChangeAspect="1"/>
          </p:cNvPicPr>
          <p:nvPr/>
        </p:nvPicPr>
        <p:blipFill>
          <a:blip r:embed="rId4"/>
          <a:stretch>
            <a:fillRect/>
          </a:stretch>
        </p:blipFill>
        <p:spPr>
          <a:xfrm>
            <a:off x="7116778" y="1542683"/>
            <a:ext cx="4667667" cy="453717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4477"/>
              <a:ext cx="3384" cy="1241"/>
              <a:chOff x="-161772" y="2842482"/>
              <a:chExt cx="2686590" cy="787902"/>
            </a:xfrm>
          </p:grpSpPr>
          <p:sp>
            <p:nvSpPr>
              <p:cNvPr id="121" name="矩形 120"/>
              <p:cNvSpPr/>
              <p:nvPr/>
            </p:nvSpPr>
            <p:spPr>
              <a:xfrm>
                <a:off x="-161772" y="3016747"/>
                <a:ext cx="2607259"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551" y="3458118"/>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829" y="2842482"/>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latin typeface="思源宋体 CN Medium" panose="02020500000000000000" charset="-122"/>
                  <a:ea typeface="思源宋体 CN Medium" panose="02020500000000000000" charset="-122"/>
                </a:rPr>
                <a:t>产品效果展示</a:t>
              </a:r>
              <a:endParaRPr lang="zh-CN" altLang="en-US" sz="1600" b="1" dirty="0">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技术难点</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与具体实现</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3.1 </a:t>
              </a:r>
              <a:r>
                <a:rPr lang="zh-CN" altLang="en-US" sz="2000" b="1" dirty="0">
                  <a:latin typeface="思源宋体 CN Medium" panose="02020500000000000000" charset="-122"/>
                  <a:ea typeface="思源宋体 CN Medium" panose="02020500000000000000" charset="-122"/>
                </a:rPr>
                <a:t>项目网址与主要页面</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pic>
        <p:nvPicPr>
          <p:cNvPr id="18" name="图片 17" descr="电脑萤幕的截图&#10;&#10;AI 生成的内容可能不正确。"/>
          <p:cNvPicPr>
            <a:picLocks noChangeAspect="1"/>
          </p:cNvPicPr>
          <p:nvPr/>
        </p:nvPicPr>
        <p:blipFill>
          <a:blip r:embed="rId1"/>
          <a:stretch>
            <a:fillRect/>
          </a:stretch>
        </p:blipFill>
        <p:spPr>
          <a:xfrm>
            <a:off x="2186940" y="3811270"/>
            <a:ext cx="4910298" cy="2748607"/>
          </a:xfrm>
          <a:prstGeom prst="rect">
            <a:avLst/>
          </a:prstGeom>
        </p:spPr>
      </p:pic>
      <p:pic>
        <p:nvPicPr>
          <p:cNvPr id="23" name="图片 22"/>
          <p:cNvPicPr>
            <a:picLocks noChangeAspect="1"/>
          </p:cNvPicPr>
          <p:nvPr/>
        </p:nvPicPr>
        <p:blipFill>
          <a:blip r:embed="rId2"/>
          <a:stretch>
            <a:fillRect/>
          </a:stretch>
        </p:blipFill>
        <p:spPr>
          <a:xfrm>
            <a:off x="7311868" y="1326090"/>
            <a:ext cx="4631612" cy="4582549"/>
          </a:xfrm>
          <a:prstGeom prst="rect">
            <a:avLst/>
          </a:prstGeom>
        </p:spPr>
      </p:pic>
      <p:pic>
        <p:nvPicPr>
          <p:cNvPr id="3" name="图片 2"/>
          <p:cNvPicPr>
            <a:picLocks noChangeAspect="1"/>
          </p:cNvPicPr>
          <p:nvPr/>
        </p:nvPicPr>
        <p:blipFill>
          <a:blip r:embed="rId3"/>
          <a:stretch>
            <a:fillRect/>
          </a:stretch>
        </p:blipFill>
        <p:spPr>
          <a:xfrm>
            <a:off x="2186940" y="1027737"/>
            <a:ext cx="4910577" cy="26642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4477"/>
              <a:ext cx="3384" cy="1241"/>
              <a:chOff x="-161772" y="2842482"/>
              <a:chExt cx="2686590" cy="787902"/>
            </a:xfrm>
          </p:grpSpPr>
          <p:sp>
            <p:nvSpPr>
              <p:cNvPr id="121" name="矩形 120"/>
              <p:cNvSpPr/>
              <p:nvPr/>
            </p:nvSpPr>
            <p:spPr>
              <a:xfrm>
                <a:off x="-161772" y="3016747"/>
                <a:ext cx="2607259"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551" y="3458118"/>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829" y="2842482"/>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latin typeface="思源宋体 CN Medium" panose="02020500000000000000" charset="-122"/>
                  <a:ea typeface="思源宋体 CN Medium" panose="02020500000000000000" charset="-122"/>
                </a:rPr>
                <a:t>产品效果展示</a:t>
              </a:r>
              <a:endParaRPr lang="zh-CN" altLang="en-US" sz="1600" b="1" dirty="0">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技术难点</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与具体实现</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3.2 </a:t>
              </a:r>
              <a:r>
                <a:rPr lang="zh-CN" altLang="en-US" sz="2000" b="1" dirty="0">
                  <a:latin typeface="思源宋体 CN Medium" panose="02020500000000000000" charset="-122"/>
                  <a:ea typeface="思源宋体 CN Medium" panose="02020500000000000000" charset="-122"/>
                </a:rPr>
                <a:t>功能演示（视频）</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pic>
        <p:nvPicPr>
          <p:cNvPr id="2" name="8b44d5f65736dd4b691d6106cc80b0e4">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2090879" y="941551"/>
            <a:ext cx="9922885" cy="56126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89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2"/>
          <p:cNvSpPr/>
          <p:nvPr/>
        </p:nvSpPr>
        <p:spPr>
          <a:xfrm>
            <a:off x="254524" y="245097"/>
            <a:ext cx="11679810" cy="6381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138113" y="4610099"/>
            <a:ext cx="11796221" cy="46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5" name="文本框 4"/>
          <p:cNvSpPr txBox="1"/>
          <p:nvPr/>
        </p:nvSpPr>
        <p:spPr>
          <a:xfrm>
            <a:off x="5222449" y="4656841"/>
            <a:ext cx="1743959" cy="1569660"/>
          </a:xfrm>
          <a:prstGeom prst="rect">
            <a:avLst/>
          </a:prstGeom>
          <a:noFill/>
        </p:spPr>
        <p:txBody>
          <a:bodyPr wrap="square" rtlCol="0">
            <a:spAutoFit/>
          </a:bodyPr>
          <a:lstStyle/>
          <a:p>
            <a:r>
              <a:rPr lang="en-US" altLang="zh-CN" sz="9600" dirty="0">
                <a:solidFill>
                  <a:srgbClr val="105186"/>
                </a:solidFill>
                <a:latin typeface="+mj-lt"/>
                <a:ea typeface="思源宋体 CN Medium" panose="02020500000000000000" charset="-122"/>
              </a:rPr>
              <a:t>04</a:t>
            </a:r>
            <a:endParaRPr lang="zh-CN" altLang="en-US" sz="9600" dirty="0">
              <a:solidFill>
                <a:srgbClr val="105186"/>
              </a:solidFill>
              <a:latin typeface="+mj-lt"/>
              <a:ea typeface="思源宋体 CN Medium" panose="02020500000000000000" charset="-122"/>
            </a:endParaRPr>
          </a:p>
        </p:txBody>
      </p:sp>
      <p:sp>
        <p:nvSpPr>
          <p:cNvPr id="20" name="矩形 19"/>
          <p:cNvSpPr/>
          <p:nvPr/>
        </p:nvSpPr>
        <p:spPr>
          <a:xfrm>
            <a:off x="3063711" y="-653019"/>
            <a:ext cx="6249971" cy="12403395"/>
          </a:xfrm>
          <a:prstGeom prst="rect">
            <a:avLst/>
          </a:prstGeom>
          <a:noFill/>
        </p:spPr>
        <p:txBody>
          <a:bodyPr wrap="square" lIns="91440" tIns="45720" rIns="91440" bIns="45720">
            <a:spAutoFit/>
          </a:bodyPr>
          <a:lstStyle/>
          <a:p>
            <a:pPr algn="ctr"/>
            <a:r>
              <a:rPr lang="en-US" altLang="zh-CN"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rPr>
              <a:t>04</a:t>
            </a:r>
            <a:endParaRPr lang="zh-CN" altLang="en-US"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endParaRPr>
          </a:p>
        </p:txBody>
      </p:sp>
      <p:sp>
        <p:nvSpPr>
          <p:cNvPr id="6" name="文本框 5"/>
          <p:cNvSpPr txBox="1"/>
          <p:nvPr/>
        </p:nvSpPr>
        <p:spPr>
          <a:xfrm>
            <a:off x="2262332" y="2036482"/>
            <a:ext cx="8309312" cy="1107996"/>
          </a:xfrm>
          <a:prstGeom prst="rect">
            <a:avLst/>
          </a:prstGeom>
          <a:noFill/>
        </p:spPr>
        <p:txBody>
          <a:bodyPr wrap="square" rtlCol="0">
            <a:spAutoFit/>
          </a:bodyPr>
          <a:lstStyle/>
          <a:p>
            <a:r>
              <a:rPr lang="zh-CN" altLang="en-US" sz="6600" dirty="0">
                <a:latin typeface="+mj-ea"/>
                <a:ea typeface="+mj-ea"/>
              </a:rPr>
              <a:t>技术难点与具体实现</a:t>
            </a:r>
            <a:endParaRPr lang="zh-CN" altLang="en-US" sz="6600" dirty="0">
              <a:latin typeface="+mj-ea"/>
              <a:ea typeface="+mj-ea"/>
            </a:endParaRPr>
          </a:p>
        </p:txBody>
      </p:sp>
      <p:sp>
        <p:nvSpPr>
          <p:cNvPr id="7" name="文本框 6"/>
          <p:cNvSpPr txBox="1"/>
          <p:nvPr/>
        </p:nvSpPr>
        <p:spPr>
          <a:xfrm>
            <a:off x="2262332" y="3482690"/>
            <a:ext cx="7824918" cy="461665"/>
          </a:xfrm>
          <a:prstGeom prst="rect">
            <a:avLst/>
          </a:prstGeom>
          <a:noFill/>
        </p:spPr>
        <p:txBody>
          <a:bodyPr wrap="square" rtlCol="0">
            <a:spAutoFit/>
          </a:bodyPr>
          <a:lstStyle/>
          <a:p>
            <a:r>
              <a:rPr lang="en-US" altLang="zh-CN" sz="2400" dirty="0">
                <a:ea typeface="思源宋体 CN Medium" panose="02020500000000000000" charset="-122"/>
              </a:rPr>
              <a:t>Technical difficulties and concrete implementation </a:t>
            </a:r>
            <a:endParaRPr lang="zh-CN" altLang="en-US" sz="2400" dirty="0">
              <a:ea typeface="思源宋体 CN Medium" panose="020205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5926"/>
              <a:ext cx="3384" cy="1242"/>
              <a:chOff x="-161773" y="3761291"/>
              <a:chExt cx="2686576" cy="788427"/>
            </a:xfrm>
          </p:grpSpPr>
          <p:sp>
            <p:nvSpPr>
              <p:cNvPr id="121" name="矩形 120"/>
              <p:cNvSpPr/>
              <p:nvPr/>
            </p:nvSpPr>
            <p:spPr>
              <a:xfrm>
                <a:off x="-161773" y="3936064"/>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536" y="4377452"/>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830" y="3761291"/>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latin typeface="思源宋体 CN Medium" panose="02020500000000000000" charset="-122"/>
                  <a:ea typeface="思源宋体 CN Medium" panose="02020500000000000000" charset="-122"/>
                </a:rPr>
                <a:t>技术难点</a:t>
              </a:r>
              <a:endParaRPr lang="en-US" altLang="zh-CN" sz="1600" b="1" dirty="0">
                <a:latin typeface="思源宋体 CN Medium" panose="02020500000000000000" charset="-122"/>
                <a:ea typeface="思源宋体 CN Medium" panose="02020500000000000000" charset="-122"/>
              </a:endParaRPr>
            </a:p>
            <a:p>
              <a:pPr algn="ctr"/>
              <a:r>
                <a:rPr lang="zh-CN" altLang="en-US" sz="1600" b="1" dirty="0">
                  <a:latin typeface="思源宋体 CN Medium" panose="02020500000000000000" charset="-122"/>
                  <a:ea typeface="思源宋体 CN Medium" panose="02020500000000000000" charset="-122"/>
                </a:rPr>
                <a:t>与具体实现</a:t>
              </a:r>
              <a:endParaRPr lang="zh-CN" altLang="en-US" sz="1600" b="1" dirty="0">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4 </a:t>
              </a:r>
              <a:r>
                <a:rPr lang="zh-CN" altLang="en-US" sz="2000" b="1" dirty="0">
                  <a:latin typeface="思源宋体 CN Medium" panose="02020500000000000000" charset="-122"/>
                  <a:ea typeface="思源宋体 CN Medium" panose="02020500000000000000" charset="-122"/>
                </a:rPr>
                <a:t>技术难点与具体实现</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pic>
        <p:nvPicPr>
          <p:cNvPr id="6" name="图片 5" descr="Gemini_Generated_Image_8epk3b8epk3b8epk (1)"/>
          <p:cNvPicPr>
            <a:picLocks noChangeAspect="1"/>
          </p:cNvPicPr>
          <p:nvPr/>
        </p:nvPicPr>
        <p:blipFill>
          <a:blip r:embed="rId1" cstate="email"/>
          <a:stretch>
            <a:fillRect/>
          </a:stretch>
        </p:blipFill>
        <p:spPr>
          <a:xfrm>
            <a:off x="2090879" y="1105852"/>
            <a:ext cx="9743371" cy="53143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2082800" y="3589656"/>
            <a:ext cx="7117956" cy="2678714"/>
          </a:xfrm>
          <a:prstGeom prst="rect">
            <a:avLst/>
          </a:prstGeom>
          <a:solidFill>
            <a:srgbClr val="DFEB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0" name="矩形 9"/>
          <p:cNvSpPr/>
          <p:nvPr/>
        </p:nvSpPr>
        <p:spPr>
          <a:xfrm>
            <a:off x="2082800" y="1552256"/>
            <a:ext cx="7117956" cy="1680353"/>
          </a:xfrm>
          <a:prstGeom prst="rect">
            <a:avLst/>
          </a:prstGeom>
          <a:solidFill>
            <a:srgbClr val="DFEB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5926"/>
              <a:ext cx="3384" cy="1242"/>
              <a:chOff x="-161773" y="3761291"/>
              <a:chExt cx="2686576" cy="788427"/>
            </a:xfrm>
          </p:grpSpPr>
          <p:sp>
            <p:nvSpPr>
              <p:cNvPr id="121" name="矩形 120"/>
              <p:cNvSpPr/>
              <p:nvPr/>
            </p:nvSpPr>
            <p:spPr>
              <a:xfrm>
                <a:off x="-161773" y="3936064"/>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536" y="4377452"/>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830" y="3761291"/>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latin typeface="思源宋体 CN Medium" panose="02020500000000000000" charset="-122"/>
                  <a:ea typeface="思源宋体 CN Medium" panose="02020500000000000000" charset="-122"/>
                </a:rPr>
                <a:t>技术难点</a:t>
              </a:r>
              <a:endParaRPr lang="en-US" altLang="zh-CN" sz="1600" b="1" dirty="0">
                <a:latin typeface="思源宋体 CN Medium" panose="02020500000000000000" charset="-122"/>
                <a:ea typeface="思源宋体 CN Medium" panose="02020500000000000000" charset="-122"/>
              </a:endParaRPr>
            </a:p>
            <a:p>
              <a:pPr algn="ctr"/>
              <a:r>
                <a:rPr lang="zh-CN" altLang="en-US" sz="1600" b="1" dirty="0">
                  <a:latin typeface="思源宋体 CN Medium" panose="02020500000000000000" charset="-122"/>
                  <a:ea typeface="思源宋体 CN Medium" panose="02020500000000000000" charset="-122"/>
                </a:rPr>
                <a:t>与具体实现</a:t>
              </a:r>
              <a:endParaRPr lang="zh-CN" altLang="en-US" sz="1600" b="1" dirty="0">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4.1 </a:t>
              </a:r>
              <a:r>
                <a:rPr lang="zh-CN" altLang="zh-CN" sz="2000" b="1" dirty="0"/>
                <a:t>底层数据基座：</a:t>
              </a:r>
              <a:r>
                <a:rPr lang="en-US" altLang="zh-CN" sz="2000" b="1" dirty="0" err="1">
                  <a:ea typeface="思源宋体 CN Medium" panose="02020500000000000000" charset="-122"/>
                </a:rPr>
                <a:t>DuckDB</a:t>
              </a:r>
              <a:r>
                <a:rPr lang="zh-CN" altLang="en-US" sz="2000" b="1" dirty="0">
                  <a:latin typeface="思源宋体 CN Medium" panose="02020500000000000000" charset="-122"/>
                  <a:ea typeface="思源宋体 CN Medium" panose="02020500000000000000" charset="-122"/>
                </a:rPr>
                <a:t>驱动的高性能</a:t>
              </a:r>
              <a:r>
                <a:rPr lang="en-US" altLang="zh-CN" sz="2000" b="1" dirty="0">
                  <a:latin typeface="思源宋体 CN Medium" panose="02020500000000000000" charset="-122"/>
                  <a:ea typeface="思源宋体 CN Medium" panose="02020500000000000000" charset="-122"/>
                </a:rPr>
                <a:t>ETL</a:t>
              </a:r>
              <a:r>
                <a:rPr lang="zh-CN" altLang="en-US" sz="2000" b="1" dirty="0">
                  <a:latin typeface="思源宋体 CN Medium" panose="02020500000000000000" charset="-122"/>
                  <a:ea typeface="思源宋体 CN Medium" panose="02020500000000000000" charset="-122"/>
                </a:rPr>
                <a:t>流水线</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4" name="矩形 3"/>
          <p:cNvSpPr/>
          <p:nvPr/>
        </p:nvSpPr>
        <p:spPr>
          <a:xfrm>
            <a:off x="2082800" y="903888"/>
            <a:ext cx="5113696" cy="420299"/>
          </a:xfrm>
          <a:prstGeom prst="rect">
            <a:avLst/>
          </a:prstGeom>
          <a:solidFill>
            <a:schemeClr val="tx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72000" rtlCol="0" anchor="ctr">
            <a:noAutofit/>
          </a:bodyPr>
          <a:lstStyle/>
          <a:p>
            <a:pPr algn="ctr">
              <a:lnSpc>
                <a:spcPct val="150000"/>
              </a:lnSpc>
            </a:pPr>
            <a:r>
              <a:rPr lang="en-US" altLang="zh-CN" sz="2000" dirty="0">
                <a:latin typeface="+mj-ea"/>
                <a:ea typeface="+mj-ea"/>
              </a:rPr>
              <a:t>1.</a:t>
            </a:r>
            <a:r>
              <a:rPr lang="zh-CN" altLang="en-US" sz="2000" dirty="0">
                <a:latin typeface="+mj-ea"/>
                <a:ea typeface="+mj-ea"/>
              </a:rPr>
              <a:t>基于</a:t>
            </a:r>
            <a:r>
              <a:rPr lang="en-US" altLang="zh-CN" sz="2000" dirty="0" err="1">
                <a:latin typeface="+mj-ea"/>
                <a:ea typeface="+mj-ea"/>
              </a:rPr>
              <a:t>DuckDB</a:t>
            </a:r>
            <a:r>
              <a:rPr lang="zh-CN" altLang="en-US" sz="2000" dirty="0">
                <a:latin typeface="+mj-ea"/>
                <a:ea typeface="+mj-ea"/>
              </a:rPr>
              <a:t>的本地化流式日志分析引擎</a:t>
            </a:r>
            <a:endParaRPr lang="zh-CN" altLang="en-US" sz="2000" dirty="0">
              <a:latin typeface="+mj-ea"/>
              <a:ea typeface="+mj-ea"/>
            </a:endParaRPr>
          </a:p>
        </p:txBody>
      </p:sp>
      <p:sp>
        <p:nvSpPr>
          <p:cNvPr id="5" name="文本框 4"/>
          <p:cNvSpPr txBox="1"/>
          <p:nvPr/>
        </p:nvSpPr>
        <p:spPr>
          <a:xfrm>
            <a:off x="2152277" y="3763010"/>
            <a:ext cx="6714251" cy="2376418"/>
          </a:xfrm>
          <a:prstGeom prst="rect">
            <a:avLst/>
          </a:prstGeom>
          <a:noFill/>
        </p:spPr>
        <p:txBody>
          <a:bodyPr wrap="square" rtlCol="0">
            <a:noAutofit/>
          </a:bodyPr>
          <a:lstStyle/>
          <a:p>
            <a:pPr fontAlgn="ctr"/>
            <a:r>
              <a:rPr lang="zh-CN" altLang="en-US" b="1" dirty="0"/>
              <a:t>技术实现</a:t>
            </a:r>
            <a:r>
              <a:rPr lang="zh-CN" altLang="en-US" dirty="0"/>
              <a:t>：</a:t>
            </a:r>
            <a:r>
              <a:rPr lang="zh-CN" altLang="zh-CN" dirty="0"/>
              <a:t>我们在scripts/openpulse_etl.py中引入了嵌入式OLAP数据库 </a:t>
            </a:r>
            <a:r>
              <a:rPr lang="zh-CN" altLang="zh-CN" b="1" dirty="0">
                <a:solidFill>
                  <a:schemeClr val="accent3">
                    <a:lumMod val="50000"/>
                  </a:schemeClr>
                </a:solidFill>
              </a:rPr>
              <a:t>DuckDB</a:t>
            </a:r>
            <a:r>
              <a:rPr lang="zh-CN" altLang="zh-CN" dirty="0"/>
              <a:t>。利用其高效的</a:t>
            </a:r>
            <a:r>
              <a:rPr lang="zh-CN" altLang="zh-CN" b="1" dirty="0">
                <a:solidFill>
                  <a:schemeClr val="accent3">
                    <a:lumMod val="50000"/>
                  </a:schemeClr>
                </a:solidFill>
              </a:rPr>
              <a:t>向量化执行引擎</a:t>
            </a:r>
            <a:r>
              <a:rPr lang="zh-CN" altLang="zh-CN" dirty="0"/>
              <a:t>和</a:t>
            </a:r>
            <a:r>
              <a:rPr lang="zh-CN" altLang="zh-CN" b="1" dirty="0">
                <a:solidFill>
                  <a:schemeClr val="accent3">
                    <a:lumMod val="50000"/>
                  </a:schemeClr>
                </a:solidFill>
              </a:rPr>
              <a:t>内存映射</a:t>
            </a:r>
            <a:r>
              <a:rPr lang="zh-CN" altLang="zh-CN" dirty="0">
                <a:solidFill>
                  <a:schemeClr val="accent3">
                    <a:lumMod val="50000"/>
                  </a:schemeClr>
                </a:solidFill>
              </a:rPr>
              <a:t>技术</a:t>
            </a:r>
            <a:r>
              <a:rPr lang="zh-CN" altLang="zh-CN" dirty="0"/>
              <a:t>，摒弃了全量加载模式，采用</a:t>
            </a:r>
            <a:r>
              <a:rPr lang="zh-CN" altLang="zh-CN" b="1" dirty="0">
                <a:solidFill>
                  <a:schemeClr val="accent3">
                    <a:lumMod val="50000"/>
                  </a:schemeClr>
                </a:solidFill>
              </a:rPr>
              <a:t>流式处理</a:t>
            </a:r>
            <a:r>
              <a:rPr lang="zh-CN" altLang="zh-CN" dirty="0"/>
              <a:t>。</a:t>
            </a:r>
            <a:endParaRPr lang="en-US" altLang="zh-CN" dirty="0"/>
          </a:p>
          <a:p>
            <a:pPr fontAlgn="ctr"/>
            <a:r>
              <a:rPr lang="zh-CN" altLang="en-US" dirty="0"/>
              <a:t>通过使用</a:t>
            </a:r>
            <a:r>
              <a:rPr lang="zh-CN" altLang="zh-CN" dirty="0"/>
              <a:t>SELECT</a:t>
            </a:r>
            <a:r>
              <a:rPr lang="en-US" altLang="zh-CN" dirty="0"/>
              <a:t> </a:t>
            </a:r>
            <a:r>
              <a:rPr lang="zh-CN" altLang="en-US" dirty="0"/>
              <a:t>*</a:t>
            </a:r>
            <a:r>
              <a:rPr lang="zh-CN" altLang="zh-CN" dirty="0"/>
              <a:t> FROM read_csv_auto(...)语句，系统能够像流水线一样对CSV/JSON日志进行分块扫描。这使得我们能够在普通的单机服务器上，以极低的内存占用完成亿级行日志的秒级聚合，快速提取出 Commit频率、Issue响应周期等细粒度行为特征，实现了</a:t>
            </a:r>
            <a:r>
              <a:rPr lang="zh-CN" altLang="en-US" dirty="0"/>
              <a:t>优秀的</a:t>
            </a:r>
            <a:r>
              <a:rPr lang="zh-CN" altLang="zh-CN" dirty="0"/>
              <a:t>计算效果。</a:t>
            </a:r>
            <a:endParaRPr lang="zh-CN" altLang="zh-CN" dirty="0"/>
          </a:p>
          <a:p>
            <a:pPr>
              <a:lnSpc>
                <a:spcPct val="140000"/>
              </a:lnSpc>
            </a:pPr>
            <a:endParaRPr lang="zh-CN" altLang="en-US" sz="1400" dirty="0">
              <a:ea typeface="思源宋体 CN Medium" panose="02020500000000000000" charset="-122"/>
            </a:endParaRPr>
          </a:p>
        </p:txBody>
      </p:sp>
      <p:sp>
        <p:nvSpPr>
          <p:cNvPr id="12" name="文本框 11"/>
          <p:cNvSpPr txBox="1"/>
          <p:nvPr/>
        </p:nvSpPr>
        <p:spPr>
          <a:xfrm>
            <a:off x="2232660" y="1770219"/>
            <a:ext cx="6714250" cy="1337471"/>
          </a:xfrm>
          <a:prstGeom prst="rect">
            <a:avLst/>
          </a:prstGeom>
          <a:noFill/>
        </p:spPr>
        <p:txBody>
          <a:bodyPr wrap="square" rtlCol="0">
            <a:noAutofit/>
          </a:bodyPr>
          <a:lstStyle/>
          <a:p>
            <a:pPr fontAlgn="ctr"/>
            <a:r>
              <a:rPr lang="zh-CN" altLang="zh-CN" dirty="0"/>
              <a:t>GitHub Archive每小时生成数百万条事件日志，解压后数据量达到GB甚至 TB 级别。在没有大型分布式集群的单机环境下，使用传统的Python Pandas库一次性读取全量数据会瞬间耗尽内存，导致分析任务崩溃。</a:t>
            </a:r>
            <a:endParaRPr lang="zh-CN" altLang="zh-CN" dirty="0"/>
          </a:p>
        </p:txBody>
      </p:sp>
      <p:pic>
        <p:nvPicPr>
          <p:cNvPr id="14" name="图片 13" descr="文本&#10;&#10;AI 生成的内容可能不正确。"/>
          <p:cNvPicPr>
            <a:picLocks noChangeAspect="1"/>
          </p:cNvPicPr>
          <p:nvPr/>
        </p:nvPicPr>
        <p:blipFill>
          <a:blip r:embed="rId1"/>
          <a:stretch>
            <a:fillRect/>
          </a:stretch>
        </p:blipFill>
        <p:spPr>
          <a:xfrm>
            <a:off x="9327188" y="1549334"/>
            <a:ext cx="2604150" cy="1879666"/>
          </a:xfrm>
          <a:prstGeom prst="rect">
            <a:avLst/>
          </a:prstGeom>
        </p:spPr>
      </p:pic>
      <p:sp>
        <p:nvSpPr>
          <p:cNvPr id="16" name="梯形 15"/>
          <p:cNvSpPr/>
          <p:nvPr/>
        </p:nvSpPr>
        <p:spPr>
          <a:xfrm rot="10800000">
            <a:off x="9545098" y="4537699"/>
            <a:ext cx="2228585" cy="1057426"/>
          </a:xfrm>
          <a:prstGeom prst="trapezoid">
            <a:avLst>
              <a:gd name="adj" fmla="val 55864"/>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p>
        </p:txBody>
      </p:sp>
      <p:sp>
        <p:nvSpPr>
          <p:cNvPr id="17" name="矩形 16"/>
          <p:cNvSpPr/>
          <p:nvPr/>
        </p:nvSpPr>
        <p:spPr>
          <a:xfrm>
            <a:off x="9545101" y="3710773"/>
            <a:ext cx="2228586" cy="82692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r>
              <a:rPr lang="zh-CN" altLang="zh-CN" dirty="0">
                <a:solidFill>
                  <a:schemeClr val="tx1"/>
                </a:solidFill>
              </a:rPr>
              <a:t>GitHub Archive</a:t>
            </a:r>
            <a:endParaRPr lang="zh-CN" altLang="zh-CN" dirty="0">
              <a:solidFill>
                <a:schemeClr val="tx1"/>
              </a:solidFill>
            </a:endParaRPr>
          </a:p>
        </p:txBody>
      </p:sp>
      <p:sp>
        <p:nvSpPr>
          <p:cNvPr id="18" name="矩形 17"/>
          <p:cNvSpPr/>
          <p:nvPr/>
        </p:nvSpPr>
        <p:spPr>
          <a:xfrm>
            <a:off x="10134074" y="5595124"/>
            <a:ext cx="1059443" cy="561427"/>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r>
              <a:rPr lang="en-US" altLang="zh-CN" sz="1200" dirty="0"/>
              <a:t>Aggregated Metrics</a:t>
            </a:r>
            <a:endParaRPr lang="zh-CN" altLang="en-US" sz="1200" dirty="0"/>
          </a:p>
        </p:txBody>
      </p:sp>
      <p:sp>
        <p:nvSpPr>
          <p:cNvPr id="20" name="文本框 19"/>
          <p:cNvSpPr txBox="1"/>
          <p:nvPr/>
        </p:nvSpPr>
        <p:spPr>
          <a:xfrm>
            <a:off x="9882068" y="4648605"/>
            <a:ext cx="1545366" cy="743595"/>
          </a:xfrm>
          <a:prstGeom prst="rect">
            <a:avLst/>
          </a:prstGeom>
          <a:noFill/>
        </p:spPr>
        <p:txBody>
          <a:bodyPr wrap="square" rtlCol="0">
            <a:noAutofit/>
          </a:bodyPr>
          <a:lstStyle/>
          <a:p>
            <a:pPr algn="ctr" fontAlgn="ctr"/>
            <a:r>
              <a:rPr lang="en-US" altLang="zh-CN" dirty="0"/>
              <a:t>Stream Processing</a:t>
            </a:r>
            <a:endParaRPr lang="zh-CN" altLang="en-US" sz="1400" dirty="0">
              <a:ea typeface="思源宋体 CN Medium" panose="02020500000000000000" charset="-122"/>
            </a:endParaRPr>
          </a:p>
        </p:txBody>
      </p:sp>
      <p:sp>
        <p:nvSpPr>
          <p:cNvPr id="22" name="箭头: 下 21"/>
          <p:cNvSpPr/>
          <p:nvPr/>
        </p:nvSpPr>
        <p:spPr>
          <a:xfrm>
            <a:off x="10538086" y="4386797"/>
            <a:ext cx="233330" cy="353826"/>
          </a:xfrm>
          <a:prstGeom prst="downArrow">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p>
        </p:txBody>
      </p:sp>
      <p:sp>
        <p:nvSpPr>
          <p:cNvPr id="23" name="箭头: 下 22"/>
          <p:cNvSpPr/>
          <p:nvPr/>
        </p:nvSpPr>
        <p:spPr>
          <a:xfrm>
            <a:off x="10547130" y="5323489"/>
            <a:ext cx="233330" cy="353826"/>
          </a:xfrm>
          <a:prstGeom prst="downArrow">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2097406" y="4725984"/>
            <a:ext cx="9818466" cy="1647472"/>
          </a:xfrm>
          <a:prstGeom prst="rect">
            <a:avLst/>
          </a:prstGeom>
          <a:solidFill>
            <a:srgbClr val="DFEB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0" name="矩形 9"/>
          <p:cNvSpPr/>
          <p:nvPr/>
        </p:nvSpPr>
        <p:spPr>
          <a:xfrm>
            <a:off x="2082800" y="1468108"/>
            <a:ext cx="9833073" cy="2340583"/>
          </a:xfrm>
          <a:prstGeom prst="rect">
            <a:avLst/>
          </a:prstGeom>
          <a:solidFill>
            <a:srgbClr val="DFEB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5926"/>
              <a:ext cx="3384" cy="1242"/>
              <a:chOff x="-161773" y="3761291"/>
              <a:chExt cx="2686576" cy="788427"/>
            </a:xfrm>
          </p:grpSpPr>
          <p:sp>
            <p:nvSpPr>
              <p:cNvPr id="121" name="矩形 120"/>
              <p:cNvSpPr/>
              <p:nvPr/>
            </p:nvSpPr>
            <p:spPr>
              <a:xfrm>
                <a:off x="-161773" y="3936064"/>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536" y="4377452"/>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830" y="3761291"/>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latin typeface="思源宋体 CN Medium" panose="02020500000000000000" charset="-122"/>
                  <a:ea typeface="思源宋体 CN Medium" panose="02020500000000000000" charset="-122"/>
                </a:rPr>
                <a:t>技术难点</a:t>
              </a:r>
              <a:endParaRPr lang="en-US" altLang="zh-CN" sz="1600" b="1" dirty="0">
                <a:latin typeface="思源宋体 CN Medium" panose="02020500000000000000" charset="-122"/>
                <a:ea typeface="思源宋体 CN Medium" panose="02020500000000000000" charset="-122"/>
              </a:endParaRPr>
            </a:p>
            <a:p>
              <a:pPr algn="ctr"/>
              <a:r>
                <a:rPr lang="zh-CN" altLang="en-US" sz="1600" b="1" dirty="0">
                  <a:latin typeface="思源宋体 CN Medium" panose="02020500000000000000" charset="-122"/>
                  <a:ea typeface="思源宋体 CN Medium" panose="02020500000000000000" charset="-122"/>
                </a:rPr>
                <a:t>与具体实现</a:t>
              </a:r>
              <a:endParaRPr lang="zh-CN" altLang="en-US" sz="1600" b="1" dirty="0">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4.1 </a:t>
              </a:r>
              <a:r>
                <a:rPr lang="zh-CN" altLang="zh-CN" sz="2000" b="1" dirty="0"/>
                <a:t>底层数据基座：</a:t>
              </a:r>
              <a:r>
                <a:rPr lang="en-US" altLang="zh-CN" sz="2000" b="1" dirty="0" err="1">
                  <a:ea typeface="思源宋体 CN Medium" panose="02020500000000000000" charset="-122"/>
                </a:rPr>
                <a:t>DuckDB</a:t>
              </a:r>
              <a:r>
                <a:rPr lang="zh-CN" altLang="en-US" sz="2000" b="1" dirty="0">
                  <a:latin typeface="思源宋体 CN Medium" panose="02020500000000000000" charset="-122"/>
                  <a:ea typeface="思源宋体 CN Medium" panose="02020500000000000000" charset="-122"/>
                </a:rPr>
                <a:t>驱动的高性能</a:t>
              </a:r>
              <a:r>
                <a:rPr lang="en-US" altLang="zh-CN" sz="2000" b="1" dirty="0">
                  <a:latin typeface="思源宋体 CN Medium" panose="02020500000000000000" charset="-122"/>
                  <a:ea typeface="思源宋体 CN Medium" panose="02020500000000000000" charset="-122"/>
                </a:rPr>
                <a:t>ETL</a:t>
              </a:r>
              <a:r>
                <a:rPr lang="zh-CN" altLang="en-US" sz="2000" b="1" dirty="0">
                  <a:latin typeface="思源宋体 CN Medium" panose="02020500000000000000" charset="-122"/>
                  <a:ea typeface="思源宋体 CN Medium" panose="02020500000000000000" charset="-122"/>
                </a:rPr>
                <a:t>流水线</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4" name="矩形 3"/>
          <p:cNvSpPr/>
          <p:nvPr/>
        </p:nvSpPr>
        <p:spPr>
          <a:xfrm>
            <a:off x="2097406" y="949569"/>
            <a:ext cx="4289865" cy="420299"/>
          </a:xfrm>
          <a:prstGeom prst="rect">
            <a:avLst/>
          </a:prstGeom>
          <a:solidFill>
            <a:schemeClr val="tx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72000" rtlCol="0" anchor="ctr">
            <a:noAutofit/>
          </a:bodyPr>
          <a:lstStyle/>
          <a:p>
            <a:pPr algn="ctr">
              <a:lnSpc>
                <a:spcPct val="150000"/>
              </a:lnSpc>
            </a:pPr>
            <a:r>
              <a:rPr lang="en-US" altLang="zh-CN" sz="2000" dirty="0">
                <a:latin typeface="+mj-ea"/>
                <a:ea typeface="+mj-ea"/>
              </a:rPr>
              <a:t>2.</a:t>
            </a:r>
            <a:r>
              <a:rPr lang="zh-CN" altLang="en-US" sz="2000" dirty="0">
                <a:latin typeface="+mj-ea"/>
                <a:ea typeface="+mj-ea"/>
              </a:rPr>
              <a:t>复杂场景下的极值清洗与去噪算法</a:t>
            </a:r>
            <a:endParaRPr lang="zh-CN" altLang="en-US" sz="2000" dirty="0">
              <a:latin typeface="+mj-ea"/>
              <a:ea typeface="+mj-ea"/>
            </a:endParaRPr>
          </a:p>
        </p:txBody>
      </p:sp>
      <p:sp>
        <p:nvSpPr>
          <p:cNvPr id="5" name="文本框 4"/>
          <p:cNvSpPr txBox="1"/>
          <p:nvPr/>
        </p:nvSpPr>
        <p:spPr>
          <a:xfrm>
            <a:off x="2196525" y="1607100"/>
            <a:ext cx="9719347" cy="2376418"/>
          </a:xfrm>
          <a:prstGeom prst="rect">
            <a:avLst/>
          </a:prstGeom>
          <a:noFill/>
        </p:spPr>
        <p:txBody>
          <a:bodyPr wrap="square" rtlCol="0">
            <a:noAutofit/>
          </a:bodyPr>
          <a:lstStyle/>
          <a:p>
            <a:pPr fontAlgn="ctr"/>
            <a:r>
              <a:rPr lang="zh-CN" altLang="en-US" b="1" dirty="0"/>
              <a:t>技术实现</a:t>
            </a:r>
            <a:r>
              <a:rPr lang="zh-CN" altLang="en-US" dirty="0"/>
              <a:t>：我们在</a:t>
            </a:r>
            <a:r>
              <a:rPr lang="en-US" altLang="zh-CN" dirty="0"/>
              <a:t>ETL</a:t>
            </a:r>
            <a:r>
              <a:rPr lang="zh-CN" altLang="en-US" dirty="0"/>
              <a:t>管道中植入了</a:t>
            </a:r>
            <a:r>
              <a:rPr lang="zh-CN" altLang="en-US" b="1" dirty="0">
                <a:solidFill>
                  <a:schemeClr val="accent3">
                    <a:lumMod val="50000"/>
                  </a:schemeClr>
                </a:solidFill>
              </a:rPr>
              <a:t>多层过滤器</a:t>
            </a:r>
            <a:r>
              <a:rPr lang="zh-CN" altLang="en-US" dirty="0"/>
              <a:t>，用于清洗</a:t>
            </a:r>
            <a:r>
              <a:rPr lang="en-US" altLang="zh-CN" dirty="0"/>
              <a:t>GitHub</a:t>
            </a:r>
            <a:r>
              <a:rPr lang="zh-CN" altLang="en-US" dirty="0"/>
              <a:t>日志中的</a:t>
            </a:r>
            <a:r>
              <a:rPr lang="zh-CN" altLang="en-US" b="1" dirty="0">
                <a:solidFill>
                  <a:schemeClr val="accent3">
                    <a:lumMod val="50000"/>
                  </a:schemeClr>
                </a:solidFill>
              </a:rPr>
              <a:t>噪声数据</a:t>
            </a:r>
            <a:r>
              <a:rPr lang="zh-CN" altLang="en-US" dirty="0"/>
              <a:t>。</a:t>
            </a:r>
            <a:endParaRPr lang="en-US" altLang="zh-CN" dirty="0"/>
          </a:p>
          <a:p>
            <a:pPr fontAlgn="ctr"/>
            <a:r>
              <a:rPr lang="zh-CN" altLang="en-US" dirty="0"/>
              <a:t>首先，利用正则表达式构建</a:t>
            </a:r>
            <a:r>
              <a:rPr lang="en-US" altLang="zh-CN" b="1" dirty="0">
                <a:solidFill>
                  <a:schemeClr val="accent3">
                    <a:lumMod val="50000"/>
                  </a:schemeClr>
                </a:solidFill>
              </a:rPr>
              <a:t>Bot</a:t>
            </a:r>
            <a:r>
              <a:rPr lang="zh-CN" altLang="en-US" b="1" dirty="0">
                <a:solidFill>
                  <a:schemeClr val="accent3">
                    <a:lumMod val="50000"/>
                  </a:schemeClr>
                </a:solidFill>
              </a:rPr>
              <a:t>识别黑名单</a:t>
            </a:r>
            <a:r>
              <a:rPr lang="zh-CN" altLang="en-US" dirty="0"/>
              <a:t>，在</a:t>
            </a:r>
            <a:r>
              <a:rPr lang="en-US" altLang="zh-CN" dirty="0"/>
              <a:t>SQL</a:t>
            </a:r>
            <a:r>
              <a:rPr lang="zh-CN" altLang="en-US" dirty="0"/>
              <a:t>查询阶段直接过滤掉如</a:t>
            </a:r>
            <a:r>
              <a:rPr lang="en-US" altLang="zh-CN" dirty="0" err="1"/>
              <a:t>dependabot</a:t>
            </a:r>
            <a:r>
              <a:rPr lang="en-US" altLang="zh-CN" dirty="0"/>
              <a:t>, </a:t>
            </a:r>
            <a:r>
              <a:rPr lang="en-US" altLang="zh-CN" dirty="0" err="1"/>
              <a:t>github</a:t>
            </a:r>
            <a:r>
              <a:rPr lang="en-US" altLang="zh-CN" dirty="0"/>
              <a:t>-actions</a:t>
            </a:r>
            <a:r>
              <a:rPr lang="zh-CN" altLang="en-US" dirty="0"/>
              <a:t>等账号的提交记录。</a:t>
            </a:r>
            <a:endParaRPr lang="en-US" altLang="zh-CN" dirty="0"/>
          </a:p>
          <a:p>
            <a:pPr fontAlgn="ctr"/>
            <a:r>
              <a:rPr lang="zh-CN" altLang="en-US" dirty="0"/>
              <a:t>其次，针对时间戳异常，脚本设定了严格的</a:t>
            </a:r>
            <a:r>
              <a:rPr lang="zh-CN" altLang="en-US" b="1" dirty="0">
                <a:solidFill>
                  <a:schemeClr val="accent3">
                    <a:lumMod val="50000"/>
                  </a:schemeClr>
                </a:solidFill>
              </a:rPr>
              <a:t>有效时间窗口</a:t>
            </a:r>
            <a:r>
              <a:rPr lang="zh-CN" altLang="en-US" dirty="0"/>
              <a:t>，自动剔除早于项目创建时间或晚于当前时间的脏数据。</a:t>
            </a:r>
            <a:endParaRPr lang="en-US" altLang="zh-CN" dirty="0"/>
          </a:p>
          <a:p>
            <a:pPr fontAlgn="ctr"/>
            <a:r>
              <a:rPr lang="zh-CN" altLang="en-US" dirty="0"/>
              <a:t>最后，针对数据合并产生的空值，我们使用了</a:t>
            </a:r>
            <a:r>
              <a:rPr lang="en-US" altLang="zh-CN" dirty="0"/>
              <a:t>SQL </a:t>
            </a:r>
            <a:r>
              <a:rPr lang="zh-CN" altLang="en-US" dirty="0"/>
              <a:t>中的</a:t>
            </a:r>
            <a:r>
              <a:rPr lang="en-US" altLang="zh-CN" dirty="0"/>
              <a:t>COALESCE</a:t>
            </a:r>
            <a:r>
              <a:rPr lang="zh-CN" altLang="en-US" dirty="0"/>
              <a:t>函数配合</a:t>
            </a:r>
            <a:r>
              <a:rPr lang="zh-CN" altLang="en-US" b="1" dirty="0">
                <a:solidFill>
                  <a:schemeClr val="accent3">
                    <a:lumMod val="50000"/>
                  </a:schemeClr>
                </a:solidFill>
              </a:rPr>
              <a:t>线性插值算法</a:t>
            </a:r>
            <a:r>
              <a:rPr lang="zh-CN" altLang="en-US" dirty="0"/>
              <a:t>进行填补，确保最终生成的指标数据既保留了原始分布的真实性，又剔除了统计噪声的干扰。</a:t>
            </a:r>
            <a:endParaRPr lang="zh-CN" altLang="en-US" sz="1400" dirty="0">
              <a:ea typeface="思源宋体 CN Medium" panose="02020500000000000000" charset="-122"/>
            </a:endParaRPr>
          </a:p>
        </p:txBody>
      </p:sp>
      <p:sp>
        <p:nvSpPr>
          <p:cNvPr id="2" name="矩形 1"/>
          <p:cNvSpPr/>
          <p:nvPr/>
        </p:nvSpPr>
        <p:spPr>
          <a:xfrm>
            <a:off x="2097406" y="4131196"/>
            <a:ext cx="4645923" cy="420299"/>
          </a:xfrm>
          <a:prstGeom prst="rect">
            <a:avLst/>
          </a:prstGeom>
          <a:solidFill>
            <a:schemeClr val="tx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72000" rtlCol="0" anchor="ctr">
            <a:noAutofit/>
          </a:bodyPr>
          <a:lstStyle/>
          <a:p>
            <a:pPr algn="ctr">
              <a:lnSpc>
                <a:spcPct val="150000"/>
              </a:lnSpc>
            </a:pPr>
            <a:r>
              <a:rPr lang="en-US" altLang="zh-CN" sz="2000" dirty="0">
                <a:latin typeface="+mj-ea"/>
                <a:ea typeface="+mj-ea"/>
              </a:rPr>
              <a:t>3.</a:t>
            </a:r>
            <a:r>
              <a:rPr lang="zh-CN" altLang="en-US" sz="2000" dirty="0">
                <a:latin typeface="+mj-ea"/>
                <a:ea typeface="+mj-ea"/>
              </a:rPr>
              <a:t>多源异构指标的强制对齐与宽表构建</a:t>
            </a:r>
            <a:endParaRPr lang="zh-CN" altLang="en-US" sz="2000" dirty="0">
              <a:latin typeface="+mj-ea"/>
              <a:ea typeface="+mj-ea"/>
            </a:endParaRPr>
          </a:p>
        </p:txBody>
      </p:sp>
      <p:sp>
        <p:nvSpPr>
          <p:cNvPr id="3" name="文本框 2"/>
          <p:cNvSpPr txBox="1"/>
          <p:nvPr/>
        </p:nvSpPr>
        <p:spPr>
          <a:xfrm>
            <a:off x="2196525" y="4945976"/>
            <a:ext cx="9577828" cy="1647472"/>
          </a:xfrm>
          <a:prstGeom prst="rect">
            <a:avLst/>
          </a:prstGeom>
          <a:noFill/>
        </p:spPr>
        <p:txBody>
          <a:bodyPr wrap="square" rtlCol="0">
            <a:noAutofit/>
          </a:bodyPr>
          <a:lstStyle/>
          <a:p>
            <a:pPr fontAlgn="ctr"/>
            <a:r>
              <a:rPr lang="zh-CN" altLang="en-US" dirty="0"/>
              <a:t>本项目中，各个开源项目的原始数据来源极其庞杂。一方面是</a:t>
            </a:r>
            <a:r>
              <a:rPr lang="en-US" altLang="zh-CN" dirty="0" err="1"/>
              <a:t>OpenDigger</a:t>
            </a:r>
            <a:r>
              <a:rPr lang="zh-CN" altLang="en-US" dirty="0"/>
              <a:t>提供的数千个离散 </a:t>
            </a:r>
            <a:r>
              <a:rPr lang="en-US" altLang="zh-CN" dirty="0"/>
              <a:t>JSON</a:t>
            </a:r>
            <a:r>
              <a:rPr lang="zh-CN" altLang="en-US" b="1" dirty="0">
                <a:solidFill>
                  <a:schemeClr val="accent3">
                    <a:lumMod val="50000"/>
                  </a:schemeClr>
                </a:solidFill>
              </a:rPr>
              <a:t>指标文件</a:t>
            </a:r>
            <a:r>
              <a:rPr lang="zh-CN" altLang="en-US" dirty="0"/>
              <a:t>（主要是高层统计数据），另一方面是我们本地通过</a:t>
            </a:r>
            <a:r>
              <a:rPr lang="zh-CN" altLang="en-US" b="1" dirty="0">
                <a:solidFill>
                  <a:schemeClr val="accent3">
                    <a:lumMod val="50000"/>
                  </a:schemeClr>
                </a:solidFill>
              </a:rPr>
              <a:t>日志</a:t>
            </a:r>
            <a:r>
              <a:rPr lang="zh-CN" altLang="en-US" dirty="0"/>
              <a:t>聚合出的底层行为数据。这两套数据的</a:t>
            </a:r>
            <a:r>
              <a:rPr lang="zh-CN" altLang="en-US" dirty="0">
                <a:solidFill>
                  <a:srgbClr val="000000"/>
                </a:solidFill>
              </a:rPr>
              <a:t>更新频率不一致</a:t>
            </a:r>
            <a:r>
              <a:rPr lang="zh-CN" altLang="en-US" dirty="0"/>
              <a:t>（周更</a:t>
            </a:r>
            <a:r>
              <a:rPr lang="en-US" altLang="zh-CN" dirty="0"/>
              <a:t>vs</a:t>
            </a:r>
            <a:r>
              <a:rPr lang="zh-CN" altLang="en-US" dirty="0"/>
              <a:t>月更），字段命名规范不同，且存在大量的时间轴错位，</a:t>
            </a:r>
            <a:r>
              <a:rPr lang="zh-CN" altLang="en-US" b="1" dirty="0">
                <a:solidFill>
                  <a:schemeClr val="accent3">
                    <a:lumMod val="50000"/>
                  </a:schemeClr>
                </a:solidFill>
              </a:rPr>
              <a:t>难以直接合并</a:t>
            </a:r>
            <a:r>
              <a:rPr lang="zh-CN" altLang="en-US" dirty="0"/>
              <a:t>。</a:t>
            </a:r>
            <a:endParaRPr lang="zh-CN"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5747396" y="1784824"/>
            <a:ext cx="5985384" cy="3700306"/>
          </a:xfrm>
          <a:prstGeom prst="rect">
            <a:avLst/>
          </a:prstGeom>
          <a:solidFill>
            <a:srgbClr val="DFEB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5926"/>
              <a:ext cx="3384" cy="1242"/>
              <a:chOff x="-161773" y="3761291"/>
              <a:chExt cx="2686576" cy="788427"/>
            </a:xfrm>
          </p:grpSpPr>
          <p:sp>
            <p:nvSpPr>
              <p:cNvPr id="121" name="矩形 120"/>
              <p:cNvSpPr/>
              <p:nvPr/>
            </p:nvSpPr>
            <p:spPr>
              <a:xfrm>
                <a:off x="-161773" y="3936064"/>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536" y="4377452"/>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830" y="3761291"/>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latin typeface="思源宋体 CN Medium" panose="02020500000000000000" charset="-122"/>
                  <a:ea typeface="思源宋体 CN Medium" panose="02020500000000000000" charset="-122"/>
                </a:rPr>
                <a:t>技术难点</a:t>
              </a:r>
              <a:endParaRPr lang="en-US" altLang="zh-CN" sz="1600" b="1" dirty="0">
                <a:latin typeface="思源宋体 CN Medium" panose="02020500000000000000" charset="-122"/>
                <a:ea typeface="思源宋体 CN Medium" panose="02020500000000000000" charset="-122"/>
              </a:endParaRPr>
            </a:p>
            <a:p>
              <a:pPr algn="ctr"/>
              <a:r>
                <a:rPr lang="zh-CN" altLang="en-US" sz="1600" b="1" dirty="0">
                  <a:latin typeface="思源宋体 CN Medium" panose="02020500000000000000" charset="-122"/>
                  <a:ea typeface="思源宋体 CN Medium" panose="02020500000000000000" charset="-122"/>
                </a:rPr>
                <a:t>与具体实现</a:t>
              </a:r>
              <a:endParaRPr lang="zh-CN" altLang="en-US" sz="1600" b="1" dirty="0">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4.1 </a:t>
              </a:r>
              <a:r>
                <a:rPr lang="zh-CN" altLang="zh-CN" sz="2000" b="1" dirty="0"/>
                <a:t>底层数据基座：</a:t>
              </a:r>
              <a:r>
                <a:rPr lang="en-US" altLang="zh-CN" sz="2000" b="1" dirty="0" err="1">
                  <a:ea typeface="思源宋体 CN Medium" panose="02020500000000000000" charset="-122"/>
                </a:rPr>
                <a:t>DuckDB</a:t>
              </a:r>
              <a:r>
                <a:rPr lang="zh-CN" altLang="en-US" sz="2000" b="1" dirty="0">
                  <a:latin typeface="思源宋体 CN Medium" panose="02020500000000000000" charset="-122"/>
                  <a:ea typeface="思源宋体 CN Medium" panose="02020500000000000000" charset="-122"/>
                </a:rPr>
                <a:t>驱动的高性能</a:t>
              </a:r>
              <a:r>
                <a:rPr lang="en-US" altLang="zh-CN" sz="2000" b="1" dirty="0">
                  <a:latin typeface="思源宋体 CN Medium" panose="02020500000000000000" charset="-122"/>
                  <a:ea typeface="思源宋体 CN Medium" panose="02020500000000000000" charset="-122"/>
                </a:rPr>
                <a:t>ETL</a:t>
              </a:r>
              <a:r>
                <a:rPr lang="zh-CN" altLang="en-US" sz="2000" b="1" dirty="0">
                  <a:latin typeface="思源宋体 CN Medium" panose="02020500000000000000" charset="-122"/>
                  <a:ea typeface="思源宋体 CN Medium" panose="02020500000000000000" charset="-122"/>
                </a:rPr>
                <a:t>流水线</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4" name="矩形 3"/>
          <p:cNvSpPr/>
          <p:nvPr/>
        </p:nvSpPr>
        <p:spPr>
          <a:xfrm>
            <a:off x="2082800" y="903888"/>
            <a:ext cx="4645923" cy="420299"/>
          </a:xfrm>
          <a:prstGeom prst="rect">
            <a:avLst/>
          </a:prstGeom>
          <a:solidFill>
            <a:schemeClr val="tx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72000" rtlCol="0" anchor="ctr">
            <a:noAutofit/>
          </a:bodyPr>
          <a:lstStyle/>
          <a:p>
            <a:pPr algn="ctr">
              <a:lnSpc>
                <a:spcPct val="150000"/>
              </a:lnSpc>
            </a:pPr>
            <a:r>
              <a:rPr lang="en-US" altLang="zh-CN" sz="2000" dirty="0">
                <a:latin typeface="+mj-ea"/>
                <a:ea typeface="+mj-ea"/>
              </a:rPr>
              <a:t>3.</a:t>
            </a:r>
            <a:r>
              <a:rPr lang="zh-CN" altLang="en-US" sz="2000" dirty="0">
                <a:latin typeface="+mj-ea"/>
                <a:ea typeface="+mj-ea"/>
              </a:rPr>
              <a:t>多源异构指标的强制对齐与宽表构建</a:t>
            </a:r>
            <a:endParaRPr lang="zh-CN" altLang="en-US" sz="2000" dirty="0">
              <a:latin typeface="+mj-ea"/>
              <a:ea typeface="+mj-ea"/>
            </a:endParaRPr>
          </a:p>
        </p:txBody>
      </p:sp>
      <p:sp>
        <p:nvSpPr>
          <p:cNvPr id="5" name="文本框 4"/>
          <p:cNvSpPr txBox="1"/>
          <p:nvPr/>
        </p:nvSpPr>
        <p:spPr>
          <a:xfrm>
            <a:off x="5898232" y="2073420"/>
            <a:ext cx="5704487" cy="4085127"/>
          </a:xfrm>
          <a:prstGeom prst="rect">
            <a:avLst/>
          </a:prstGeom>
          <a:noFill/>
        </p:spPr>
        <p:txBody>
          <a:bodyPr wrap="square" rtlCol="0">
            <a:noAutofit/>
          </a:bodyPr>
          <a:lstStyle/>
          <a:p>
            <a:pPr fontAlgn="ctr"/>
            <a:r>
              <a:rPr lang="zh-CN" altLang="en-US" b="1" dirty="0"/>
              <a:t>技术实现：</a:t>
            </a:r>
            <a:endParaRPr lang="en-US" altLang="zh-CN" b="1" dirty="0"/>
          </a:p>
          <a:p>
            <a:pPr fontAlgn="ctr"/>
            <a:r>
              <a:rPr lang="zh-CN" altLang="en-US" dirty="0"/>
              <a:t>本项目建立了一套严格的</a:t>
            </a:r>
            <a:r>
              <a:rPr lang="en-US" altLang="zh-CN" dirty="0"/>
              <a:t>Extract-Transform-Load</a:t>
            </a:r>
            <a:r>
              <a:rPr lang="zh-CN" altLang="en-US" dirty="0"/>
              <a:t>标准化流水线。我们以 </a:t>
            </a:r>
            <a:r>
              <a:rPr lang="en-US" altLang="zh-CN" b="1" dirty="0" err="1">
                <a:solidFill>
                  <a:schemeClr val="accent3">
                    <a:lumMod val="50000"/>
                  </a:schemeClr>
                </a:solidFill>
              </a:rPr>
              <a:t>repo_name</a:t>
            </a:r>
            <a:r>
              <a:rPr lang="zh-CN" altLang="en-US" dirty="0"/>
              <a:t>（仓库名）和</a:t>
            </a:r>
            <a:r>
              <a:rPr lang="en-US" altLang="zh-CN" b="1" dirty="0">
                <a:solidFill>
                  <a:schemeClr val="accent3">
                    <a:lumMod val="50000"/>
                  </a:schemeClr>
                </a:solidFill>
              </a:rPr>
              <a:t>month</a:t>
            </a:r>
            <a:r>
              <a:rPr lang="zh-CN" altLang="en-US" dirty="0"/>
              <a:t>（月份）作为全局唯一的</a:t>
            </a:r>
            <a:r>
              <a:rPr lang="zh-CN" altLang="en-US" b="1" dirty="0">
                <a:solidFill>
                  <a:schemeClr val="accent3">
                    <a:lumMod val="50000"/>
                  </a:schemeClr>
                </a:solidFill>
              </a:rPr>
              <a:t>联合主键</a:t>
            </a:r>
            <a:r>
              <a:rPr lang="zh-CN" altLang="en-US" dirty="0"/>
              <a:t>，采用</a:t>
            </a:r>
            <a:r>
              <a:rPr lang="zh-CN" altLang="en-US" b="1" dirty="0">
                <a:solidFill>
                  <a:schemeClr val="accent3">
                    <a:lumMod val="50000"/>
                  </a:schemeClr>
                </a:solidFill>
              </a:rPr>
              <a:t>全外连接</a:t>
            </a:r>
            <a:r>
              <a:rPr lang="zh-CN" altLang="en-US" dirty="0"/>
              <a:t>策略将两股数据流强制汇聚。</a:t>
            </a:r>
            <a:endParaRPr lang="en-US" altLang="zh-CN" dirty="0"/>
          </a:p>
          <a:p>
            <a:pPr fontAlgn="ctr"/>
            <a:r>
              <a:rPr lang="zh-CN" altLang="en-US" dirty="0"/>
              <a:t>在合并过程中，脚本会自动</a:t>
            </a:r>
            <a:r>
              <a:rPr lang="zh-CN" altLang="en-US" b="1" dirty="0">
                <a:solidFill>
                  <a:schemeClr val="accent3">
                    <a:lumMod val="50000"/>
                  </a:schemeClr>
                </a:solidFill>
              </a:rPr>
              <a:t>执行时间粒度对齐</a:t>
            </a:r>
            <a:r>
              <a:rPr lang="zh-CN" altLang="en-US" dirty="0"/>
              <a:t>，将周粒度数据上卷为月度数据。最终，系统会输出一张标准化的</a:t>
            </a:r>
            <a:r>
              <a:rPr lang="en-US" altLang="zh-CN" dirty="0"/>
              <a:t>Parquet</a:t>
            </a:r>
            <a:r>
              <a:rPr lang="zh-CN" altLang="en-US" dirty="0"/>
              <a:t>格式</a:t>
            </a:r>
            <a:r>
              <a:rPr lang="en-US" altLang="zh-CN" dirty="0"/>
              <a:t>KPI</a:t>
            </a:r>
            <a:r>
              <a:rPr lang="zh-CN" altLang="en-US" dirty="0"/>
              <a:t>宽表（</a:t>
            </a:r>
            <a:r>
              <a:rPr lang="en-US" altLang="zh-CN" dirty="0" err="1"/>
              <a:t>repo_month_kpi.parquet</a:t>
            </a:r>
            <a:r>
              <a:rPr lang="zh-CN" altLang="en-US" dirty="0"/>
              <a:t>），该表包含上百个对齐后的指标列，为后续所有的健康度评分、趋势预测和横向对比提供了唯一且纯净的单一事实来源。</a:t>
            </a:r>
            <a:endParaRPr lang="zh-CN" altLang="en-US" sz="1400" dirty="0">
              <a:ea typeface="思源宋体 CN Medium" panose="02020500000000000000" charset="-122"/>
            </a:endParaRPr>
          </a:p>
        </p:txBody>
      </p:sp>
      <p:pic>
        <p:nvPicPr>
          <p:cNvPr id="3" name="图片 2"/>
          <p:cNvPicPr>
            <a:picLocks noChangeAspect="1"/>
          </p:cNvPicPr>
          <p:nvPr/>
        </p:nvPicPr>
        <p:blipFill>
          <a:blip r:embed="rId1"/>
          <a:stretch>
            <a:fillRect/>
          </a:stretch>
        </p:blipFill>
        <p:spPr>
          <a:xfrm>
            <a:off x="2082801" y="6013932"/>
            <a:ext cx="8271022" cy="587025"/>
          </a:xfrm>
          <a:prstGeom prst="rect">
            <a:avLst/>
          </a:prstGeom>
        </p:spPr>
      </p:pic>
      <p:sp>
        <p:nvSpPr>
          <p:cNvPr id="9" name="任意多边形: 形状 8"/>
          <p:cNvSpPr/>
          <p:nvPr/>
        </p:nvSpPr>
        <p:spPr>
          <a:xfrm>
            <a:off x="2493851" y="2692447"/>
            <a:ext cx="689204" cy="985878"/>
          </a:xfrm>
          <a:custGeom>
            <a:avLst/>
            <a:gdLst>
              <a:gd name="csX0" fmla="*/ 0 w 534573"/>
              <a:gd name="csY0" fmla="*/ 71478 h 641219"/>
              <a:gd name="csX1" fmla="*/ 281354 w 534573"/>
              <a:gd name="csY1" fmla="*/ 50376 h 641219"/>
              <a:gd name="csX2" fmla="*/ 534573 w 534573"/>
              <a:gd name="csY2" fmla="*/ 641219 h 641219"/>
            </a:gdLst>
            <a:ahLst/>
            <a:cxnLst>
              <a:cxn ang="0">
                <a:pos x="csX0" y="csY0"/>
              </a:cxn>
              <a:cxn ang="0">
                <a:pos x="csX1" y="csY1"/>
              </a:cxn>
              <a:cxn ang="0">
                <a:pos x="csX2" y="csY2"/>
              </a:cxn>
            </a:cxnLst>
            <a:rect l="l" t="t" r="r" b="b"/>
            <a:pathLst>
              <a:path w="534573" h="641219">
                <a:moveTo>
                  <a:pt x="0" y="71478"/>
                </a:moveTo>
                <a:cubicBezTo>
                  <a:pt x="96129" y="13448"/>
                  <a:pt x="192259" y="-44581"/>
                  <a:pt x="281354" y="50376"/>
                </a:cubicBezTo>
                <a:cubicBezTo>
                  <a:pt x="370450" y="145333"/>
                  <a:pt x="452511" y="393276"/>
                  <a:pt x="534573" y="641219"/>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ln>
                <a:solidFill>
                  <a:schemeClr val="tx1"/>
                </a:solidFill>
              </a:ln>
              <a:solidFill>
                <a:schemeClr val="tx1"/>
              </a:solidFill>
            </a:endParaRPr>
          </a:p>
        </p:txBody>
      </p:sp>
      <p:sp>
        <p:nvSpPr>
          <p:cNvPr id="15" name="任意多边形: 形状 14"/>
          <p:cNvSpPr/>
          <p:nvPr/>
        </p:nvSpPr>
        <p:spPr>
          <a:xfrm>
            <a:off x="3197236" y="3131282"/>
            <a:ext cx="1005840" cy="532975"/>
          </a:xfrm>
          <a:custGeom>
            <a:avLst/>
            <a:gdLst>
              <a:gd name="csX0" fmla="*/ 1005840 w 1005840"/>
              <a:gd name="csY0" fmla="*/ 19504 h 532975"/>
              <a:gd name="csX1" fmla="*/ 471268 w 1005840"/>
              <a:gd name="csY1" fmla="*/ 61707 h 532975"/>
              <a:gd name="csX2" fmla="*/ 0 w 1005840"/>
              <a:gd name="csY2" fmla="*/ 532975 h 532975"/>
            </a:gdLst>
            <a:ahLst/>
            <a:cxnLst>
              <a:cxn ang="0">
                <a:pos x="csX0" y="csY0"/>
              </a:cxn>
              <a:cxn ang="0">
                <a:pos x="csX1" y="csY1"/>
              </a:cxn>
              <a:cxn ang="0">
                <a:pos x="csX2" y="csY2"/>
              </a:cxn>
            </a:cxnLst>
            <a:rect l="l" t="t" r="r" b="b"/>
            <a:pathLst>
              <a:path w="1005840" h="532975">
                <a:moveTo>
                  <a:pt x="1005840" y="19504"/>
                </a:moveTo>
                <a:cubicBezTo>
                  <a:pt x="822374" y="-2184"/>
                  <a:pt x="638908" y="-23872"/>
                  <a:pt x="471268" y="61707"/>
                </a:cubicBezTo>
                <a:cubicBezTo>
                  <a:pt x="303628" y="147286"/>
                  <a:pt x="151814" y="340130"/>
                  <a:pt x="0" y="532975"/>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pic>
        <p:nvPicPr>
          <p:cNvPr id="21" name="图片 20" descr="图标&#10;&#10;AI 生成的内容可能不正确。"/>
          <p:cNvPicPr>
            <a:picLocks noChangeAspect="1"/>
          </p:cNvPicPr>
          <p:nvPr/>
        </p:nvPicPr>
        <p:blipFill>
          <a:blip r:embed="rId2"/>
          <a:stretch>
            <a:fillRect/>
          </a:stretch>
        </p:blipFill>
        <p:spPr>
          <a:xfrm>
            <a:off x="2984482" y="3649115"/>
            <a:ext cx="467432" cy="380756"/>
          </a:xfrm>
          <a:prstGeom prst="rect">
            <a:avLst/>
          </a:prstGeom>
        </p:spPr>
      </p:pic>
      <p:sp>
        <p:nvSpPr>
          <p:cNvPr id="24" name="文本框 23"/>
          <p:cNvSpPr txBox="1"/>
          <p:nvPr/>
        </p:nvSpPr>
        <p:spPr>
          <a:xfrm>
            <a:off x="2277805" y="2144395"/>
            <a:ext cx="2233101" cy="834849"/>
          </a:xfrm>
          <a:prstGeom prst="rect">
            <a:avLst/>
          </a:prstGeom>
          <a:noFill/>
        </p:spPr>
        <p:txBody>
          <a:bodyPr wrap="square" rtlCol="0">
            <a:noAutofit/>
          </a:bodyPr>
          <a:lstStyle/>
          <a:p>
            <a:pPr fontAlgn="ctr"/>
            <a:r>
              <a:rPr lang="en-US" altLang="zh-CN" sz="1400" b="1" dirty="0" err="1"/>
              <a:t>OpenDigger</a:t>
            </a:r>
            <a:r>
              <a:rPr lang="en-US" altLang="zh-CN" sz="1400" b="1" dirty="0"/>
              <a:t> Metrics</a:t>
            </a:r>
            <a:endParaRPr lang="en-US" altLang="zh-CN" sz="1400" b="1" dirty="0"/>
          </a:p>
          <a:p>
            <a:pPr fontAlgn="ctr"/>
            <a:r>
              <a:rPr lang="en-US" altLang="zh-CN" sz="1400" b="1" dirty="0"/>
              <a:t> (High Level)</a:t>
            </a:r>
            <a:endParaRPr lang="zh-CN" altLang="zh-CN" sz="1400" dirty="0"/>
          </a:p>
        </p:txBody>
      </p:sp>
      <p:sp>
        <p:nvSpPr>
          <p:cNvPr id="25" name="文本框 24"/>
          <p:cNvSpPr txBox="1"/>
          <p:nvPr/>
        </p:nvSpPr>
        <p:spPr>
          <a:xfrm>
            <a:off x="3640580" y="2641875"/>
            <a:ext cx="2461896" cy="730960"/>
          </a:xfrm>
          <a:prstGeom prst="rect">
            <a:avLst/>
          </a:prstGeom>
          <a:noFill/>
        </p:spPr>
        <p:txBody>
          <a:bodyPr wrap="square" rtlCol="0">
            <a:noAutofit/>
          </a:bodyPr>
          <a:lstStyle/>
          <a:p>
            <a:pPr fontAlgn="ctr"/>
            <a:r>
              <a:rPr lang="en-US" altLang="zh-CN" sz="1400" b="1" dirty="0"/>
              <a:t>Local </a:t>
            </a:r>
            <a:r>
              <a:rPr lang="en-US" altLang="zh-CN" sz="1400" b="1" dirty="0" err="1"/>
              <a:t>DuckDB</a:t>
            </a:r>
            <a:r>
              <a:rPr lang="en-US" altLang="zh-CN" sz="1400" b="1" dirty="0"/>
              <a:t> Logs (Granular)</a:t>
            </a:r>
            <a:endParaRPr lang="zh-CN" altLang="zh-CN" sz="1400" dirty="0"/>
          </a:p>
        </p:txBody>
      </p:sp>
      <p:sp>
        <p:nvSpPr>
          <p:cNvPr id="26" name="文本框 25"/>
          <p:cNvSpPr txBox="1"/>
          <p:nvPr/>
        </p:nvSpPr>
        <p:spPr>
          <a:xfrm>
            <a:off x="3455383" y="3801420"/>
            <a:ext cx="2353457" cy="477182"/>
          </a:xfrm>
          <a:prstGeom prst="rect">
            <a:avLst/>
          </a:prstGeom>
          <a:noFill/>
        </p:spPr>
        <p:txBody>
          <a:bodyPr wrap="square" rtlCol="0">
            <a:noAutofit/>
          </a:bodyPr>
          <a:lstStyle/>
          <a:p>
            <a:pPr fontAlgn="ctr"/>
            <a:r>
              <a:rPr lang="en-US" altLang="zh-CN" sz="1400" b="1" dirty="0"/>
              <a:t>FULL OUTER JOIN</a:t>
            </a:r>
            <a:endParaRPr lang="zh-CN" altLang="zh-CN" sz="1400" dirty="0"/>
          </a:p>
        </p:txBody>
      </p:sp>
      <p:sp>
        <p:nvSpPr>
          <p:cNvPr id="29" name="任意多边形: 形状 28"/>
          <p:cNvSpPr/>
          <p:nvPr/>
        </p:nvSpPr>
        <p:spPr>
          <a:xfrm>
            <a:off x="3211304" y="4030017"/>
            <a:ext cx="120704" cy="668216"/>
          </a:xfrm>
          <a:custGeom>
            <a:avLst/>
            <a:gdLst>
              <a:gd name="csX0" fmla="*/ 0 w 120704"/>
              <a:gd name="csY0" fmla="*/ 0 h 668216"/>
              <a:gd name="csX1" fmla="*/ 119575 w 120704"/>
              <a:gd name="csY1" fmla="*/ 379828 h 668216"/>
              <a:gd name="csX2" fmla="*/ 63304 w 120704"/>
              <a:gd name="csY2" fmla="*/ 668216 h 668216"/>
              <a:gd name="csX3" fmla="*/ 63304 w 120704"/>
              <a:gd name="csY3" fmla="*/ 668216 h 668216"/>
            </a:gdLst>
            <a:ahLst/>
            <a:cxnLst>
              <a:cxn ang="0">
                <a:pos x="csX0" y="csY0"/>
              </a:cxn>
              <a:cxn ang="0">
                <a:pos x="csX1" y="csY1"/>
              </a:cxn>
              <a:cxn ang="0">
                <a:pos x="csX2" y="csY2"/>
              </a:cxn>
              <a:cxn ang="0">
                <a:pos x="csX3" y="csY3"/>
              </a:cxn>
            </a:cxnLst>
            <a:rect l="l" t="t" r="r" b="b"/>
            <a:pathLst>
              <a:path w="120704" h="668216">
                <a:moveTo>
                  <a:pt x="0" y="0"/>
                </a:moveTo>
                <a:cubicBezTo>
                  <a:pt x="54512" y="134229"/>
                  <a:pt x="109024" y="268459"/>
                  <a:pt x="119575" y="379828"/>
                </a:cubicBezTo>
                <a:cubicBezTo>
                  <a:pt x="130126" y="491197"/>
                  <a:pt x="63304" y="668216"/>
                  <a:pt x="63304" y="668216"/>
                </a:cubicBezTo>
                <a:lnTo>
                  <a:pt x="63304" y="668216"/>
                </a:ln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30" name="文本框 29"/>
          <p:cNvSpPr txBox="1"/>
          <p:nvPr/>
        </p:nvSpPr>
        <p:spPr>
          <a:xfrm>
            <a:off x="2440237" y="4734357"/>
            <a:ext cx="2669786" cy="352904"/>
          </a:xfrm>
          <a:prstGeom prst="rect">
            <a:avLst/>
          </a:prstGeom>
          <a:noFill/>
        </p:spPr>
        <p:txBody>
          <a:bodyPr wrap="square" rtlCol="0">
            <a:noAutofit/>
          </a:bodyPr>
          <a:lstStyle/>
          <a:p>
            <a:pPr fontAlgn="ctr"/>
            <a:r>
              <a:rPr lang="en-US" altLang="zh-CN" sz="1400" b="1" dirty="0"/>
              <a:t>Repo-Month KPI Parquet</a:t>
            </a:r>
            <a:endParaRPr lang="zh-CN" altLang="zh-CN"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5926"/>
              <a:ext cx="3384" cy="1242"/>
              <a:chOff x="-161773" y="3761291"/>
              <a:chExt cx="2686576" cy="788427"/>
            </a:xfrm>
          </p:grpSpPr>
          <p:sp>
            <p:nvSpPr>
              <p:cNvPr id="121" name="矩形 120"/>
              <p:cNvSpPr/>
              <p:nvPr/>
            </p:nvSpPr>
            <p:spPr>
              <a:xfrm>
                <a:off x="-161773" y="3936064"/>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536" y="4377452"/>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830" y="3761291"/>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latin typeface="思源宋体 CN Medium" panose="02020500000000000000" charset="-122"/>
                  <a:ea typeface="思源宋体 CN Medium" panose="02020500000000000000" charset="-122"/>
                </a:rPr>
                <a:t>技术难点</a:t>
              </a:r>
              <a:endParaRPr lang="en-US" altLang="zh-CN" sz="1600" b="1" dirty="0">
                <a:latin typeface="思源宋体 CN Medium" panose="02020500000000000000" charset="-122"/>
                <a:ea typeface="思源宋体 CN Medium" panose="02020500000000000000" charset="-122"/>
              </a:endParaRPr>
            </a:p>
            <a:p>
              <a:pPr algn="ctr"/>
              <a:r>
                <a:rPr lang="zh-CN" altLang="en-US" sz="1600" b="1" dirty="0">
                  <a:latin typeface="思源宋体 CN Medium" panose="02020500000000000000" charset="-122"/>
                  <a:ea typeface="思源宋体 CN Medium" panose="02020500000000000000" charset="-122"/>
                </a:rPr>
                <a:t>与具体实现</a:t>
              </a:r>
              <a:endParaRPr lang="zh-CN" altLang="en-US" sz="1600" b="1" dirty="0">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4.2 </a:t>
              </a:r>
              <a:r>
                <a:rPr lang="zh-CN" altLang="en-US" sz="2000" b="1" dirty="0">
                  <a:latin typeface="思源宋体 CN Medium" panose="02020500000000000000" charset="-122"/>
                  <a:ea typeface="思源宋体 CN Medium" panose="02020500000000000000" charset="-122"/>
                </a:rPr>
                <a:t>核心评估引擎：五维自适应健康度算法模型</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3" name="矩形 2"/>
          <p:cNvSpPr/>
          <p:nvPr/>
        </p:nvSpPr>
        <p:spPr>
          <a:xfrm>
            <a:off x="2095560" y="2924216"/>
            <a:ext cx="7270945" cy="1699955"/>
          </a:xfrm>
          <a:prstGeom prst="rect">
            <a:avLst/>
          </a:prstGeom>
          <a:solidFill>
            <a:schemeClr val="accent4">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2053650" y="914400"/>
            <a:ext cx="7621758" cy="561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en-US" altLang="zh-CN" sz="2000" dirty="0">
                <a:latin typeface="+mj-ea"/>
                <a:ea typeface="+mj-ea"/>
              </a:rPr>
              <a:t>1.A-R-C-T-S </a:t>
            </a:r>
            <a:r>
              <a:rPr lang="zh-CN" altLang="en-US" sz="2000" dirty="0">
                <a:latin typeface="+mj-ea"/>
                <a:ea typeface="+mj-ea"/>
              </a:rPr>
              <a:t>五维全景加权评估体系（具体计算方法请见</a:t>
            </a:r>
            <a:r>
              <a:rPr lang="zh-CN" altLang="en-US" sz="2000" b="1" dirty="0">
                <a:latin typeface="+mj-ea"/>
                <a:ea typeface="+mj-ea"/>
              </a:rPr>
              <a:t>附页</a:t>
            </a:r>
            <a:r>
              <a:rPr lang="en-US" altLang="zh-CN" sz="2000" b="1" dirty="0">
                <a:latin typeface="+mj-ea"/>
                <a:ea typeface="+mj-ea"/>
              </a:rPr>
              <a:t>2</a:t>
            </a:r>
            <a:r>
              <a:rPr lang="zh-CN" altLang="en-US" sz="2000" dirty="0">
                <a:latin typeface="+mj-ea"/>
                <a:ea typeface="+mj-ea"/>
              </a:rPr>
              <a:t>）</a:t>
            </a:r>
            <a:endParaRPr lang="zh-CN" altLang="en-US" sz="2000" dirty="0">
              <a:latin typeface="+mj-ea"/>
              <a:ea typeface="+mj-ea"/>
            </a:endParaRPr>
          </a:p>
        </p:txBody>
      </p:sp>
      <p:sp>
        <p:nvSpPr>
          <p:cNvPr id="5" name="文本框 4"/>
          <p:cNvSpPr txBox="1"/>
          <p:nvPr/>
        </p:nvSpPr>
        <p:spPr>
          <a:xfrm>
            <a:off x="2101215" y="5310449"/>
            <a:ext cx="9675251" cy="1807005"/>
          </a:xfrm>
          <a:prstGeom prst="rect">
            <a:avLst/>
          </a:prstGeom>
          <a:noFill/>
        </p:spPr>
        <p:txBody>
          <a:bodyPr wrap="square" rtlCol="0">
            <a:noAutofit/>
          </a:bodyPr>
          <a:lstStyle/>
          <a:p>
            <a:pPr fontAlgn="ctr"/>
            <a:r>
              <a:rPr lang="zh-CN" altLang="en-US" b="1" dirty="0"/>
              <a:t>计算逻辑</a:t>
            </a:r>
            <a:r>
              <a:rPr lang="zh-CN" altLang="en-US" dirty="0"/>
              <a:t>：系统采用</a:t>
            </a:r>
            <a:r>
              <a:rPr lang="zh-CN" altLang="en-US" b="1" dirty="0">
                <a:solidFill>
                  <a:schemeClr val="accent3">
                    <a:lumMod val="50000"/>
                  </a:schemeClr>
                </a:solidFill>
              </a:rPr>
              <a:t>加权几何平均数</a:t>
            </a:r>
            <a:r>
              <a:rPr lang="zh-CN" altLang="en-US" dirty="0"/>
              <a:t>算法来合成总分。相比于算术平均，几何平均对短板更加敏感</a:t>
            </a:r>
            <a:r>
              <a:rPr lang="en-US" altLang="zh-CN" dirty="0"/>
              <a:t>——</a:t>
            </a:r>
            <a:r>
              <a:rPr lang="zh-CN" altLang="en-US" dirty="0"/>
              <a:t>这意味着如果一个项目虽然代码提交极多（活跃度高），但完全不回复</a:t>
            </a:r>
            <a:r>
              <a:rPr lang="en-US" altLang="zh-CN" dirty="0"/>
              <a:t>Issue</a:t>
            </a:r>
            <a:r>
              <a:rPr lang="zh-CN" altLang="en-US" dirty="0"/>
              <a:t>（响应效率低），其总分依然会被严重拉低。这种算法设计监督项目维护者必须兼顾</a:t>
            </a:r>
            <a:r>
              <a:rPr lang="zh-CN" altLang="en-US" b="1" dirty="0">
                <a:solidFill>
                  <a:schemeClr val="accent3">
                    <a:lumMod val="50000"/>
                  </a:schemeClr>
                </a:solidFill>
              </a:rPr>
              <a:t>各个维度的均衡发展</a:t>
            </a:r>
            <a:r>
              <a:rPr lang="zh-CN" altLang="en-US" dirty="0"/>
              <a:t>，避免了极端不平衡现象带来的虚假繁荣。</a:t>
            </a:r>
            <a:endParaRPr lang="zh-CN" altLang="en-US" dirty="0"/>
          </a:p>
        </p:txBody>
      </p:sp>
      <p:sp>
        <p:nvSpPr>
          <p:cNvPr id="6" name="文本框 5"/>
          <p:cNvSpPr txBox="1"/>
          <p:nvPr/>
        </p:nvSpPr>
        <p:spPr>
          <a:xfrm>
            <a:off x="2137048" y="3020800"/>
            <a:ext cx="7270945" cy="1807005"/>
          </a:xfrm>
          <a:prstGeom prst="rect">
            <a:avLst/>
          </a:prstGeom>
          <a:noFill/>
        </p:spPr>
        <p:txBody>
          <a:bodyPr wrap="square" rtlCol="0">
            <a:noAutofit/>
          </a:bodyPr>
          <a:lstStyle/>
          <a:p>
            <a:pPr fontAlgn="ctr"/>
            <a:r>
              <a:rPr lang="zh-CN" altLang="en-US" b="1" dirty="0">
                <a:solidFill>
                  <a:schemeClr val="accent3">
                    <a:lumMod val="50000"/>
                  </a:schemeClr>
                </a:solidFill>
              </a:rPr>
              <a:t>活跃度 </a:t>
            </a:r>
            <a:r>
              <a:rPr lang="en-US" altLang="zh-CN" b="1" dirty="0">
                <a:solidFill>
                  <a:schemeClr val="accent3">
                    <a:lumMod val="50000"/>
                  </a:schemeClr>
                </a:solidFill>
              </a:rPr>
              <a:t>(Activity, 25%) </a:t>
            </a:r>
            <a:r>
              <a:rPr lang="zh-CN" altLang="en-US" dirty="0"/>
              <a:t>反映开发热度；</a:t>
            </a:r>
            <a:endParaRPr lang="en-US" altLang="zh-CN" dirty="0"/>
          </a:p>
          <a:p>
            <a:pPr fontAlgn="ctr"/>
            <a:r>
              <a:rPr lang="zh-CN" altLang="en-US" b="1" dirty="0">
                <a:solidFill>
                  <a:schemeClr val="accent3">
                    <a:lumMod val="50000"/>
                  </a:schemeClr>
                </a:solidFill>
              </a:rPr>
              <a:t>响应效率 </a:t>
            </a:r>
            <a:r>
              <a:rPr lang="en-US" altLang="zh-CN" b="1" dirty="0">
                <a:solidFill>
                  <a:schemeClr val="accent3">
                    <a:lumMod val="50000"/>
                  </a:schemeClr>
                </a:solidFill>
              </a:rPr>
              <a:t>(Responsiveness, 25%) </a:t>
            </a:r>
            <a:r>
              <a:rPr lang="zh-CN" altLang="en-US" dirty="0"/>
              <a:t>衡量社区服务水平；</a:t>
            </a:r>
            <a:endParaRPr lang="en-US" altLang="zh-CN" dirty="0"/>
          </a:p>
          <a:p>
            <a:pPr fontAlgn="ctr"/>
            <a:r>
              <a:rPr lang="zh-CN" altLang="en-US" b="1" dirty="0">
                <a:solidFill>
                  <a:schemeClr val="accent3">
                    <a:lumMod val="50000"/>
                  </a:schemeClr>
                </a:solidFill>
              </a:rPr>
              <a:t>贡献结构 </a:t>
            </a:r>
            <a:r>
              <a:rPr lang="en-US" altLang="zh-CN" b="1" dirty="0">
                <a:solidFill>
                  <a:schemeClr val="accent3">
                    <a:lumMod val="50000"/>
                  </a:schemeClr>
                </a:solidFill>
              </a:rPr>
              <a:t>(Contribution, 20%) </a:t>
            </a:r>
            <a:r>
              <a:rPr lang="zh-CN" altLang="en-US" dirty="0"/>
              <a:t>评估团队稳定性（如 </a:t>
            </a:r>
            <a:r>
              <a:rPr lang="en-US" altLang="zh-CN" dirty="0"/>
              <a:t>Bus Factor</a:t>
            </a:r>
            <a:r>
              <a:rPr lang="zh-CN" altLang="en-US" dirty="0"/>
              <a:t>）；</a:t>
            </a:r>
            <a:endParaRPr lang="en-US" altLang="zh-CN" dirty="0"/>
          </a:p>
          <a:p>
            <a:pPr fontAlgn="ctr"/>
            <a:r>
              <a:rPr lang="zh-CN" altLang="en-US" b="1" dirty="0">
                <a:solidFill>
                  <a:schemeClr val="accent3">
                    <a:lumMod val="50000"/>
                  </a:schemeClr>
                </a:solidFill>
              </a:rPr>
              <a:t>关注度 </a:t>
            </a:r>
            <a:r>
              <a:rPr lang="en-US" altLang="zh-CN" b="1" dirty="0">
                <a:solidFill>
                  <a:schemeClr val="accent3">
                    <a:lumMod val="50000"/>
                  </a:schemeClr>
                </a:solidFill>
              </a:rPr>
              <a:t>(Attention, 10%)</a:t>
            </a:r>
            <a:r>
              <a:rPr lang="en-US" altLang="zh-CN" dirty="0"/>
              <a:t> </a:t>
            </a:r>
            <a:r>
              <a:rPr lang="zh-CN" altLang="en-US" dirty="0"/>
              <a:t>代表社区影响力；</a:t>
            </a:r>
            <a:endParaRPr lang="en-US" altLang="zh-CN" dirty="0"/>
          </a:p>
          <a:p>
            <a:pPr fontAlgn="ctr"/>
            <a:r>
              <a:rPr lang="zh-CN" altLang="en-US" b="1" dirty="0">
                <a:solidFill>
                  <a:schemeClr val="accent3">
                    <a:lumMod val="50000"/>
                  </a:schemeClr>
                </a:solidFill>
              </a:rPr>
              <a:t>可持续性 </a:t>
            </a:r>
            <a:r>
              <a:rPr lang="en-US" altLang="zh-CN" b="1" dirty="0">
                <a:solidFill>
                  <a:schemeClr val="accent3">
                    <a:lumMod val="50000"/>
                  </a:schemeClr>
                </a:solidFill>
              </a:rPr>
              <a:t>(Sustainability, 20%) </a:t>
            </a:r>
            <a:r>
              <a:rPr lang="zh-CN" altLang="en-US" dirty="0"/>
              <a:t>预测项目寿命。</a:t>
            </a:r>
            <a:endParaRPr lang="zh-CN" altLang="en-US" dirty="0"/>
          </a:p>
        </p:txBody>
      </p:sp>
      <p:sp>
        <p:nvSpPr>
          <p:cNvPr id="9" name="文本框 8"/>
          <p:cNvSpPr txBox="1"/>
          <p:nvPr/>
        </p:nvSpPr>
        <p:spPr>
          <a:xfrm>
            <a:off x="2015172" y="1668239"/>
            <a:ext cx="7419749" cy="1015862"/>
          </a:xfrm>
          <a:prstGeom prst="rect">
            <a:avLst/>
          </a:prstGeom>
          <a:noFill/>
        </p:spPr>
        <p:txBody>
          <a:bodyPr wrap="square" rtlCol="0">
            <a:noAutofit/>
          </a:bodyPr>
          <a:lstStyle/>
          <a:p>
            <a:pPr fontAlgn="ctr"/>
            <a:r>
              <a:rPr lang="zh-CN" altLang="en-US" b="1" dirty="0"/>
              <a:t>理论框架</a:t>
            </a:r>
            <a:r>
              <a:rPr lang="zh-CN" altLang="en-US" dirty="0"/>
              <a:t>：为了全面刻画开源项目的生存状态，我们在</a:t>
            </a:r>
            <a:r>
              <a:rPr lang="en-US" altLang="zh-CN" dirty="0"/>
              <a:t>healthscore.py</a:t>
            </a:r>
            <a:r>
              <a:rPr lang="zh-CN" altLang="en-US" dirty="0"/>
              <a:t>中构建了一个多维度的评估矩阵。不仅仅关注代码提交量，而是将健康度拆解为</a:t>
            </a:r>
            <a:r>
              <a:rPr lang="zh-CN" altLang="en-US" b="1" dirty="0">
                <a:solidFill>
                  <a:schemeClr val="accent3">
                    <a:lumMod val="50000"/>
                  </a:schemeClr>
                </a:solidFill>
              </a:rPr>
              <a:t>五个核心维度</a:t>
            </a:r>
            <a:r>
              <a:rPr lang="zh-CN" altLang="en-US" dirty="0"/>
              <a:t>（每个维度具体使用的指标请见</a:t>
            </a:r>
            <a:r>
              <a:rPr lang="zh-CN" altLang="en-US" b="1" dirty="0">
                <a:solidFill>
                  <a:schemeClr val="accent3">
                    <a:lumMod val="50000"/>
                  </a:schemeClr>
                </a:solidFill>
              </a:rPr>
              <a:t>附页</a:t>
            </a:r>
            <a:r>
              <a:rPr lang="en-US" altLang="zh-CN" b="1" dirty="0">
                <a:solidFill>
                  <a:schemeClr val="accent3">
                    <a:lumMod val="50000"/>
                  </a:schemeClr>
                </a:solidFill>
              </a:rPr>
              <a:t>1</a:t>
            </a:r>
            <a:r>
              <a:rPr lang="zh-CN" altLang="en-US" dirty="0"/>
              <a:t>的图片说明）：</a:t>
            </a:r>
            <a:endParaRPr lang="en-US" altLang="zh-CN" dirty="0"/>
          </a:p>
        </p:txBody>
      </p:sp>
      <p:pic>
        <p:nvPicPr>
          <p:cNvPr id="10" name="图片 9" descr="图形用户界面, 应用程序&#10;&#10;AI 生成的内容可能不正确。"/>
          <p:cNvPicPr>
            <a:picLocks noChangeAspect="1"/>
          </p:cNvPicPr>
          <p:nvPr/>
        </p:nvPicPr>
        <p:blipFill>
          <a:blip r:embed="rId1"/>
          <a:stretch>
            <a:fillRect/>
          </a:stretch>
        </p:blipFill>
        <p:spPr>
          <a:xfrm>
            <a:off x="9487943" y="2144395"/>
            <a:ext cx="2445245" cy="304408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053650" y="1634238"/>
            <a:ext cx="4372442" cy="1376932"/>
          </a:xfrm>
          <a:prstGeom prst="rect">
            <a:avLst/>
          </a:prstGeom>
          <a:solidFill>
            <a:schemeClr val="accent4">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5926"/>
              <a:ext cx="3384" cy="1242"/>
              <a:chOff x="-161773" y="3761291"/>
              <a:chExt cx="2686576" cy="788427"/>
            </a:xfrm>
          </p:grpSpPr>
          <p:sp>
            <p:nvSpPr>
              <p:cNvPr id="121" name="矩形 120"/>
              <p:cNvSpPr/>
              <p:nvPr/>
            </p:nvSpPr>
            <p:spPr>
              <a:xfrm>
                <a:off x="-161773" y="3936064"/>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536" y="4377452"/>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830" y="3761291"/>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latin typeface="思源宋体 CN Medium" panose="02020500000000000000" charset="-122"/>
                  <a:ea typeface="思源宋体 CN Medium" panose="02020500000000000000" charset="-122"/>
                </a:rPr>
                <a:t>技术难点</a:t>
              </a:r>
              <a:endParaRPr lang="en-US" altLang="zh-CN" sz="1600" b="1" dirty="0">
                <a:latin typeface="思源宋体 CN Medium" panose="02020500000000000000" charset="-122"/>
                <a:ea typeface="思源宋体 CN Medium" panose="02020500000000000000" charset="-122"/>
              </a:endParaRPr>
            </a:p>
            <a:p>
              <a:pPr algn="ctr"/>
              <a:r>
                <a:rPr lang="zh-CN" altLang="en-US" sz="1600" b="1" dirty="0">
                  <a:latin typeface="思源宋体 CN Medium" panose="02020500000000000000" charset="-122"/>
                  <a:ea typeface="思源宋体 CN Medium" panose="02020500000000000000" charset="-122"/>
                </a:rPr>
                <a:t>与具体实现</a:t>
              </a:r>
              <a:endParaRPr lang="zh-CN" altLang="en-US" sz="1600" b="1" dirty="0">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4.2 </a:t>
              </a:r>
              <a:r>
                <a:rPr lang="zh-CN" altLang="en-US" sz="2000" b="1" dirty="0">
                  <a:latin typeface="思源宋体 CN Medium" panose="02020500000000000000" charset="-122"/>
                  <a:ea typeface="思源宋体 CN Medium" panose="02020500000000000000" charset="-122"/>
                </a:rPr>
                <a:t>核心评估引擎：五维自适应健康度算法模型</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3" name="矩形 2"/>
          <p:cNvSpPr/>
          <p:nvPr/>
        </p:nvSpPr>
        <p:spPr>
          <a:xfrm>
            <a:off x="2053474" y="3175766"/>
            <a:ext cx="4365088" cy="3449058"/>
          </a:xfrm>
          <a:prstGeom prst="rect">
            <a:avLst/>
          </a:prstGeom>
          <a:solidFill>
            <a:schemeClr val="accent4">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5" name="文本框 4"/>
          <p:cNvSpPr txBox="1"/>
          <p:nvPr/>
        </p:nvSpPr>
        <p:spPr>
          <a:xfrm>
            <a:off x="2144339" y="3327464"/>
            <a:ext cx="4227881" cy="2908832"/>
          </a:xfrm>
          <a:prstGeom prst="rect">
            <a:avLst/>
          </a:prstGeom>
          <a:noFill/>
        </p:spPr>
        <p:txBody>
          <a:bodyPr wrap="square" rtlCol="0">
            <a:noAutofit/>
          </a:bodyPr>
          <a:lstStyle/>
          <a:p>
            <a:pPr fontAlgn="ctr"/>
            <a:r>
              <a:rPr lang="zh-CN" altLang="en-US" b="1" dirty="0"/>
              <a:t>技术实现</a:t>
            </a:r>
            <a:r>
              <a:rPr lang="zh-CN" altLang="en-US" dirty="0"/>
              <a:t>：我们创新性地研发了</a:t>
            </a:r>
            <a:r>
              <a:rPr lang="zh-CN" altLang="en-US" b="1" dirty="0">
                <a:solidFill>
                  <a:schemeClr val="accent3">
                    <a:lumMod val="50000"/>
                  </a:schemeClr>
                </a:solidFill>
              </a:rPr>
              <a:t>自我竞逐式归一化算法</a:t>
            </a:r>
            <a:r>
              <a:rPr lang="zh-CN" altLang="en-US" dirty="0"/>
              <a:t>。对于每个仓库的每项指标，系统会实时计算其历史数据的</a:t>
            </a:r>
            <a:r>
              <a:rPr lang="en-US" altLang="zh-CN" dirty="0"/>
              <a:t>P0</a:t>
            </a:r>
            <a:r>
              <a:rPr lang="zh-CN" altLang="en-US" dirty="0"/>
              <a:t>（最小值）到</a:t>
            </a:r>
            <a:r>
              <a:rPr lang="en-US" altLang="zh-CN" dirty="0"/>
              <a:t>P100</a:t>
            </a:r>
            <a:r>
              <a:rPr lang="zh-CN" altLang="en-US" dirty="0"/>
              <a:t>（最大值） 区间。评分公式为 </a:t>
            </a:r>
            <a:r>
              <a:rPr lang="en-US" altLang="zh-CN" b="1" dirty="0">
                <a:solidFill>
                  <a:schemeClr val="accent3">
                    <a:lumMod val="50000"/>
                  </a:schemeClr>
                </a:solidFill>
              </a:rPr>
              <a:t>Score = (Current - P0) / (P100 - P0)</a:t>
            </a:r>
            <a:r>
              <a:rPr lang="zh-CN" altLang="en-US" dirty="0"/>
              <a:t>。这意味着，只要一个项目相比自己的过去</a:t>
            </a:r>
            <a:r>
              <a:rPr lang="zh-CN" altLang="en-US" b="1" dirty="0">
                <a:solidFill>
                  <a:schemeClr val="accent3">
                    <a:lumMod val="50000"/>
                  </a:schemeClr>
                </a:solidFill>
              </a:rPr>
              <a:t>保持稳定或有所增长</a:t>
            </a:r>
            <a:r>
              <a:rPr lang="zh-CN" altLang="en-US" dirty="0"/>
              <a:t>，就能获得较高的健康分。这种自适应机制完美解决了不同量级项目无法横向比较的难题，实现了不同项目在同一个指标上产生相似的衡量方式。</a:t>
            </a:r>
            <a:endParaRPr lang="zh-CN" altLang="en-US" dirty="0"/>
          </a:p>
          <a:p>
            <a:pPr fontAlgn="ctr"/>
            <a:endParaRPr lang="zh-CN" altLang="en-US" dirty="0"/>
          </a:p>
        </p:txBody>
      </p:sp>
      <p:sp>
        <p:nvSpPr>
          <p:cNvPr id="6" name="文本框 5"/>
          <p:cNvSpPr txBox="1"/>
          <p:nvPr/>
        </p:nvSpPr>
        <p:spPr>
          <a:xfrm>
            <a:off x="2122171" y="1746885"/>
            <a:ext cx="4250494" cy="1194687"/>
          </a:xfrm>
          <a:prstGeom prst="rect">
            <a:avLst/>
          </a:prstGeom>
          <a:noFill/>
        </p:spPr>
        <p:txBody>
          <a:bodyPr wrap="square" rtlCol="0">
            <a:noAutofit/>
          </a:bodyPr>
          <a:lstStyle/>
          <a:p>
            <a:pPr fontAlgn="ctr"/>
            <a:r>
              <a:rPr lang="zh-CN" altLang="en-US" dirty="0"/>
              <a:t>如果对大型项目简单地使用全局最大值进行归一化，</a:t>
            </a:r>
            <a:r>
              <a:rPr lang="en-US" altLang="zh-CN" dirty="0"/>
              <a:t>99%</a:t>
            </a:r>
            <a:r>
              <a:rPr lang="zh-CN" altLang="en-US" dirty="0"/>
              <a:t>的中小项目得分都会</a:t>
            </a:r>
            <a:r>
              <a:rPr lang="zh-CN" altLang="en-US" b="1" dirty="0">
                <a:solidFill>
                  <a:schemeClr val="accent3">
                    <a:lumMod val="50000"/>
                  </a:schemeClr>
                </a:solidFill>
              </a:rPr>
              <a:t>被压缩到</a:t>
            </a:r>
            <a:r>
              <a:rPr lang="en-US" altLang="zh-CN" b="1" dirty="0">
                <a:solidFill>
                  <a:schemeClr val="accent3">
                    <a:lumMod val="50000"/>
                  </a:schemeClr>
                </a:solidFill>
              </a:rPr>
              <a:t>0.01</a:t>
            </a:r>
            <a:r>
              <a:rPr lang="zh-CN" altLang="en-US" b="1" dirty="0">
                <a:solidFill>
                  <a:schemeClr val="accent3">
                    <a:lumMod val="50000"/>
                  </a:schemeClr>
                </a:solidFill>
              </a:rPr>
              <a:t>以下</a:t>
            </a:r>
            <a:r>
              <a:rPr lang="zh-CN" altLang="en-US" dirty="0"/>
              <a:t>，完全失去了评分的区分度和激励意义。</a:t>
            </a:r>
            <a:endParaRPr lang="zh-CN" altLang="en-US" dirty="0"/>
          </a:p>
        </p:txBody>
      </p:sp>
      <p:sp>
        <p:nvSpPr>
          <p:cNvPr id="11" name="矩形 10"/>
          <p:cNvSpPr/>
          <p:nvPr/>
        </p:nvSpPr>
        <p:spPr>
          <a:xfrm>
            <a:off x="2053650" y="914400"/>
            <a:ext cx="4382319" cy="561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en-US" altLang="zh-CN" sz="2000" dirty="0">
                <a:latin typeface="+mj-ea"/>
                <a:ea typeface="+mj-ea"/>
              </a:rPr>
              <a:t>2.</a:t>
            </a:r>
            <a:r>
              <a:rPr lang="zh-CN" altLang="en-US" sz="2000" dirty="0">
                <a:latin typeface="+mj-ea"/>
                <a:ea typeface="+mj-ea"/>
              </a:rPr>
              <a:t>基于历史分位数的鲁棒归一化算法</a:t>
            </a:r>
            <a:endParaRPr lang="zh-CN" altLang="en-US" sz="2000" dirty="0">
              <a:latin typeface="+mj-ea"/>
              <a:ea typeface="+mj-ea"/>
            </a:endParaRPr>
          </a:p>
        </p:txBody>
      </p:sp>
      <p:sp>
        <p:nvSpPr>
          <p:cNvPr id="13" name="矩形 12"/>
          <p:cNvSpPr/>
          <p:nvPr/>
        </p:nvSpPr>
        <p:spPr>
          <a:xfrm>
            <a:off x="6578454" y="906794"/>
            <a:ext cx="5374092" cy="561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en-US" altLang="zh-CN" sz="2000" dirty="0">
                <a:latin typeface="+mj-ea"/>
                <a:ea typeface="+mj-ea"/>
              </a:rPr>
              <a:t>3.</a:t>
            </a:r>
            <a:r>
              <a:rPr lang="zh-CN" altLang="en-US" sz="2000" dirty="0">
                <a:latin typeface="+mj-ea"/>
                <a:ea typeface="+mj-ea"/>
              </a:rPr>
              <a:t>稀疏数据环境下的中性填充与反向指标处理</a:t>
            </a:r>
            <a:endParaRPr lang="zh-CN" altLang="en-US" sz="2000" dirty="0">
              <a:latin typeface="+mj-ea"/>
              <a:ea typeface="+mj-ea"/>
            </a:endParaRPr>
          </a:p>
        </p:txBody>
      </p:sp>
      <p:sp>
        <p:nvSpPr>
          <p:cNvPr id="14" name="矩形 13"/>
          <p:cNvSpPr/>
          <p:nvPr/>
        </p:nvSpPr>
        <p:spPr>
          <a:xfrm>
            <a:off x="6917010" y="1642453"/>
            <a:ext cx="4505955" cy="3842677"/>
          </a:xfrm>
          <a:prstGeom prst="rect">
            <a:avLst/>
          </a:prstGeom>
          <a:solidFill>
            <a:schemeClr val="accent4">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5" name="文本框 14"/>
          <p:cNvSpPr txBox="1"/>
          <p:nvPr/>
        </p:nvSpPr>
        <p:spPr>
          <a:xfrm>
            <a:off x="7033993" y="1843161"/>
            <a:ext cx="4234229" cy="3641969"/>
          </a:xfrm>
          <a:prstGeom prst="rect">
            <a:avLst/>
          </a:prstGeom>
          <a:noFill/>
        </p:spPr>
        <p:txBody>
          <a:bodyPr wrap="square" rtlCol="0">
            <a:noAutofit/>
          </a:bodyPr>
          <a:lstStyle/>
          <a:p>
            <a:pPr fontAlgn="ctr"/>
            <a:r>
              <a:rPr lang="zh-CN" altLang="en-US" b="1" dirty="0"/>
              <a:t>技术实现</a:t>
            </a:r>
            <a:r>
              <a:rPr lang="zh-CN" altLang="en-US" dirty="0"/>
              <a:t>：我们在评分函数</a:t>
            </a:r>
            <a:r>
              <a:rPr lang="en-US" altLang="zh-CN" dirty="0" err="1"/>
              <a:t>safe_minmax</a:t>
            </a:r>
            <a:r>
              <a:rPr lang="zh-CN" altLang="en-US" dirty="0"/>
              <a:t>中内置了</a:t>
            </a:r>
            <a:r>
              <a:rPr lang="zh-CN" altLang="en-US" b="1" dirty="0">
                <a:solidFill>
                  <a:schemeClr val="accent3">
                    <a:lumMod val="50000"/>
                  </a:schemeClr>
                </a:solidFill>
              </a:rPr>
              <a:t>智能处理逻辑</a:t>
            </a:r>
            <a:r>
              <a:rPr lang="zh-CN" altLang="en-US" dirty="0"/>
              <a:t>。</a:t>
            </a:r>
            <a:endParaRPr lang="en-US" altLang="zh-CN" dirty="0"/>
          </a:p>
          <a:p>
            <a:pPr fontAlgn="ctr"/>
            <a:r>
              <a:rPr lang="zh-CN" altLang="en-US" dirty="0"/>
              <a:t>首先，对于负向指标，系统自动执行 </a:t>
            </a:r>
            <a:r>
              <a:rPr lang="en-US" altLang="zh-CN" dirty="0"/>
              <a:t>f(x) = 1.0 - x </a:t>
            </a:r>
            <a:r>
              <a:rPr lang="zh-CN" altLang="en-US" dirty="0"/>
              <a:t>的反转操作，将其映射为“得分越高越好”。</a:t>
            </a:r>
            <a:endParaRPr lang="en-US" altLang="zh-CN" dirty="0"/>
          </a:p>
          <a:p>
            <a:pPr fontAlgn="ctr"/>
            <a:r>
              <a:rPr lang="zh-CN" altLang="en-US" dirty="0"/>
              <a:t>其次，针对数据缺失，传统的评分系统通常</a:t>
            </a:r>
            <a:r>
              <a:rPr lang="zh-CN" altLang="en-US" b="1" dirty="0">
                <a:solidFill>
                  <a:schemeClr val="accent3">
                    <a:lumMod val="50000"/>
                  </a:schemeClr>
                </a:solidFill>
              </a:rPr>
              <a:t>将缺失值默认为</a:t>
            </a:r>
            <a:r>
              <a:rPr lang="en-US" altLang="zh-CN" b="1" dirty="0">
                <a:solidFill>
                  <a:schemeClr val="accent3">
                    <a:lumMod val="50000"/>
                  </a:schemeClr>
                </a:solidFill>
              </a:rPr>
              <a:t>0</a:t>
            </a:r>
            <a:r>
              <a:rPr lang="zh-CN" altLang="en-US" b="1" dirty="0">
                <a:solidFill>
                  <a:srgbClr val="000000"/>
                </a:solidFill>
              </a:rPr>
              <a:t>。</a:t>
            </a:r>
            <a:r>
              <a:rPr lang="zh-CN" altLang="en-US" dirty="0">
                <a:solidFill>
                  <a:srgbClr val="000000"/>
                </a:solidFill>
              </a:rPr>
              <a:t>我</a:t>
            </a:r>
            <a:r>
              <a:rPr lang="zh-CN" altLang="en-US" dirty="0"/>
              <a:t>们设计了“中性填充策略</a:t>
            </a:r>
            <a:r>
              <a:rPr lang="en-US" altLang="zh-CN" dirty="0"/>
              <a:t>”</a:t>
            </a:r>
            <a:r>
              <a:rPr lang="zh-CN" altLang="en-US" dirty="0"/>
              <a:t>：当关键数据缺失时，算法会</a:t>
            </a:r>
            <a:r>
              <a:rPr lang="zh-CN" altLang="en-US" b="1" dirty="0">
                <a:solidFill>
                  <a:schemeClr val="accent3">
                    <a:lumMod val="50000"/>
                  </a:schemeClr>
                </a:solidFill>
              </a:rPr>
              <a:t>自动赋予</a:t>
            </a:r>
            <a:r>
              <a:rPr lang="en-US" altLang="zh-CN" b="1" dirty="0">
                <a:solidFill>
                  <a:schemeClr val="accent3">
                    <a:lumMod val="50000"/>
                  </a:schemeClr>
                </a:solidFill>
              </a:rPr>
              <a:t>0.5</a:t>
            </a:r>
            <a:r>
              <a:rPr lang="zh-CN" altLang="en-US" dirty="0"/>
              <a:t>（及格分）而非</a:t>
            </a:r>
            <a:r>
              <a:rPr lang="en-US" altLang="zh-CN" dirty="0"/>
              <a:t>0</a:t>
            </a:r>
            <a:r>
              <a:rPr lang="zh-CN" altLang="en-US" dirty="0"/>
              <a:t>分。这相当于起到了平滑缓冲的作用，防止因单一数据源的偶发性断录导致健康度曲线出现剧烈的锯齿状震荡。</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5926"/>
              <a:ext cx="3384" cy="1242"/>
              <a:chOff x="-161773" y="3761291"/>
              <a:chExt cx="2686576" cy="788427"/>
            </a:xfrm>
          </p:grpSpPr>
          <p:sp>
            <p:nvSpPr>
              <p:cNvPr id="121" name="矩形 120"/>
              <p:cNvSpPr/>
              <p:nvPr/>
            </p:nvSpPr>
            <p:spPr>
              <a:xfrm>
                <a:off x="-161773" y="3936064"/>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536" y="4377452"/>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830" y="3761291"/>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latin typeface="思源宋体 CN Medium" panose="02020500000000000000" charset="-122"/>
                  <a:ea typeface="思源宋体 CN Medium" panose="02020500000000000000" charset="-122"/>
                </a:rPr>
                <a:t>技术难点</a:t>
              </a:r>
              <a:endParaRPr lang="en-US" altLang="zh-CN" sz="1600" b="1" dirty="0">
                <a:latin typeface="思源宋体 CN Medium" panose="02020500000000000000" charset="-122"/>
                <a:ea typeface="思源宋体 CN Medium" panose="02020500000000000000" charset="-122"/>
              </a:endParaRPr>
            </a:p>
            <a:p>
              <a:pPr algn="ctr"/>
              <a:r>
                <a:rPr lang="zh-CN" altLang="en-US" sz="1600" b="1" dirty="0">
                  <a:latin typeface="思源宋体 CN Medium" panose="02020500000000000000" charset="-122"/>
                  <a:ea typeface="思源宋体 CN Medium" panose="02020500000000000000" charset="-122"/>
                </a:rPr>
                <a:t>与具体实现</a:t>
              </a:r>
              <a:endParaRPr lang="zh-CN" altLang="en-US" sz="1600" b="1" dirty="0">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4.3 </a:t>
              </a:r>
              <a:r>
                <a:rPr lang="zh-CN" altLang="en-US" sz="2000" b="1" dirty="0">
                  <a:latin typeface="思源宋体 CN Medium" panose="02020500000000000000" charset="-122"/>
                  <a:ea typeface="思源宋体 CN Medium" panose="02020500000000000000" charset="-122"/>
                </a:rPr>
                <a:t>智能应用架构：存算分离与双重保障的</a:t>
              </a:r>
              <a:r>
                <a:rPr lang="en-US" altLang="zh-CN" sz="2000" b="1" dirty="0">
                  <a:latin typeface="思源宋体 CN Medium" panose="02020500000000000000" charset="-122"/>
                  <a:ea typeface="思源宋体 CN Medium" panose="02020500000000000000" charset="-122"/>
                </a:rPr>
                <a:t>Agent</a:t>
              </a:r>
              <a:r>
                <a:rPr lang="zh-CN" altLang="en-US" sz="2000" b="1" dirty="0">
                  <a:latin typeface="思源宋体 CN Medium" panose="02020500000000000000" charset="-122"/>
                  <a:ea typeface="思源宋体 CN Medium" panose="02020500000000000000" charset="-122"/>
                </a:rPr>
                <a:t>服务</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2" name="矩形 1"/>
          <p:cNvSpPr/>
          <p:nvPr/>
        </p:nvSpPr>
        <p:spPr>
          <a:xfrm>
            <a:off x="2081677" y="3312481"/>
            <a:ext cx="5977988" cy="3175627"/>
          </a:xfrm>
          <a:prstGeom prst="rect">
            <a:avLst/>
          </a:prstGeom>
          <a:solidFill>
            <a:srgbClr val="DFEB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2"/>
          <p:cNvSpPr/>
          <p:nvPr/>
        </p:nvSpPr>
        <p:spPr>
          <a:xfrm>
            <a:off x="2082800" y="1552257"/>
            <a:ext cx="5977988" cy="1458914"/>
          </a:xfrm>
          <a:prstGeom prst="rect">
            <a:avLst/>
          </a:prstGeom>
          <a:solidFill>
            <a:srgbClr val="DFEB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2082799" y="903888"/>
            <a:ext cx="5661465" cy="420299"/>
          </a:xfrm>
          <a:prstGeom prst="rect">
            <a:avLst/>
          </a:prstGeom>
          <a:solidFill>
            <a:schemeClr val="tx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72000" rtlCol="0" anchor="ctr">
            <a:noAutofit/>
          </a:bodyPr>
          <a:lstStyle/>
          <a:p>
            <a:pPr algn="ctr">
              <a:lnSpc>
                <a:spcPct val="150000"/>
              </a:lnSpc>
            </a:pPr>
            <a:r>
              <a:rPr lang="en-US" altLang="zh-CN" sz="2000" dirty="0">
                <a:latin typeface="+mj-ea"/>
                <a:ea typeface="+mj-ea"/>
              </a:rPr>
              <a:t>1.</a:t>
            </a:r>
            <a:r>
              <a:rPr lang="zh-CN" altLang="en-US" sz="2000" dirty="0">
                <a:latin typeface="+mj-ea"/>
                <a:ea typeface="+mj-ea"/>
              </a:rPr>
              <a:t>生成式</a:t>
            </a:r>
            <a:r>
              <a:rPr lang="en-US" altLang="zh-CN" sz="2000" dirty="0">
                <a:latin typeface="+mj-ea"/>
                <a:ea typeface="+mj-ea"/>
              </a:rPr>
              <a:t>AI</a:t>
            </a:r>
            <a:r>
              <a:rPr lang="zh-CN" altLang="en-US" sz="2000" dirty="0">
                <a:latin typeface="+mj-ea"/>
                <a:ea typeface="+mj-ea"/>
              </a:rPr>
              <a:t>的幻觉控制与</a:t>
            </a:r>
            <a:r>
              <a:rPr lang="en-US" altLang="zh-CN" sz="2000" dirty="0" err="1">
                <a:latin typeface="+mj-ea"/>
                <a:ea typeface="+mj-ea"/>
              </a:rPr>
              <a:t>Pydantic</a:t>
            </a:r>
            <a:r>
              <a:rPr lang="zh-CN" altLang="en-US" sz="2000" dirty="0">
                <a:latin typeface="+mj-ea"/>
                <a:ea typeface="+mj-ea"/>
              </a:rPr>
              <a:t>结构化约束</a:t>
            </a:r>
            <a:endParaRPr lang="zh-CN" altLang="en-US" sz="2000" dirty="0">
              <a:latin typeface="+mj-ea"/>
              <a:ea typeface="+mj-ea"/>
            </a:endParaRPr>
          </a:p>
        </p:txBody>
      </p:sp>
      <p:sp>
        <p:nvSpPr>
          <p:cNvPr id="5" name="文本框 4"/>
          <p:cNvSpPr txBox="1"/>
          <p:nvPr/>
        </p:nvSpPr>
        <p:spPr>
          <a:xfrm>
            <a:off x="2185817" y="3502540"/>
            <a:ext cx="5690968" cy="2985567"/>
          </a:xfrm>
          <a:prstGeom prst="rect">
            <a:avLst/>
          </a:prstGeom>
          <a:noFill/>
        </p:spPr>
        <p:txBody>
          <a:bodyPr wrap="square" rtlCol="0">
            <a:noAutofit/>
          </a:bodyPr>
          <a:lstStyle/>
          <a:p>
            <a:pPr fontAlgn="ctr"/>
            <a:r>
              <a:rPr lang="zh-CN" altLang="en-US" b="1" dirty="0"/>
              <a:t>技术实现</a:t>
            </a:r>
            <a:r>
              <a:rPr lang="zh-CN" altLang="en-US" dirty="0"/>
              <a:t>：我们在后端</a:t>
            </a:r>
            <a:r>
              <a:rPr lang="en-US" altLang="zh-CN" dirty="0"/>
              <a:t>API</a:t>
            </a:r>
            <a:r>
              <a:rPr lang="zh-CN" altLang="en-US" dirty="0"/>
              <a:t>中引入了</a:t>
            </a:r>
            <a:r>
              <a:rPr lang="en-US" altLang="zh-CN" b="1" dirty="0">
                <a:solidFill>
                  <a:schemeClr val="accent3">
                    <a:lumMod val="50000"/>
                  </a:schemeClr>
                </a:solidFill>
              </a:rPr>
              <a:t>Schema-First</a:t>
            </a:r>
            <a:r>
              <a:rPr lang="zh-CN" altLang="en-US" dirty="0"/>
              <a:t>的开发模式。利用</a:t>
            </a:r>
            <a:r>
              <a:rPr lang="en-US" altLang="zh-CN" dirty="0"/>
              <a:t>Python</a:t>
            </a:r>
            <a:r>
              <a:rPr lang="zh-CN" altLang="en-US" dirty="0"/>
              <a:t>的</a:t>
            </a:r>
            <a:r>
              <a:rPr lang="en-US" altLang="zh-CN" dirty="0" err="1"/>
              <a:t>Pydantic</a:t>
            </a:r>
            <a:r>
              <a:rPr lang="zh-CN" altLang="en-US" dirty="0"/>
              <a:t>库，定义了严格的数据模型（</a:t>
            </a:r>
            <a:r>
              <a:rPr lang="en-US" altLang="zh-CN" dirty="0" err="1"/>
              <a:t>ReportReq</a:t>
            </a:r>
            <a:r>
              <a:rPr lang="en-US" altLang="zh-CN" dirty="0"/>
              <a:t>, </a:t>
            </a:r>
            <a:r>
              <a:rPr lang="en-US" altLang="zh-CN" dirty="0" err="1"/>
              <a:t>AlertsResp</a:t>
            </a:r>
            <a:r>
              <a:rPr lang="zh-CN" altLang="en-US" dirty="0"/>
              <a:t>）。在提示词工程中，我们强制要求</a:t>
            </a:r>
            <a:r>
              <a:rPr lang="en-US" altLang="zh-CN" dirty="0"/>
              <a:t>AI</a:t>
            </a:r>
            <a:r>
              <a:rPr lang="zh-CN" altLang="en-US" dirty="0"/>
              <a:t>输出符合特定</a:t>
            </a:r>
            <a:r>
              <a:rPr lang="en-US" altLang="zh-CN" dirty="0"/>
              <a:t>JSON Schema</a:t>
            </a:r>
            <a:r>
              <a:rPr lang="zh-CN" altLang="en-US" dirty="0"/>
              <a:t>的数据结构（包含摘要、风险点数组、行动项数组等），而非自由文本。同时，我们实施了</a:t>
            </a:r>
            <a:r>
              <a:rPr lang="zh-CN" altLang="en-US" b="1" dirty="0">
                <a:solidFill>
                  <a:schemeClr val="accent3">
                    <a:lumMod val="50000"/>
                  </a:schemeClr>
                </a:solidFill>
              </a:rPr>
              <a:t>证据链注入 </a:t>
            </a:r>
            <a:r>
              <a:rPr lang="en-US" altLang="zh-CN" dirty="0"/>
              <a:t>(Evidence Injection) </a:t>
            </a:r>
            <a:r>
              <a:rPr lang="zh-CN" altLang="en-US" dirty="0"/>
              <a:t>机制，限制</a:t>
            </a:r>
            <a:r>
              <a:rPr lang="en-US" altLang="zh-CN" dirty="0"/>
              <a:t>AI</a:t>
            </a:r>
            <a:r>
              <a:rPr lang="zh-CN" altLang="en-US" dirty="0"/>
              <a:t>只能引用我们传入的</a:t>
            </a:r>
            <a:r>
              <a:rPr lang="en-US" altLang="zh-CN" dirty="0"/>
              <a:t>Context </a:t>
            </a:r>
            <a:r>
              <a:rPr lang="zh-CN" altLang="en-US" dirty="0"/>
              <a:t>指标数据，严禁其利用外部知识进行瞎编补充。这实现了从“不可控的文本生成”到“可控的数据生成”的质变。</a:t>
            </a:r>
            <a:endParaRPr lang="zh-CN" altLang="en-US" sz="1400" dirty="0">
              <a:ea typeface="思源宋体 CN Medium" panose="02020500000000000000" charset="-122"/>
            </a:endParaRPr>
          </a:p>
        </p:txBody>
      </p:sp>
      <p:sp>
        <p:nvSpPr>
          <p:cNvPr id="6" name="文本框 5"/>
          <p:cNvSpPr txBox="1"/>
          <p:nvPr/>
        </p:nvSpPr>
        <p:spPr>
          <a:xfrm>
            <a:off x="2196465" y="1670128"/>
            <a:ext cx="5864323" cy="1260398"/>
          </a:xfrm>
          <a:prstGeom prst="rect">
            <a:avLst/>
          </a:prstGeom>
          <a:noFill/>
        </p:spPr>
        <p:txBody>
          <a:bodyPr wrap="square" rtlCol="0">
            <a:noAutofit/>
          </a:bodyPr>
          <a:lstStyle/>
          <a:p>
            <a:pPr fontAlgn="ctr"/>
            <a:r>
              <a:rPr lang="zh-CN" altLang="en-US" dirty="0"/>
              <a:t>虽然</a:t>
            </a:r>
            <a:r>
              <a:rPr lang="en-US" altLang="zh-CN" dirty="0"/>
              <a:t>LLM</a:t>
            </a:r>
            <a:r>
              <a:rPr lang="zh-CN" altLang="en-US" dirty="0"/>
              <a:t>擅长文本生成，但它们经常出现</a:t>
            </a:r>
            <a:r>
              <a:rPr lang="zh-CN" altLang="en-US" b="1" dirty="0">
                <a:solidFill>
                  <a:schemeClr val="accent3">
                    <a:lumMod val="50000"/>
                  </a:schemeClr>
                </a:solidFill>
              </a:rPr>
              <a:t>幻觉问题</a:t>
            </a:r>
            <a:r>
              <a:rPr lang="zh-CN" altLang="en-US" dirty="0"/>
              <a:t>。在开源治理场景下，如果</a:t>
            </a:r>
            <a:r>
              <a:rPr lang="en-US" altLang="zh-CN" dirty="0"/>
              <a:t>AI</a:t>
            </a:r>
            <a:r>
              <a:rPr lang="zh-CN" altLang="en-US" dirty="0"/>
              <a:t>编造了不存在的指标下降或夸大了风险，将直接误导决策。此外，直接生成的 </a:t>
            </a:r>
            <a:r>
              <a:rPr lang="en-US" altLang="zh-CN" dirty="0"/>
              <a:t>Markdown</a:t>
            </a:r>
            <a:r>
              <a:rPr lang="zh-CN" altLang="en-US" dirty="0"/>
              <a:t>文本格式极不稳定，前端难以解析和渲染。</a:t>
            </a:r>
            <a:endParaRPr lang="zh-CN" altLang="en-US" dirty="0"/>
          </a:p>
        </p:txBody>
      </p:sp>
      <p:pic>
        <p:nvPicPr>
          <p:cNvPr id="9" name="图片 8" descr="文本&#10;&#10;AI 生成的内容可能不正确。"/>
          <p:cNvPicPr>
            <a:picLocks noChangeAspect="1"/>
          </p:cNvPicPr>
          <p:nvPr/>
        </p:nvPicPr>
        <p:blipFill>
          <a:blip r:embed="rId1"/>
          <a:stretch>
            <a:fillRect/>
          </a:stretch>
        </p:blipFill>
        <p:spPr>
          <a:xfrm>
            <a:off x="8181439" y="5103911"/>
            <a:ext cx="3690834" cy="1223864"/>
          </a:xfrm>
          <a:prstGeom prst="rect">
            <a:avLst/>
          </a:prstGeom>
        </p:spPr>
      </p:pic>
      <p:pic>
        <p:nvPicPr>
          <p:cNvPr id="11" name="图片 10" descr="文本&#10;&#10;AI 生成的内容可能不正确。"/>
          <p:cNvPicPr>
            <a:picLocks noChangeAspect="1"/>
          </p:cNvPicPr>
          <p:nvPr/>
        </p:nvPicPr>
        <p:blipFill>
          <a:blip r:embed="rId2"/>
          <a:stretch>
            <a:fillRect/>
          </a:stretch>
        </p:blipFill>
        <p:spPr>
          <a:xfrm>
            <a:off x="8181438" y="1185874"/>
            <a:ext cx="3690834" cy="357275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5926"/>
              <a:ext cx="3384" cy="1242"/>
              <a:chOff x="-161773" y="3761291"/>
              <a:chExt cx="2686576" cy="788427"/>
            </a:xfrm>
          </p:grpSpPr>
          <p:sp>
            <p:nvSpPr>
              <p:cNvPr id="121" name="矩形 120"/>
              <p:cNvSpPr/>
              <p:nvPr/>
            </p:nvSpPr>
            <p:spPr>
              <a:xfrm>
                <a:off x="-161773" y="3936064"/>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536" y="4377452"/>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830" y="3761291"/>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latin typeface="思源宋体 CN Medium" panose="02020500000000000000" charset="-122"/>
                  <a:ea typeface="思源宋体 CN Medium" panose="02020500000000000000" charset="-122"/>
                </a:rPr>
                <a:t>技术难点</a:t>
              </a:r>
              <a:endParaRPr lang="en-US" altLang="zh-CN" sz="1600" b="1" dirty="0">
                <a:latin typeface="思源宋体 CN Medium" panose="02020500000000000000" charset="-122"/>
                <a:ea typeface="思源宋体 CN Medium" panose="02020500000000000000" charset="-122"/>
              </a:endParaRPr>
            </a:p>
            <a:p>
              <a:pPr algn="ctr"/>
              <a:r>
                <a:rPr lang="zh-CN" altLang="en-US" sz="1600" b="1" dirty="0">
                  <a:latin typeface="思源宋体 CN Medium" panose="02020500000000000000" charset="-122"/>
                  <a:ea typeface="思源宋体 CN Medium" panose="02020500000000000000" charset="-122"/>
                </a:rPr>
                <a:t>与具体实现</a:t>
              </a:r>
              <a:endParaRPr lang="zh-CN" altLang="en-US" sz="1600" b="1" dirty="0">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4.3 </a:t>
              </a:r>
              <a:r>
                <a:rPr lang="zh-CN" altLang="en-US" sz="2000" b="1" dirty="0">
                  <a:latin typeface="思源宋体 CN Medium" panose="02020500000000000000" charset="-122"/>
                  <a:ea typeface="思源宋体 CN Medium" panose="02020500000000000000" charset="-122"/>
                </a:rPr>
                <a:t>智能应用架构：存算分离与双重保障的</a:t>
              </a:r>
              <a:r>
                <a:rPr lang="en-US" altLang="zh-CN" sz="2000" b="1" dirty="0">
                  <a:latin typeface="思源宋体 CN Medium" panose="02020500000000000000" charset="-122"/>
                  <a:ea typeface="思源宋体 CN Medium" panose="02020500000000000000" charset="-122"/>
                </a:rPr>
                <a:t>Agent</a:t>
              </a:r>
              <a:r>
                <a:rPr lang="zh-CN" altLang="en-US" sz="2000" b="1" dirty="0">
                  <a:latin typeface="思源宋体 CN Medium" panose="02020500000000000000" charset="-122"/>
                  <a:ea typeface="思源宋体 CN Medium" panose="02020500000000000000" charset="-122"/>
                </a:rPr>
                <a:t>服务</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2" name="矩形 1"/>
          <p:cNvSpPr/>
          <p:nvPr/>
        </p:nvSpPr>
        <p:spPr>
          <a:xfrm>
            <a:off x="2406357" y="3880165"/>
            <a:ext cx="9213166" cy="2447610"/>
          </a:xfrm>
          <a:prstGeom prst="rect">
            <a:avLst/>
          </a:prstGeom>
          <a:solidFill>
            <a:srgbClr val="DFEB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2"/>
          <p:cNvSpPr/>
          <p:nvPr/>
        </p:nvSpPr>
        <p:spPr>
          <a:xfrm>
            <a:off x="6581848" y="1495310"/>
            <a:ext cx="5203335" cy="2042715"/>
          </a:xfrm>
          <a:prstGeom prst="rect">
            <a:avLst/>
          </a:prstGeom>
          <a:solidFill>
            <a:srgbClr val="DFEB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2082800" y="910368"/>
            <a:ext cx="5113696" cy="420299"/>
          </a:xfrm>
          <a:prstGeom prst="rect">
            <a:avLst/>
          </a:prstGeom>
          <a:solidFill>
            <a:schemeClr val="tx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72000" rtlCol="0" anchor="ctr">
            <a:noAutofit/>
          </a:bodyPr>
          <a:lstStyle/>
          <a:p>
            <a:pPr algn="ctr">
              <a:lnSpc>
                <a:spcPct val="150000"/>
              </a:lnSpc>
            </a:pPr>
            <a:r>
              <a:rPr lang="en-US" altLang="zh-CN" sz="2000" dirty="0">
                <a:latin typeface="+mj-ea"/>
                <a:ea typeface="+mj-ea"/>
              </a:rPr>
              <a:t>2.</a:t>
            </a:r>
            <a:r>
              <a:rPr lang="zh-CN" altLang="en-US" sz="2000" dirty="0">
                <a:latin typeface="+mj-ea"/>
                <a:ea typeface="+mj-ea"/>
              </a:rPr>
              <a:t>极端场景下的全链路服务降级与离线兜底</a:t>
            </a:r>
            <a:endParaRPr lang="zh-CN" altLang="en-US" sz="2000" dirty="0">
              <a:latin typeface="+mj-ea"/>
              <a:ea typeface="+mj-ea"/>
            </a:endParaRPr>
          </a:p>
        </p:txBody>
      </p:sp>
      <p:sp>
        <p:nvSpPr>
          <p:cNvPr id="5" name="文本框 4"/>
          <p:cNvSpPr txBox="1"/>
          <p:nvPr/>
        </p:nvSpPr>
        <p:spPr>
          <a:xfrm>
            <a:off x="2650832" y="4107279"/>
            <a:ext cx="8622520" cy="2376418"/>
          </a:xfrm>
          <a:prstGeom prst="rect">
            <a:avLst/>
          </a:prstGeom>
          <a:noFill/>
        </p:spPr>
        <p:txBody>
          <a:bodyPr wrap="square" rtlCol="0">
            <a:noAutofit/>
          </a:bodyPr>
          <a:lstStyle/>
          <a:p>
            <a:pPr fontAlgn="ctr"/>
            <a:r>
              <a:rPr lang="zh-CN" altLang="en-US" b="1" dirty="0"/>
              <a:t>技术实现</a:t>
            </a:r>
            <a:r>
              <a:rPr lang="zh-CN" altLang="en-US" dirty="0"/>
              <a:t>：我们在后端 </a:t>
            </a:r>
            <a:r>
              <a:rPr lang="en-US" altLang="zh-CN" dirty="0"/>
              <a:t>app.py </a:t>
            </a:r>
            <a:r>
              <a:rPr lang="zh-CN" altLang="en-US" dirty="0"/>
              <a:t>中设计了 </a:t>
            </a:r>
            <a:r>
              <a:rPr lang="en-US" altLang="zh-CN" dirty="0"/>
              <a:t>Fallback</a:t>
            </a:r>
            <a:r>
              <a:rPr lang="zh-CN" altLang="en-US" dirty="0"/>
              <a:t>（兜底）守护进程。系统利用 </a:t>
            </a:r>
            <a:r>
              <a:rPr lang="en-US" altLang="zh-CN" dirty="0"/>
              <a:t>try-except </a:t>
            </a:r>
            <a:r>
              <a:rPr lang="zh-CN" altLang="en-US" dirty="0"/>
              <a:t>块包裹了所有的 </a:t>
            </a:r>
            <a:r>
              <a:rPr lang="en-US" altLang="zh-CN" dirty="0"/>
              <a:t>LLM </a:t>
            </a:r>
            <a:r>
              <a:rPr lang="zh-CN" altLang="en-US" dirty="0"/>
              <a:t>调用逻辑。一旦捕获到 </a:t>
            </a:r>
            <a:r>
              <a:rPr lang="en-US" altLang="zh-CN" dirty="0" err="1"/>
              <a:t>AuthenticationError</a:t>
            </a:r>
            <a:r>
              <a:rPr lang="en-US" altLang="zh-CN" dirty="0"/>
              <a:t> </a:t>
            </a:r>
            <a:r>
              <a:rPr lang="zh-CN" altLang="en-US" dirty="0"/>
              <a:t>或 </a:t>
            </a:r>
            <a:r>
              <a:rPr lang="en-US" altLang="zh-CN" dirty="0" err="1"/>
              <a:t>APITimeoutError</a:t>
            </a:r>
            <a:r>
              <a:rPr lang="zh-CN" altLang="en-US" dirty="0"/>
              <a:t>，系统会瞬间自动切换至 “规则模板模式”。在该模式下，系统会调用预设的规则引擎（</a:t>
            </a:r>
            <a:r>
              <a:rPr lang="en-US" altLang="zh-CN" dirty="0"/>
              <a:t>_</a:t>
            </a:r>
            <a:r>
              <a:rPr lang="en-US" altLang="zh-CN" dirty="0" err="1"/>
              <a:t>fallback_alert_summary</a:t>
            </a:r>
            <a:r>
              <a:rPr lang="zh-CN" altLang="en-US" dirty="0"/>
              <a:t>），根据当前的指标数值，利用字符串模板拼接出一份结构完全一致、逻辑准确的诊断报告。这种“双模引擎”设计确保了无论网络环境如何恶劣，</a:t>
            </a:r>
            <a:r>
              <a:rPr lang="en-US" altLang="zh-CN" dirty="0" err="1"/>
              <a:t>OpenPulse</a:t>
            </a:r>
            <a:r>
              <a:rPr lang="en-US" altLang="zh-CN" dirty="0"/>
              <a:t> </a:t>
            </a:r>
            <a:r>
              <a:rPr lang="zh-CN" altLang="en-US" dirty="0"/>
              <a:t>始终能提供专业、连续的分析服务，保障了系统的绝对高可用性 </a:t>
            </a:r>
            <a:r>
              <a:rPr lang="en-US" altLang="zh-CN" dirty="0"/>
              <a:t>(99.99% Availability)</a:t>
            </a:r>
            <a:r>
              <a:rPr lang="zh-CN" altLang="en-US" dirty="0"/>
              <a:t>。</a:t>
            </a:r>
            <a:endParaRPr lang="zh-CN" altLang="en-US" sz="1400" dirty="0">
              <a:ea typeface="思源宋体 CN Medium" panose="02020500000000000000" charset="-122"/>
            </a:endParaRPr>
          </a:p>
        </p:txBody>
      </p:sp>
      <p:sp>
        <p:nvSpPr>
          <p:cNvPr id="6" name="文本框 5"/>
          <p:cNvSpPr txBox="1"/>
          <p:nvPr/>
        </p:nvSpPr>
        <p:spPr>
          <a:xfrm>
            <a:off x="6761187" y="1778977"/>
            <a:ext cx="4844659" cy="1337471"/>
          </a:xfrm>
          <a:prstGeom prst="rect">
            <a:avLst/>
          </a:prstGeom>
          <a:noFill/>
        </p:spPr>
        <p:txBody>
          <a:bodyPr wrap="square" rtlCol="0">
            <a:noAutofit/>
          </a:bodyPr>
          <a:lstStyle/>
          <a:p>
            <a:pPr fontAlgn="ctr"/>
            <a:r>
              <a:rPr lang="zh-CN" altLang="en-US" dirty="0"/>
              <a:t>在比赛路演、内网部署或网络波动的极端环境下，依赖外部 </a:t>
            </a:r>
            <a:r>
              <a:rPr lang="en-US" altLang="zh-CN" dirty="0"/>
              <a:t>API </a:t>
            </a:r>
            <a:r>
              <a:rPr lang="zh-CN" altLang="en-US" dirty="0"/>
              <a:t>的 </a:t>
            </a:r>
            <a:r>
              <a:rPr lang="en-US" altLang="zh-CN" dirty="0"/>
              <a:t>OpenAI </a:t>
            </a:r>
            <a:r>
              <a:rPr lang="zh-CN" altLang="en-US" dirty="0"/>
              <a:t>服务极其脆弱，经常出现超时、报错或 </a:t>
            </a:r>
            <a:r>
              <a:rPr lang="en-US" altLang="zh-CN" dirty="0"/>
              <a:t>API Key </a:t>
            </a:r>
            <a:r>
              <a:rPr lang="zh-CN" altLang="en-US" dirty="0"/>
              <a:t>失效的情况。如果因此导致大屏核心区域一片空白（开天窗），将是灾难性的演示事故。</a:t>
            </a:r>
            <a:endParaRPr lang="zh-CN" altLang="zh-CN" dirty="0"/>
          </a:p>
        </p:txBody>
      </p:sp>
      <p:pic>
        <p:nvPicPr>
          <p:cNvPr id="15" name="图片 14" descr="图形用户界面, 文本&#10;&#10;AI 生成的内容可能不正确。"/>
          <p:cNvPicPr>
            <a:picLocks noChangeAspect="1"/>
          </p:cNvPicPr>
          <p:nvPr/>
        </p:nvPicPr>
        <p:blipFill>
          <a:blip r:embed="rId1"/>
          <a:stretch>
            <a:fillRect/>
          </a:stretch>
        </p:blipFill>
        <p:spPr>
          <a:xfrm>
            <a:off x="2082800" y="1778977"/>
            <a:ext cx="4253621" cy="85124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5926"/>
              <a:ext cx="3384" cy="1242"/>
              <a:chOff x="-161773" y="3761291"/>
              <a:chExt cx="2686576" cy="788427"/>
            </a:xfrm>
          </p:grpSpPr>
          <p:sp>
            <p:nvSpPr>
              <p:cNvPr id="121" name="矩形 120"/>
              <p:cNvSpPr/>
              <p:nvPr/>
            </p:nvSpPr>
            <p:spPr>
              <a:xfrm>
                <a:off x="-161773" y="3936064"/>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536" y="4377452"/>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830" y="3761291"/>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77" y="6002"/>
              <a:ext cx="2557" cy="921"/>
            </a:xfrm>
            <a:prstGeom prst="rect">
              <a:avLst/>
            </a:prstGeom>
            <a:noFill/>
          </p:spPr>
          <p:txBody>
            <a:bodyPr wrap="square" rtlCol="0">
              <a:spAutoFit/>
            </a:bodyPr>
            <a:lstStyle/>
            <a:p>
              <a:pPr algn="ctr"/>
              <a:r>
                <a:rPr lang="zh-CN" altLang="en-US" sz="1600" b="1" dirty="0">
                  <a:latin typeface="思源宋体 CN Medium" panose="02020500000000000000" charset="-122"/>
                  <a:ea typeface="思源宋体 CN Medium" panose="02020500000000000000" charset="-122"/>
                </a:rPr>
                <a:t>技术难点</a:t>
              </a:r>
              <a:endParaRPr lang="en-US" altLang="zh-CN" sz="1600" b="1" dirty="0">
                <a:latin typeface="思源宋体 CN Medium" panose="02020500000000000000" charset="-122"/>
                <a:ea typeface="思源宋体 CN Medium" panose="02020500000000000000" charset="-122"/>
              </a:endParaRPr>
            </a:p>
            <a:p>
              <a:pPr algn="ctr"/>
              <a:r>
                <a:rPr lang="zh-CN" altLang="en-US" sz="1600" b="1" dirty="0">
                  <a:latin typeface="思源宋体 CN Medium" panose="02020500000000000000" charset="-122"/>
                  <a:ea typeface="思源宋体 CN Medium" panose="02020500000000000000" charset="-122"/>
                </a:rPr>
                <a:t>与具体实现</a:t>
              </a:r>
              <a:endParaRPr lang="zh-CN" altLang="en-US" sz="1600" b="1" dirty="0">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项目意义</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与实际应用</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4.3 </a:t>
              </a:r>
              <a:r>
                <a:rPr lang="zh-CN" altLang="en-US" sz="2000" b="1" dirty="0">
                  <a:latin typeface="思源宋体 CN Medium" panose="02020500000000000000" charset="-122"/>
                  <a:ea typeface="思源宋体 CN Medium" panose="02020500000000000000" charset="-122"/>
                </a:rPr>
                <a:t>智能应用架构：存算分离与双重保障的</a:t>
              </a:r>
              <a:r>
                <a:rPr lang="en-US" altLang="zh-CN" sz="2000" b="1" dirty="0">
                  <a:latin typeface="思源宋体 CN Medium" panose="02020500000000000000" charset="-122"/>
                  <a:ea typeface="思源宋体 CN Medium" panose="02020500000000000000" charset="-122"/>
                </a:rPr>
                <a:t>Agent</a:t>
              </a:r>
              <a:r>
                <a:rPr lang="zh-CN" altLang="en-US" sz="2000" b="1" dirty="0">
                  <a:latin typeface="思源宋体 CN Medium" panose="02020500000000000000" charset="-122"/>
                  <a:ea typeface="思源宋体 CN Medium" panose="02020500000000000000" charset="-122"/>
                </a:rPr>
                <a:t>服务</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7" name="矩形 6"/>
          <p:cNvSpPr/>
          <p:nvPr/>
        </p:nvSpPr>
        <p:spPr>
          <a:xfrm>
            <a:off x="2134576" y="3046888"/>
            <a:ext cx="6160868" cy="3536792"/>
          </a:xfrm>
          <a:prstGeom prst="rect">
            <a:avLst/>
          </a:prstGeom>
          <a:solidFill>
            <a:srgbClr val="DFEB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8" name="矩形 7"/>
          <p:cNvSpPr/>
          <p:nvPr/>
        </p:nvSpPr>
        <p:spPr>
          <a:xfrm>
            <a:off x="2082799" y="1552256"/>
            <a:ext cx="9806465" cy="1276669"/>
          </a:xfrm>
          <a:prstGeom prst="rect">
            <a:avLst/>
          </a:prstGeom>
          <a:solidFill>
            <a:srgbClr val="DFEB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9" name="矩形 8"/>
          <p:cNvSpPr/>
          <p:nvPr/>
        </p:nvSpPr>
        <p:spPr>
          <a:xfrm>
            <a:off x="2082800" y="903888"/>
            <a:ext cx="5113696" cy="420299"/>
          </a:xfrm>
          <a:prstGeom prst="rect">
            <a:avLst/>
          </a:prstGeom>
          <a:solidFill>
            <a:schemeClr val="tx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72000" rtlCol="0" anchor="ctr">
            <a:noAutofit/>
          </a:bodyPr>
          <a:lstStyle/>
          <a:p>
            <a:pPr algn="ctr">
              <a:lnSpc>
                <a:spcPct val="150000"/>
              </a:lnSpc>
            </a:pPr>
            <a:r>
              <a:rPr lang="en-US" altLang="zh-CN" sz="2000" dirty="0">
                <a:latin typeface="+mj-ea"/>
                <a:ea typeface="+mj-ea"/>
              </a:rPr>
              <a:t>3.</a:t>
            </a:r>
            <a:r>
              <a:rPr lang="zh-CN" altLang="en-US" sz="2000" dirty="0">
                <a:latin typeface="+mj-ea"/>
                <a:ea typeface="+mj-ea"/>
              </a:rPr>
              <a:t>前后端完全解耦的静态化预计算架构</a:t>
            </a:r>
            <a:endParaRPr lang="zh-CN" altLang="en-US" sz="2000" dirty="0">
              <a:latin typeface="+mj-ea"/>
              <a:ea typeface="+mj-ea"/>
            </a:endParaRPr>
          </a:p>
        </p:txBody>
      </p:sp>
      <p:sp>
        <p:nvSpPr>
          <p:cNvPr id="10" name="文本框 9"/>
          <p:cNvSpPr txBox="1"/>
          <p:nvPr/>
        </p:nvSpPr>
        <p:spPr>
          <a:xfrm>
            <a:off x="2219031" y="3180299"/>
            <a:ext cx="5627157" cy="2376418"/>
          </a:xfrm>
          <a:prstGeom prst="rect">
            <a:avLst/>
          </a:prstGeom>
          <a:noFill/>
        </p:spPr>
        <p:txBody>
          <a:bodyPr wrap="square" rtlCol="0">
            <a:noAutofit/>
          </a:bodyPr>
          <a:lstStyle/>
          <a:p>
            <a:pPr fontAlgn="ctr"/>
            <a:r>
              <a:rPr lang="zh-CN" altLang="en-US" b="1" dirty="0"/>
              <a:t>技术实现</a:t>
            </a:r>
            <a:r>
              <a:rPr lang="zh-CN" altLang="en-US" dirty="0"/>
              <a:t>：我们采用了 “存算分离 </a:t>
            </a:r>
            <a:r>
              <a:rPr lang="en-US" altLang="zh-CN" dirty="0"/>
              <a:t>(Storage-Compute Separation)” </a:t>
            </a:r>
            <a:r>
              <a:rPr lang="zh-CN" altLang="en-US" dirty="0"/>
              <a:t>的工程架构。核心计算任务被前置到了构建阶段，由 </a:t>
            </a:r>
            <a:r>
              <a:rPr lang="en-US" altLang="zh-CN" dirty="0"/>
              <a:t>export_dashboard_json.py </a:t>
            </a:r>
            <a:r>
              <a:rPr lang="zh-CN" altLang="en-US" dirty="0"/>
              <a:t>脚本承担。该脚本会预先完成所有复杂的指标计算、归一化和聚合，并将结果序列化为数千个独立的 原子化 </a:t>
            </a:r>
            <a:r>
              <a:rPr lang="en-US" altLang="zh-CN" dirty="0"/>
              <a:t>JSON </a:t>
            </a:r>
            <a:r>
              <a:rPr lang="zh-CN" altLang="en-US" dirty="0"/>
              <a:t>切片（如 </a:t>
            </a:r>
            <a:r>
              <a:rPr lang="en-US" altLang="zh-CN" dirty="0"/>
              <a:t>owner__</a:t>
            </a:r>
            <a:r>
              <a:rPr lang="en-US" altLang="zh-CN" dirty="0" err="1"/>
              <a:t>repo.json</a:t>
            </a:r>
            <a:r>
              <a:rPr lang="zh-CN" altLang="en-US" dirty="0"/>
              <a:t>）。前端应用（</a:t>
            </a:r>
            <a:r>
              <a:rPr lang="en-US" altLang="zh-CN" dirty="0"/>
              <a:t>React</a:t>
            </a:r>
            <a:r>
              <a:rPr lang="zh-CN" altLang="en-US" dirty="0"/>
              <a:t>）在运行时完全不需要通过 </a:t>
            </a:r>
            <a:r>
              <a:rPr lang="en-US" altLang="zh-CN" dirty="0"/>
              <a:t>API </a:t>
            </a:r>
            <a:r>
              <a:rPr lang="zh-CN" altLang="en-US" dirty="0"/>
              <a:t>请求后端数据库，而是直接通过 </a:t>
            </a:r>
            <a:r>
              <a:rPr lang="en-US" altLang="zh-CN" dirty="0"/>
              <a:t>CDN </a:t>
            </a:r>
            <a:r>
              <a:rPr lang="zh-CN" altLang="en-US" dirty="0"/>
              <a:t>加载这些静态文件。这种设计实现了 </a:t>
            </a:r>
            <a:r>
              <a:rPr lang="en-US" altLang="zh-CN" dirty="0"/>
              <a:t>O(1) </a:t>
            </a:r>
            <a:r>
              <a:rPr lang="zh-CN" altLang="en-US" dirty="0"/>
              <a:t>时间复杂度的毫秒级数据加载，彻底消除了数据库在高并发场景下的性能瓶颈。</a:t>
            </a:r>
            <a:endParaRPr lang="zh-CN" altLang="en-US" dirty="0"/>
          </a:p>
          <a:p>
            <a:pPr>
              <a:lnSpc>
                <a:spcPct val="140000"/>
              </a:lnSpc>
            </a:pPr>
            <a:endParaRPr lang="zh-CN" altLang="en-US" sz="1400" dirty="0">
              <a:ea typeface="思源宋体 CN Medium" panose="02020500000000000000" charset="-122"/>
            </a:endParaRPr>
          </a:p>
        </p:txBody>
      </p:sp>
      <p:sp>
        <p:nvSpPr>
          <p:cNvPr id="11" name="文本框 10"/>
          <p:cNvSpPr txBox="1"/>
          <p:nvPr/>
        </p:nvSpPr>
        <p:spPr>
          <a:xfrm>
            <a:off x="2232659" y="1770219"/>
            <a:ext cx="9429457" cy="1337471"/>
          </a:xfrm>
          <a:prstGeom prst="rect">
            <a:avLst/>
          </a:prstGeom>
          <a:noFill/>
        </p:spPr>
        <p:txBody>
          <a:bodyPr wrap="square" rtlCol="0">
            <a:noAutofit/>
          </a:bodyPr>
          <a:lstStyle/>
          <a:p>
            <a:pPr fontAlgn="ctr"/>
            <a:r>
              <a:rPr lang="zh-CN" altLang="en-US" dirty="0"/>
              <a:t>背景挑战：作为面向竞赛和演示的系统，</a:t>
            </a:r>
            <a:r>
              <a:rPr lang="en-US" altLang="zh-CN" dirty="0"/>
              <a:t>Dashboard </a:t>
            </a:r>
            <a:r>
              <a:rPr lang="zh-CN" altLang="en-US" dirty="0"/>
              <a:t>需要承载高并发的访问请求。如果每次用户刷新页面或切换仓库，后端都需要实时查询数据库并重新计算健康分，会导致严重的 </a:t>
            </a:r>
            <a:r>
              <a:rPr lang="en-US" altLang="zh-CN" dirty="0"/>
              <a:t>I/O </a:t>
            </a:r>
            <a:r>
              <a:rPr lang="zh-CN" altLang="en-US" dirty="0"/>
              <a:t>瓶颈，页面加载时间可能长达数秒，严重影响用户体验。</a:t>
            </a:r>
            <a:endParaRPr lang="zh-CN" altLang="zh-CN" dirty="0"/>
          </a:p>
        </p:txBody>
      </p:sp>
      <p:pic>
        <p:nvPicPr>
          <p:cNvPr id="12" name="图片 11"/>
          <p:cNvPicPr>
            <a:picLocks noChangeAspect="1"/>
          </p:cNvPicPr>
          <p:nvPr/>
        </p:nvPicPr>
        <p:blipFill>
          <a:blip r:embed="rId1"/>
          <a:stretch>
            <a:fillRect/>
          </a:stretch>
        </p:blipFill>
        <p:spPr>
          <a:xfrm>
            <a:off x="8457710" y="3056994"/>
            <a:ext cx="3495737" cy="345870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2"/>
          <p:cNvSpPr/>
          <p:nvPr/>
        </p:nvSpPr>
        <p:spPr>
          <a:xfrm>
            <a:off x="254524" y="245097"/>
            <a:ext cx="11679810" cy="6381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138113" y="4610099"/>
            <a:ext cx="11796221" cy="46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5" name="文本框 4"/>
          <p:cNvSpPr txBox="1"/>
          <p:nvPr/>
        </p:nvSpPr>
        <p:spPr>
          <a:xfrm>
            <a:off x="5222449" y="4656841"/>
            <a:ext cx="1743959" cy="1569660"/>
          </a:xfrm>
          <a:prstGeom prst="rect">
            <a:avLst/>
          </a:prstGeom>
          <a:noFill/>
        </p:spPr>
        <p:txBody>
          <a:bodyPr wrap="square" rtlCol="0">
            <a:spAutoFit/>
          </a:bodyPr>
          <a:lstStyle/>
          <a:p>
            <a:r>
              <a:rPr lang="en-US" altLang="zh-CN" sz="9600" dirty="0">
                <a:solidFill>
                  <a:srgbClr val="105186"/>
                </a:solidFill>
                <a:latin typeface="+mj-lt"/>
                <a:ea typeface="思源宋体 CN Medium" panose="02020500000000000000" charset="-122"/>
              </a:rPr>
              <a:t>05</a:t>
            </a:r>
            <a:endParaRPr lang="zh-CN" altLang="en-US" sz="9600" dirty="0">
              <a:solidFill>
                <a:srgbClr val="105186"/>
              </a:solidFill>
              <a:latin typeface="+mj-lt"/>
              <a:ea typeface="思源宋体 CN Medium" panose="02020500000000000000" charset="-122"/>
            </a:endParaRPr>
          </a:p>
        </p:txBody>
      </p:sp>
      <p:sp>
        <p:nvSpPr>
          <p:cNvPr id="20" name="矩形 19"/>
          <p:cNvSpPr/>
          <p:nvPr/>
        </p:nvSpPr>
        <p:spPr>
          <a:xfrm>
            <a:off x="3063711" y="-653019"/>
            <a:ext cx="6249971" cy="12403395"/>
          </a:xfrm>
          <a:prstGeom prst="rect">
            <a:avLst/>
          </a:prstGeom>
          <a:noFill/>
        </p:spPr>
        <p:txBody>
          <a:bodyPr wrap="square" lIns="91440" tIns="45720" rIns="91440" bIns="45720">
            <a:spAutoFit/>
          </a:bodyPr>
          <a:lstStyle/>
          <a:p>
            <a:pPr algn="ctr"/>
            <a:r>
              <a:rPr lang="en-US" altLang="zh-CN"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rPr>
              <a:t>05</a:t>
            </a:r>
            <a:endParaRPr lang="zh-CN" altLang="en-US"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endParaRPr>
          </a:p>
        </p:txBody>
      </p:sp>
      <p:sp>
        <p:nvSpPr>
          <p:cNvPr id="6" name="文本框 5"/>
          <p:cNvSpPr txBox="1"/>
          <p:nvPr/>
        </p:nvSpPr>
        <p:spPr>
          <a:xfrm>
            <a:off x="2177799" y="1707947"/>
            <a:ext cx="8334851" cy="1107996"/>
          </a:xfrm>
          <a:prstGeom prst="rect">
            <a:avLst/>
          </a:prstGeom>
          <a:noFill/>
        </p:spPr>
        <p:txBody>
          <a:bodyPr wrap="square" rtlCol="0">
            <a:spAutoFit/>
          </a:bodyPr>
          <a:lstStyle/>
          <a:p>
            <a:r>
              <a:rPr lang="zh-CN" altLang="en-US" sz="6600" dirty="0">
                <a:latin typeface="+mj-ea"/>
                <a:ea typeface="+mj-ea"/>
              </a:rPr>
              <a:t>项目意义与实际应用</a:t>
            </a:r>
            <a:endParaRPr lang="zh-CN" altLang="en-US" sz="6600" dirty="0">
              <a:latin typeface="+mj-ea"/>
              <a:ea typeface="+mj-ea"/>
            </a:endParaRPr>
          </a:p>
        </p:txBody>
      </p:sp>
      <p:sp>
        <p:nvSpPr>
          <p:cNvPr id="7" name="文本框 6"/>
          <p:cNvSpPr txBox="1"/>
          <p:nvPr/>
        </p:nvSpPr>
        <p:spPr>
          <a:xfrm>
            <a:off x="2421254" y="3212211"/>
            <a:ext cx="7283184" cy="461665"/>
          </a:xfrm>
          <a:prstGeom prst="rect">
            <a:avLst/>
          </a:prstGeom>
          <a:noFill/>
        </p:spPr>
        <p:txBody>
          <a:bodyPr wrap="square" rtlCol="0">
            <a:spAutoFit/>
          </a:bodyPr>
          <a:lstStyle/>
          <a:p>
            <a:r>
              <a:rPr lang="en-US" altLang="zh-CN" sz="2400" dirty="0">
                <a:ea typeface="思源宋体 CN Medium" panose="02020500000000000000" charset="-122"/>
              </a:rPr>
              <a:t>Project Significance and Practical Application</a:t>
            </a:r>
            <a:endParaRPr lang="en-US" altLang="zh-CN" sz="2400" dirty="0">
              <a:ea typeface="思源宋体 CN Medium" panose="02020500000000000000"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7667"/>
              <a:ext cx="3384" cy="1239"/>
              <a:chOff x="-161533" y="4869796"/>
              <a:chExt cx="2686575" cy="787084"/>
            </a:xfrm>
          </p:grpSpPr>
          <p:sp>
            <p:nvSpPr>
              <p:cNvPr id="121" name="矩形 120"/>
              <p:cNvSpPr/>
              <p:nvPr/>
            </p:nvSpPr>
            <p:spPr>
              <a:xfrm>
                <a:off x="-161533" y="5042666"/>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775" y="5484614"/>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595" y="4869796"/>
                <a:ext cx="2521297"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86" y="6069"/>
              <a:ext cx="2557"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技术难点</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与具体实现</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latin typeface="思源宋体 CN Medium" panose="02020500000000000000" charset="-122"/>
                  <a:ea typeface="思源宋体 CN Medium" panose="02020500000000000000" charset="-122"/>
                </a:rPr>
                <a:t>项目意义</a:t>
              </a:r>
              <a:endParaRPr lang="en-US" altLang="zh-CN" sz="1600" b="1" dirty="0">
                <a:latin typeface="思源宋体 CN Medium" panose="02020500000000000000" charset="-122"/>
                <a:ea typeface="思源宋体 CN Medium" panose="02020500000000000000" charset="-122"/>
              </a:endParaRPr>
            </a:p>
            <a:p>
              <a:pPr algn="ctr"/>
              <a:r>
                <a:rPr lang="zh-CN" altLang="en-US" sz="1600" b="1" dirty="0">
                  <a:latin typeface="思源宋体 CN Medium" panose="02020500000000000000" charset="-122"/>
                  <a:ea typeface="思源宋体 CN Medium" panose="02020500000000000000" charset="-122"/>
                </a:rPr>
                <a:t>与实际应用</a:t>
              </a:r>
              <a:endParaRPr lang="zh-CN" altLang="en-US" sz="1600" b="1" dirty="0">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5 </a:t>
              </a:r>
              <a:r>
                <a:rPr lang="zh-CN" altLang="en-US" sz="2000" b="1" dirty="0">
                  <a:latin typeface="思源宋体 CN Medium" panose="02020500000000000000" charset="-122"/>
                  <a:ea typeface="思源宋体 CN Medium" panose="02020500000000000000" charset="-122"/>
                </a:rPr>
                <a:t>项目意义与实际应用</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grpSp>
        <p:nvGrpSpPr>
          <p:cNvPr id="6" name="组合 5"/>
          <p:cNvGrpSpPr/>
          <p:nvPr/>
        </p:nvGrpSpPr>
        <p:grpSpPr>
          <a:xfrm>
            <a:off x="2659304" y="1230558"/>
            <a:ext cx="8348665" cy="5246513"/>
            <a:chOff x="3095671" y="2695527"/>
            <a:chExt cx="4038554" cy="3959225"/>
          </a:xfrm>
        </p:grpSpPr>
        <p:sp>
          <p:nvSpPr>
            <p:cNvPr id="7" name="矩形: 剪去单角 18"/>
            <p:cNvSpPr/>
            <p:nvPr/>
          </p:nvSpPr>
          <p:spPr>
            <a:xfrm>
              <a:off x="3095672" y="2695527"/>
              <a:ext cx="4038553" cy="3959225"/>
            </a:xfrm>
            <a:prstGeom prst="snip1Rect">
              <a:avLst/>
            </a:prstGeom>
            <a:solidFill>
              <a:schemeClr val="bg1"/>
            </a:solidFill>
            <a:ln>
              <a:solidFill>
                <a:srgbClr val="10518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黑体 CN Light" panose="020B0300000000000000" pitchFamily="34" charset="-128"/>
              </a:endParaRPr>
            </a:p>
          </p:txBody>
        </p:sp>
        <p:sp>
          <p:nvSpPr>
            <p:cNvPr id="8" name="矩形 7"/>
            <p:cNvSpPr/>
            <p:nvPr/>
          </p:nvSpPr>
          <p:spPr>
            <a:xfrm>
              <a:off x="3095671" y="6016577"/>
              <a:ext cx="4038553" cy="638175"/>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ctr">
              <a:noAutofit/>
            </a:bodyPr>
            <a:lstStyle/>
            <a:p>
              <a:pPr algn="ctr">
                <a:lnSpc>
                  <a:spcPct val="150000"/>
                </a:lnSpc>
              </a:pPr>
              <a:r>
                <a:rPr lang="zh-CN" altLang="en-US" sz="2000" dirty="0">
                  <a:latin typeface="+mj-ea"/>
                  <a:ea typeface="+mj-ea"/>
                </a:rPr>
                <a:t>健康度可观测</a:t>
              </a:r>
              <a:endParaRPr lang="zh-CN" altLang="en-US" sz="2000" dirty="0">
                <a:latin typeface="+mj-ea"/>
                <a:ea typeface="+mj-ea"/>
              </a:endParaRPr>
            </a:p>
          </p:txBody>
        </p:sp>
      </p:grpSp>
      <p:sp>
        <p:nvSpPr>
          <p:cNvPr id="9" name="文本框 8"/>
          <p:cNvSpPr txBox="1"/>
          <p:nvPr/>
        </p:nvSpPr>
        <p:spPr>
          <a:xfrm>
            <a:off x="2874938" y="1408044"/>
            <a:ext cx="7428133" cy="4198585"/>
          </a:xfrm>
          <a:prstGeom prst="rect">
            <a:avLst/>
          </a:prstGeom>
          <a:noFill/>
        </p:spPr>
        <p:txBody>
          <a:bodyPr wrap="square" rtlCol="0">
            <a:spAutoFit/>
          </a:bodyPr>
          <a:lstStyle/>
          <a:p>
            <a:pPr>
              <a:lnSpc>
                <a:spcPct val="150000"/>
              </a:lnSpc>
            </a:pPr>
            <a:r>
              <a:rPr lang="en-US" altLang="zh-CN" dirty="0" err="1">
                <a:latin typeface="+mn-ea"/>
              </a:rPr>
              <a:t>OpenPulse</a:t>
            </a:r>
            <a:r>
              <a:rPr lang="en-US" altLang="zh-CN" dirty="0">
                <a:latin typeface="+mn-ea"/>
              </a:rPr>
              <a:t> </a:t>
            </a:r>
            <a:r>
              <a:rPr lang="zh-CN" altLang="en-US" dirty="0">
                <a:latin typeface="+mn-ea"/>
              </a:rPr>
              <a:t>的核心意义之一，是把开源项目的运行状态从“凭经验判断”变成“可量化、可追踪”的事实依据。平台会将分散在多个页面和维度的关键指标统一整合到同一套看板中，例如 </a:t>
            </a:r>
            <a:r>
              <a:rPr lang="en-US" altLang="zh-CN" dirty="0">
                <a:latin typeface="+mn-ea"/>
              </a:rPr>
              <a:t>commits </a:t>
            </a:r>
            <a:r>
              <a:rPr lang="zh-CN" altLang="en-US" dirty="0">
                <a:latin typeface="+mn-ea"/>
              </a:rPr>
              <a:t>频率、</a:t>
            </a:r>
            <a:r>
              <a:rPr lang="en-US" altLang="zh-CN" dirty="0">
                <a:latin typeface="+mn-ea"/>
              </a:rPr>
              <a:t>PR/issue </a:t>
            </a:r>
            <a:r>
              <a:rPr lang="zh-CN" altLang="en-US" dirty="0">
                <a:latin typeface="+mn-ea"/>
              </a:rPr>
              <a:t>数量与关闭时长、贡献者规模与活跃度等，并提供按周</a:t>
            </a:r>
            <a:r>
              <a:rPr lang="en-US" altLang="zh-CN" dirty="0">
                <a:latin typeface="+mn-ea"/>
              </a:rPr>
              <a:t>/</a:t>
            </a:r>
            <a:r>
              <a:rPr lang="zh-CN" altLang="en-US" dirty="0">
                <a:latin typeface="+mn-ea"/>
              </a:rPr>
              <a:t>月的趋势变化与环比对比。在实际应用中，维护者或项目负责人可以在例会和复盘时直接以数据为依据定位问题：如果发现 </a:t>
            </a:r>
            <a:r>
              <a:rPr lang="en-US" altLang="zh-CN" dirty="0">
                <a:latin typeface="+mn-ea"/>
              </a:rPr>
              <a:t>PR </a:t>
            </a:r>
            <a:r>
              <a:rPr lang="zh-CN" altLang="en-US" dirty="0">
                <a:latin typeface="+mn-ea"/>
              </a:rPr>
              <a:t>合并周期明显变长、</a:t>
            </a:r>
            <a:r>
              <a:rPr lang="en-US" altLang="zh-CN" dirty="0">
                <a:latin typeface="+mn-ea"/>
              </a:rPr>
              <a:t>issue </a:t>
            </a:r>
            <a:r>
              <a:rPr lang="zh-CN" altLang="en-US" dirty="0">
                <a:latin typeface="+mn-ea"/>
              </a:rPr>
              <a:t>积压持续上升，就能快速判断是 </a:t>
            </a:r>
            <a:r>
              <a:rPr lang="en-US" altLang="zh-CN" dirty="0">
                <a:latin typeface="+mn-ea"/>
              </a:rPr>
              <a:t>review </a:t>
            </a:r>
            <a:r>
              <a:rPr lang="zh-CN" altLang="en-US" dirty="0">
                <a:latin typeface="+mn-ea"/>
              </a:rPr>
              <a:t>资源不足、流程设置不合理还是 </a:t>
            </a:r>
            <a:r>
              <a:rPr lang="en-US" altLang="zh-CN" dirty="0">
                <a:latin typeface="+mn-ea"/>
              </a:rPr>
              <a:t>CI </a:t>
            </a:r>
            <a:r>
              <a:rPr lang="zh-CN" altLang="en-US" dirty="0">
                <a:latin typeface="+mn-ea"/>
              </a:rPr>
              <a:t>阻塞导致，从而及时调整协作机制与分工安排。这种“统一指标</a:t>
            </a:r>
            <a:r>
              <a:rPr lang="en-US" altLang="zh-CN" dirty="0">
                <a:latin typeface="+mn-ea"/>
              </a:rPr>
              <a:t>+</a:t>
            </a:r>
            <a:r>
              <a:rPr lang="zh-CN" altLang="en-US" dirty="0">
                <a:latin typeface="+mn-ea"/>
              </a:rPr>
              <a:t>趋势对比”的方式能够显著减少沟通成本，提高维护效率，让项目管理更透明、更可控。</a:t>
            </a:r>
            <a:endParaRPr lang="zh-CN" altLang="en-US" dirty="0">
              <a:latin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7667"/>
              <a:ext cx="3384" cy="1239"/>
              <a:chOff x="-161533" y="4869796"/>
              <a:chExt cx="2686575" cy="787084"/>
            </a:xfrm>
          </p:grpSpPr>
          <p:sp>
            <p:nvSpPr>
              <p:cNvPr id="121" name="矩形 120"/>
              <p:cNvSpPr/>
              <p:nvPr/>
            </p:nvSpPr>
            <p:spPr>
              <a:xfrm>
                <a:off x="-161533" y="5042666"/>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775" y="5484614"/>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595" y="4869796"/>
                <a:ext cx="2521297"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86" y="6069"/>
              <a:ext cx="2557"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技术难点</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与具体实现</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latin typeface="思源宋体 CN Medium" panose="02020500000000000000" charset="-122"/>
                  <a:ea typeface="思源宋体 CN Medium" panose="02020500000000000000" charset="-122"/>
                </a:rPr>
                <a:t>项目意义</a:t>
              </a:r>
              <a:endParaRPr lang="en-US" altLang="zh-CN" sz="1600" b="1" dirty="0">
                <a:latin typeface="思源宋体 CN Medium" panose="02020500000000000000" charset="-122"/>
                <a:ea typeface="思源宋体 CN Medium" panose="02020500000000000000" charset="-122"/>
              </a:endParaRPr>
            </a:p>
            <a:p>
              <a:pPr algn="ctr"/>
              <a:r>
                <a:rPr lang="zh-CN" altLang="en-US" sz="1600" b="1" dirty="0">
                  <a:latin typeface="思源宋体 CN Medium" panose="02020500000000000000" charset="-122"/>
                  <a:ea typeface="思源宋体 CN Medium" panose="02020500000000000000" charset="-122"/>
                </a:rPr>
                <a:t>与实际应用</a:t>
              </a:r>
              <a:endParaRPr lang="zh-CN" altLang="en-US" sz="1600" b="1" dirty="0">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附页</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5 </a:t>
              </a:r>
              <a:r>
                <a:rPr lang="zh-CN" altLang="en-US" sz="2000" b="1" dirty="0">
                  <a:latin typeface="思源宋体 CN Medium" panose="02020500000000000000" charset="-122"/>
                  <a:ea typeface="思源宋体 CN Medium" panose="02020500000000000000" charset="-122"/>
                </a:rPr>
                <a:t>项目意义与实际应用</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grpSp>
        <p:nvGrpSpPr>
          <p:cNvPr id="10" name="组合 9"/>
          <p:cNvGrpSpPr/>
          <p:nvPr/>
        </p:nvGrpSpPr>
        <p:grpSpPr>
          <a:xfrm>
            <a:off x="2226345" y="959815"/>
            <a:ext cx="3787594" cy="5688758"/>
            <a:chOff x="3095671" y="2695527"/>
            <a:chExt cx="4038554" cy="3959225"/>
          </a:xfrm>
        </p:grpSpPr>
        <p:sp>
          <p:nvSpPr>
            <p:cNvPr id="11" name="矩形: 剪去单角 18"/>
            <p:cNvSpPr/>
            <p:nvPr/>
          </p:nvSpPr>
          <p:spPr>
            <a:xfrm>
              <a:off x="3095672" y="2695527"/>
              <a:ext cx="4038553" cy="3959225"/>
            </a:xfrm>
            <a:prstGeom prst="snip1Rect">
              <a:avLst/>
            </a:prstGeom>
            <a:solidFill>
              <a:schemeClr val="bg1"/>
            </a:solidFill>
            <a:ln>
              <a:solidFill>
                <a:srgbClr val="10518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黑体 CN Light" panose="020B0300000000000000" pitchFamily="34" charset="-128"/>
              </a:endParaRPr>
            </a:p>
          </p:txBody>
        </p:sp>
        <p:sp>
          <p:nvSpPr>
            <p:cNvPr id="12" name="矩形 11"/>
            <p:cNvSpPr/>
            <p:nvPr/>
          </p:nvSpPr>
          <p:spPr>
            <a:xfrm>
              <a:off x="3095671" y="6163494"/>
              <a:ext cx="4038553" cy="491258"/>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ctr">
              <a:noAutofit/>
            </a:bodyPr>
            <a:lstStyle/>
            <a:p>
              <a:pPr algn="ctr">
                <a:lnSpc>
                  <a:spcPct val="150000"/>
                </a:lnSpc>
              </a:pPr>
              <a:r>
                <a:rPr lang="zh-CN" altLang="en-US" sz="2000" dirty="0">
                  <a:latin typeface="+mj-ea"/>
                  <a:ea typeface="+mj-ea"/>
                </a:rPr>
                <a:t>风险预警与告警</a:t>
              </a:r>
              <a:endParaRPr lang="zh-CN" altLang="en-US" sz="2000" dirty="0">
                <a:latin typeface="+mj-ea"/>
                <a:ea typeface="+mj-ea"/>
              </a:endParaRPr>
            </a:p>
          </p:txBody>
        </p:sp>
      </p:grpSp>
      <p:sp>
        <p:nvSpPr>
          <p:cNvPr id="13" name="文本框 12"/>
          <p:cNvSpPr txBox="1"/>
          <p:nvPr/>
        </p:nvSpPr>
        <p:spPr>
          <a:xfrm>
            <a:off x="2392680" y="1121958"/>
            <a:ext cx="3353142" cy="4614084"/>
          </a:xfrm>
          <a:prstGeom prst="rect">
            <a:avLst/>
          </a:prstGeom>
          <a:noFill/>
        </p:spPr>
        <p:txBody>
          <a:bodyPr wrap="square" rtlCol="0">
            <a:spAutoFit/>
          </a:bodyPr>
          <a:lstStyle/>
          <a:p>
            <a:pPr>
              <a:lnSpc>
                <a:spcPct val="150000"/>
              </a:lnSpc>
            </a:pPr>
            <a:r>
              <a:rPr lang="en-US" altLang="zh-CN" dirty="0" err="1">
                <a:latin typeface="+mn-ea"/>
              </a:rPr>
              <a:t>OpenPulse</a:t>
            </a:r>
            <a:r>
              <a:rPr lang="en-US" altLang="zh-CN" dirty="0">
                <a:latin typeface="+mn-ea"/>
              </a:rPr>
              <a:t> </a:t>
            </a:r>
            <a:r>
              <a:rPr lang="zh-CN" altLang="en-US" dirty="0">
                <a:latin typeface="+mn-ea"/>
              </a:rPr>
              <a:t>的另一项重要价值，是将项目中的潜在风险从“事后发现”转为“事前识别与干预”。平台通过对多类风险信号进行持续监测来实现预警，例如连续多周活跃度下降、核心贡献者活跃显著减少、平均响应时间超过阈值、</a:t>
            </a:r>
            <a:r>
              <a:rPr lang="en-US" altLang="zh-CN" dirty="0">
                <a:latin typeface="+mn-ea"/>
              </a:rPr>
              <a:t>issue backlog </a:t>
            </a:r>
            <a:r>
              <a:rPr lang="zh-CN" altLang="en-US" dirty="0">
                <a:latin typeface="+mn-ea"/>
              </a:rPr>
              <a:t>长期增长、贡献过度集中导致的单点依赖（</a:t>
            </a:r>
            <a:r>
              <a:rPr lang="en-US" altLang="zh-CN" dirty="0">
                <a:latin typeface="+mn-ea"/>
              </a:rPr>
              <a:t>bus factor </a:t>
            </a:r>
            <a:r>
              <a:rPr lang="zh-CN" altLang="en-US" dirty="0">
                <a:latin typeface="+mn-ea"/>
              </a:rPr>
              <a:t>风险）等。</a:t>
            </a:r>
            <a:endParaRPr lang="zh-CN" altLang="en-US" dirty="0">
              <a:latin typeface="+mn-ea"/>
            </a:endParaRPr>
          </a:p>
        </p:txBody>
      </p:sp>
      <p:grpSp>
        <p:nvGrpSpPr>
          <p:cNvPr id="14" name="组合 13"/>
          <p:cNvGrpSpPr/>
          <p:nvPr/>
        </p:nvGrpSpPr>
        <p:grpSpPr>
          <a:xfrm>
            <a:off x="6278133" y="914399"/>
            <a:ext cx="5591921" cy="5734173"/>
            <a:chOff x="3095671" y="2695527"/>
            <a:chExt cx="4626835" cy="3959225"/>
          </a:xfrm>
        </p:grpSpPr>
        <p:sp>
          <p:nvSpPr>
            <p:cNvPr id="15" name="矩形: 剪去单角 18"/>
            <p:cNvSpPr/>
            <p:nvPr/>
          </p:nvSpPr>
          <p:spPr>
            <a:xfrm>
              <a:off x="3095672" y="2695527"/>
              <a:ext cx="4626834" cy="3959225"/>
            </a:xfrm>
            <a:prstGeom prst="snip1Rect">
              <a:avLst/>
            </a:prstGeom>
            <a:solidFill>
              <a:schemeClr val="bg1"/>
            </a:solidFill>
            <a:ln>
              <a:solidFill>
                <a:srgbClr val="10518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黑体 CN Light" panose="020B0300000000000000" pitchFamily="34" charset="-128"/>
              </a:endParaRPr>
            </a:p>
          </p:txBody>
        </p:sp>
        <p:sp>
          <p:nvSpPr>
            <p:cNvPr id="16" name="矩形 15"/>
            <p:cNvSpPr/>
            <p:nvPr/>
          </p:nvSpPr>
          <p:spPr>
            <a:xfrm>
              <a:off x="3095671" y="6175812"/>
              <a:ext cx="4626835" cy="47894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ctr">
              <a:noAutofit/>
            </a:bodyPr>
            <a:lstStyle/>
            <a:p>
              <a:pPr algn="ctr">
                <a:lnSpc>
                  <a:spcPct val="150000"/>
                </a:lnSpc>
              </a:pPr>
              <a:r>
                <a:rPr lang="zh-CN" altLang="en-US" sz="2000" dirty="0">
                  <a:latin typeface="+mj-ea"/>
                  <a:ea typeface="+mj-ea"/>
                </a:rPr>
                <a:t>治理决策支持（闭环报告）</a:t>
              </a:r>
              <a:endParaRPr lang="zh-CN" altLang="en-US" sz="2000" dirty="0">
                <a:latin typeface="+mj-ea"/>
                <a:ea typeface="+mj-ea"/>
              </a:endParaRPr>
            </a:p>
          </p:txBody>
        </p:sp>
      </p:grpSp>
      <p:sp>
        <p:nvSpPr>
          <p:cNvPr id="17" name="文本框 16"/>
          <p:cNvSpPr txBox="1"/>
          <p:nvPr/>
        </p:nvSpPr>
        <p:spPr>
          <a:xfrm>
            <a:off x="6369000" y="1027093"/>
            <a:ext cx="5501054" cy="5029582"/>
          </a:xfrm>
          <a:prstGeom prst="rect">
            <a:avLst/>
          </a:prstGeom>
          <a:noFill/>
        </p:spPr>
        <p:txBody>
          <a:bodyPr wrap="square" rtlCol="0">
            <a:spAutoFit/>
          </a:bodyPr>
          <a:lstStyle/>
          <a:p>
            <a:pPr>
              <a:lnSpc>
                <a:spcPct val="150000"/>
              </a:lnSpc>
            </a:pPr>
            <a:r>
              <a:rPr lang="en-US" altLang="zh-CN" dirty="0" err="1">
                <a:latin typeface="+mn-ea"/>
              </a:rPr>
              <a:t>OpenPulse</a:t>
            </a:r>
            <a:r>
              <a:rPr lang="en-US" altLang="zh-CN" dirty="0">
                <a:latin typeface="+mn-ea"/>
              </a:rPr>
              <a:t> </a:t>
            </a:r>
            <a:r>
              <a:rPr lang="zh-CN" altLang="en-US" dirty="0">
                <a:latin typeface="+mn-ea"/>
              </a:rPr>
              <a:t>最终要解决的是“怎么治理、治理是否有效”的决策问题，因此平台强调把治理动作做成“可量化</a:t>
            </a:r>
            <a:r>
              <a:rPr lang="en-US" altLang="zh-CN" dirty="0">
                <a:latin typeface="+mn-ea"/>
              </a:rPr>
              <a:t>—</a:t>
            </a:r>
            <a:r>
              <a:rPr lang="zh-CN" altLang="en-US" dirty="0">
                <a:latin typeface="+mn-ea"/>
              </a:rPr>
              <a:t>可验证”的闭环。具体来说，平台会将不同治理措施与可观测指标对应起来：例如流程优化可用 </a:t>
            </a:r>
            <a:r>
              <a:rPr lang="en-US" altLang="zh-CN" dirty="0">
                <a:latin typeface="+mn-ea"/>
              </a:rPr>
              <a:t>PR </a:t>
            </a:r>
            <a:r>
              <a:rPr lang="zh-CN" altLang="en-US" dirty="0">
                <a:latin typeface="+mn-ea"/>
              </a:rPr>
              <a:t>首次响应时间、合并周期、</a:t>
            </a:r>
            <a:r>
              <a:rPr lang="en-US" altLang="zh-CN" dirty="0">
                <a:latin typeface="+mn-ea"/>
              </a:rPr>
              <a:t>review </a:t>
            </a:r>
            <a:r>
              <a:rPr lang="zh-CN" altLang="en-US" dirty="0">
                <a:latin typeface="+mn-ea"/>
              </a:rPr>
              <a:t>覆盖率来衡量；社区运营可用新贡献者转化率、回访贡献率、讨论参与度来衡量。在实际应用中，平台可以自动生成项目分析报告：总结本周期关键变化，结合图表与对比给出问题定位，并按优先级输出行动建议；同时记录采取的治理措施，并在下一周期自动回收指标变化来验证效果，形成“监测</a:t>
            </a:r>
            <a:r>
              <a:rPr lang="en-US" altLang="zh-CN" dirty="0">
                <a:latin typeface="+mn-ea"/>
              </a:rPr>
              <a:t>—</a:t>
            </a:r>
            <a:r>
              <a:rPr lang="zh-CN" altLang="en-US" dirty="0">
                <a:latin typeface="+mn-ea"/>
              </a:rPr>
              <a:t>建议</a:t>
            </a:r>
            <a:r>
              <a:rPr lang="en-US" altLang="zh-CN" dirty="0">
                <a:latin typeface="+mn-ea"/>
              </a:rPr>
              <a:t>—</a:t>
            </a:r>
            <a:r>
              <a:rPr lang="zh-CN" altLang="en-US" dirty="0">
                <a:latin typeface="+mn-ea"/>
              </a:rPr>
              <a:t>执行</a:t>
            </a:r>
            <a:r>
              <a:rPr lang="en-US" altLang="zh-CN" dirty="0">
                <a:latin typeface="+mn-ea"/>
              </a:rPr>
              <a:t>—</a:t>
            </a:r>
            <a:r>
              <a:rPr lang="zh-CN" altLang="en-US" dirty="0">
                <a:latin typeface="+mn-ea"/>
              </a:rPr>
              <a:t>验证”的持续迭代机制。</a:t>
            </a:r>
            <a:endParaRPr lang="zh-CN" altLang="en-US" dirty="0">
              <a:latin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2"/>
          <p:cNvSpPr/>
          <p:nvPr/>
        </p:nvSpPr>
        <p:spPr>
          <a:xfrm>
            <a:off x="254524" y="245097"/>
            <a:ext cx="11679810" cy="6381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138113" y="4610099"/>
            <a:ext cx="11796221" cy="46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5" name="文本框 4"/>
          <p:cNvSpPr txBox="1"/>
          <p:nvPr/>
        </p:nvSpPr>
        <p:spPr>
          <a:xfrm>
            <a:off x="5222449" y="4656841"/>
            <a:ext cx="1743959" cy="1569660"/>
          </a:xfrm>
          <a:prstGeom prst="rect">
            <a:avLst/>
          </a:prstGeom>
          <a:noFill/>
        </p:spPr>
        <p:txBody>
          <a:bodyPr wrap="square" rtlCol="0">
            <a:spAutoFit/>
          </a:bodyPr>
          <a:lstStyle/>
          <a:p>
            <a:r>
              <a:rPr lang="en-US" altLang="zh-CN" sz="9600" dirty="0">
                <a:solidFill>
                  <a:srgbClr val="105186"/>
                </a:solidFill>
                <a:latin typeface="+mj-lt"/>
                <a:ea typeface="思源宋体 CN Medium" panose="02020500000000000000" charset="-122"/>
              </a:rPr>
              <a:t>06</a:t>
            </a:r>
            <a:endParaRPr lang="zh-CN" altLang="en-US" sz="9600" dirty="0">
              <a:solidFill>
                <a:srgbClr val="105186"/>
              </a:solidFill>
              <a:latin typeface="+mj-lt"/>
              <a:ea typeface="思源宋体 CN Medium" panose="02020500000000000000" charset="-122"/>
            </a:endParaRPr>
          </a:p>
        </p:txBody>
      </p:sp>
      <p:sp>
        <p:nvSpPr>
          <p:cNvPr id="20" name="矩形 19"/>
          <p:cNvSpPr/>
          <p:nvPr/>
        </p:nvSpPr>
        <p:spPr>
          <a:xfrm>
            <a:off x="3063711" y="-653019"/>
            <a:ext cx="6249971" cy="12403395"/>
          </a:xfrm>
          <a:prstGeom prst="rect">
            <a:avLst/>
          </a:prstGeom>
          <a:noFill/>
        </p:spPr>
        <p:txBody>
          <a:bodyPr wrap="square" lIns="91440" tIns="45720" rIns="91440" bIns="45720">
            <a:spAutoFit/>
          </a:bodyPr>
          <a:lstStyle/>
          <a:p>
            <a:pPr algn="ctr"/>
            <a:r>
              <a:rPr lang="en-US" altLang="zh-CN"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rPr>
              <a:t>06</a:t>
            </a:r>
            <a:endParaRPr lang="zh-CN" altLang="en-US"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endParaRPr>
          </a:p>
        </p:txBody>
      </p:sp>
      <p:sp>
        <p:nvSpPr>
          <p:cNvPr id="6" name="文本框 5"/>
          <p:cNvSpPr txBox="1"/>
          <p:nvPr/>
        </p:nvSpPr>
        <p:spPr>
          <a:xfrm>
            <a:off x="3812647" y="2322039"/>
            <a:ext cx="4547051" cy="1106805"/>
          </a:xfrm>
          <a:prstGeom prst="rect">
            <a:avLst/>
          </a:prstGeom>
          <a:noFill/>
        </p:spPr>
        <p:txBody>
          <a:bodyPr wrap="square" rtlCol="0">
            <a:spAutoFit/>
          </a:bodyPr>
          <a:lstStyle/>
          <a:p>
            <a:pPr algn="ctr"/>
            <a:r>
              <a:rPr lang="zh-CN" altLang="en-US" sz="6600" dirty="0">
                <a:latin typeface="+mj-ea"/>
                <a:ea typeface="+mj-ea"/>
              </a:rPr>
              <a:t>附页</a:t>
            </a:r>
            <a:endParaRPr lang="zh-CN" altLang="en-US" sz="6600" dirty="0">
              <a:latin typeface="+mj-ea"/>
              <a:ea typeface="+mj-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9195"/>
              <a:ext cx="3384" cy="1239"/>
              <a:chOff x="-161367" y="5838082"/>
              <a:chExt cx="2686276" cy="786795"/>
            </a:xfrm>
          </p:grpSpPr>
          <p:sp>
            <p:nvSpPr>
              <p:cNvPr id="121" name="矩形 120"/>
              <p:cNvSpPr/>
              <p:nvPr/>
            </p:nvSpPr>
            <p:spPr>
              <a:xfrm>
                <a:off x="-161367" y="6011459"/>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642" y="6452611"/>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391" y="5838082"/>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86" y="6069"/>
              <a:ext cx="2557"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技术难点</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与具体实现</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rgbClr val="FFFFFF"/>
                  </a:solidFill>
                  <a:latin typeface="思源宋体 CN Medium" panose="02020500000000000000" charset="-122"/>
                  <a:ea typeface="思源宋体 CN Medium" panose="02020500000000000000" charset="-122"/>
                </a:rPr>
                <a:t>项目意义</a:t>
              </a:r>
              <a:endParaRPr lang="en-US" altLang="zh-CN" sz="1600" b="1" dirty="0">
                <a:solidFill>
                  <a:srgbClr val="FFFFFF"/>
                </a:solidFill>
                <a:latin typeface="思源宋体 CN Medium" panose="02020500000000000000" charset="-122"/>
                <a:ea typeface="思源宋体 CN Medium" panose="02020500000000000000" charset="-122"/>
              </a:endParaRPr>
            </a:p>
            <a:p>
              <a:pPr algn="ctr"/>
              <a:r>
                <a:rPr lang="zh-CN" altLang="en-US" sz="1600" b="1" dirty="0">
                  <a:solidFill>
                    <a:srgbClr val="FFFFFF"/>
                  </a:solidFill>
                  <a:latin typeface="思源宋体 CN Medium" panose="02020500000000000000" charset="-122"/>
                  <a:ea typeface="思源宋体 CN Medium" panose="02020500000000000000" charset="-122"/>
                </a:rPr>
                <a:t>与实际应用</a:t>
              </a:r>
              <a:endParaRPr lang="zh-CN" altLang="en-US" sz="1600" b="1" dirty="0">
                <a:solidFill>
                  <a:srgbClr val="FFFFFF"/>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rgbClr val="0D426B"/>
                  </a:solidFill>
                  <a:latin typeface="思源宋体 CN Medium" panose="02020500000000000000" charset="-122"/>
                  <a:ea typeface="思源宋体 CN Medium" panose="02020500000000000000" charset="-122"/>
                </a:rPr>
                <a:t>附页</a:t>
              </a:r>
              <a:endParaRPr lang="zh-CN" altLang="en-US" sz="1600" b="1" dirty="0">
                <a:solidFill>
                  <a:srgbClr val="0D426B"/>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zh-CN" altLang="en-US" sz="2000" b="1" dirty="0">
                  <a:latin typeface="思源宋体 CN Medium" panose="02020500000000000000" charset="-122"/>
                  <a:ea typeface="思源宋体 CN Medium" panose="02020500000000000000" charset="-122"/>
                </a:rPr>
                <a:t> 附页</a:t>
              </a:r>
              <a:r>
                <a:rPr lang="en-US" altLang="zh-CN" sz="2000" b="1" dirty="0">
                  <a:latin typeface="思源宋体 CN Medium" panose="02020500000000000000" charset="-122"/>
                  <a:ea typeface="思源宋体 CN Medium" panose="02020500000000000000" charset="-122"/>
                </a:rPr>
                <a:t>1</a:t>
              </a:r>
              <a:r>
                <a:rPr lang="zh-CN" altLang="en-US" sz="2000" b="1" dirty="0">
                  <a:latin typeface="思源宋体 CN Medium" panose="02020500000000000000" charset="-122"/>
                  <a:ea typeface="思源宋体 CN Medium" panose="02020500000000000000" charset="-122"/>
                </a:rPr>
                <a:t>：健康度指标体系架构图</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pic>
        <p:nvPicPr>
          <p:cNvPr id="2" name="图片 1" descr="Gemini_Generated_Image_1cwxsy1cwxsy1cwx"/>
          <p:cNvPicPr>
            <a:picLocks noChangeAspect="1"/>
          </p:cNvPicPr>
          <p:nvPr/>
        </p:nvPicPr>
        <p:blipFill>
          <a:blip r:embed="rId1" cstate="email"/>
          <a:stretch>
            <a:fillRect/>
          </a:stretch>
        </p:blipFill>
        <p:spPr>
          <a:xfrm>
            <a:off x="2278038" y="1162050"/>
            <a:ext cx="9409430" cy="5257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9195"/>
              <a:ext cx="3384" cy="1239"/>
              <a:chOff x="-161367" y="5838082"/>
              <a:chExt cx="2686276" cy="786795"/>
            </a:xfrm>
          </p:grpSpPr>
          <p:sp>
            <p:nvSpPr>
              <p:cNvPr id="121" name="矩形 120"/>
              <p:cNvSpPr/>
              <p:nvPr/>
            </p:nvSpPr>
            <p:spPr>
              <a:xfrm>
                <a:off x="-161367" y="6011459"/>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642" y="6452611"/>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391" y="5838082"/>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86" y="6069"/>
              <a:ext cx="2557"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技术难点</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与具体实现</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rgbClr val="FFFFFF"/>
                  </a:solidFill>
                  <a:latin typeface="思源宋体 CN Medium" panose="02020500000000000000" charset="-122"/>
                  <a:ea typeface="思源宋体 CN Medium" panose="02020500000000000000" charset="-122"/>
                </a:rPr>
                <a:t>项目意义</a:t>
              </a:r>
              <a:endParaRPr lang="en-US" altLang="zh-CN" sz="1600" b="1" dirty="0">
                <a:solidFill>
                  <a:srgbClr val="FFFFFF"/>
                </a:solidFill>
                <a:latin typeface="思源宋体 CN Medium" panose="02020500000000000000" charset="-122"/>
                <a:ea typeface="思源宋体 CN Medium" panose="02020500000000000000" charset="-122"/>
              </a:endParaRPr>
            </a:p>
            <a:p>
              <a:pPr algn="ctr"/>
              <a:r>
                <a:rPr lang="zh-CN" altLang="en-US" sz="1600" b="1" dirty="0">
                  <a:solidFill>
                    <a:srgbClr val="FFFFFF"/>
                  </a:solidFill>
                  <a:latin typeface="思源宋体 CN Medium" panose="02020500000000000000" charset="-122"/>
                  <a:ea typeface="思源宋体 CN Medium" panose="02020500000000000000" charset="-122"/>
                </a:rPr>
                <a:t>与实际应用</a:t>
              </a:r>
              <a:endParaRPr lang="zh-CN" altLang="en-US" sz="1600" b="1" dirty="0">
                <a:solidFill>
                  <a:srgbClr val="FFFFFF"/>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rgbClr val="0D426B"/>
                  </a:solidFill>
                  <a:latin typeface="思源宋体 CN Medium" panose="02020500000000000000" charset="-122"/>
                  <a:ea typeface="思源宋体 CN Medium" panose="02020500000000000000" charset="-122"/>
                </a:rPr>
                <a:t>附页</a:t>
              </a:r>
              <a:endParaRPr lang="zh-CN" altLang="en-US" sz="1600" b="1" dirty="0">
                <a:solidFill>
                  <a:srgbClr val="0D426B"/>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zh-CN" altLang="en-US" sz="2000" b="1" dirty="0">
                  <a:latin typeface="思源宋体 CN Medium" panose="02020500000000000000" charset="-122"/>
                  <a:ea typeface="思源宋体 CN Medium" panose="02020500000000000000" charset="-122"/>
                </a:rPr>
                <a:t> 附页</a:t>
              </a:r>
              <a:r>
                <a:rPr lang="en-US" altLang="zh-CN" sz="2000" b="1" dirty="0">
                  <a:latin typeface="思源宋体 CN Medium" panose="02020500000000000000" charset="-122"/>
                  <a:ea typeface="思源宋体 CN Medium" panose="02020500000000000000" charset="-122"/>
                </a:rPr>
                <a:t>2-1</a:t>
              </a:r>
              <a:r>
                <a:rPr lang="zh-CN" altLang="en-US" sz="2000" b="1" dirty="0">
                  <a:latin typeface="思源宋体 CN Medium" panose="02020500000000000000" charset="-122"/>
                  <a:ea typeface="思源宋体 CN Medium" panose="02020500000000000000" charset="-122"/>
                </a:rPr>
                <a:t>：健康度指标体系计算方法</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pic>
        <p:nvPicPr>
          <p:cNvPr id="3" name="图片 2"/>
          <p:cNvPicPr>
            <a:picLocks noChangeAspect="1"/>
          </p:cNvPicPr>
          <p:nvPr/>
        </p:nvPicPr>
        <p:blipFill>
          <a:blip r:embed="rId1"/>
          <a:stretch>
            <a:fillRect/>
          </a:stretch>
        </p:blipFill>
        <p:spPr>
          <a:xfrm>
            <a:off x="3914140" y="918845"/>
            <a:ext cx="5829935" cy="2402840"/>
          </a:xfrm>
          <a:prstGeom prst="rect">
            <a:avLst/>
          </a:prstGeom>
        </p:spPr>
      </p:pic>
      <p:pic>
        <p:nvPicPr>
          <p:cNvPr id="4" name="图片 3"/>
          <p:cNvPicPr>
            <a:picLocks noChangeAspect="1"/>
          </p:cNvPicPr>
          <p:nvPr/>
        </p:nvPicPr>
        <p:blipFill>
          <a:blip r:embed="rId2"/>
          <a:stretch>
            <a:fillRect/>
          </a:stretch>
        </p:blipFill>
        <p:spPr>
          <a:xfrm>
            <a:off x="4095750" y="3209925"/>
            <a:ext cx="5466715" cy="336423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9195"/>
              <a:ext cx="3384" cy="1239"/>
              <a:chOff x="-161367" y="5838082"/>
              <a:chExt cx="2686276" cy="786795"/>
            </a:xfrm>
          </p:grpSpPr>
          <p:sp>
            <p:nvSpPr>
              <p:cNvPr id="121" name="矩形 120"/>
              <p:cNvSpPr/>
              <p:nvPr/>
            </p:nvSpPr>
            <p:spPr>
              <a:xfrm>
                <a:off x="-161367" y="6011459"/>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642" y="6452611"/>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391" y="5838082"/>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86" y="6069"/>
              <a:ext cx="2557"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技术难点</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与具体实现</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rgbClr val="FFFFFF"/>
                  </a:solidFill>
                  <a:latin typeface="思源宋体 CN Medium" panose="02020500000000000000" charset="-122"/>
                  <a:ea typeface="思源宋体 CN Medium" panose="02020500000000000000" charset="-122"/>
                </a:rPr>
                <a:t>项目意义</a:t>
              </a:r>
              <a:endParaRPr lang="en-US" altLang="zh-CN" sz="1600" b="1" dirty="0">
                <a:solidFill>
                  <a:srgbClr val="FFFFFF"/>
                </a:solidFill>
                <a:latin typeface="思源宋体 CN Medium" panose="02020500000000000000" charset="-122"/>
                <a:ea typeface="思源宋体 CN Medium" panose="02020500000000000000" charset="-122"/>
              </a:endParaRPr>
            </a:p>
            <a:p>
              <a:pPr algn="ctr"/>
              <a:r>
                <a:rPr lang="zh-CN" altLang="en-US" sz="1600" b="1" dirty="0">
                  <a:solidFill>
                    <a:srgbClr val="FFFFFF"/>
                  </a:solidFill>
                  <a:latin typeface="思源宋体 CN Medium" panose="02020500000000000000" charset="-122"/>
                  <a:ea typeface="思源宋体 CN Medium" panose="02020500000000000000" charset="-122"/>
                </a:rPr>
                <a:t>与实际应用</a:t>
              </a:r>
              <a:endParaRPr lang="zh-CN" altLang="en-US" sz="1600" b="1" dirty="0">
                <a:solidFill>
                  <a:srgbClr val="FFFFFF"/>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rgbClr val="0D426B"/>
                  </a:solidFill>
                  <a:latin typeface="思源宋体 CN Medium" panose="02020500000000000000" charset="-122"/>
                  <a:ea typeface="思源宋体 CN Medium" panose="02020500000000000000" charset="-122"/>
                </a:rPr>
                <a:t>附页</a:t>
              </a:r>
              <a:endParaRPr lang="zh-CN" altLang="en-US" sz="1600" b="1" dirty="0">
                <a:solidFill>
                  <a:srgbClr val="0D426B"/>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zh-CN" altLang="en-US" sz="2000" b="1" dirty="0">
                  <a:latin typeface="思源宋体 CN Medium" panose="02020500000000000000" charset="-122"/>
                  <a:ea typeface="思源宋体 CN Medium" panose="02020500000000000000" charset="-122"/>
                </a:rPr>
                <a:t> 附页</a:t>
              </a:r>
              <a:r>
                <a:rPr lang="en-US" altLang="zh-CN" sz="2000" b="1" dirty="0">
                  <a:latin typeface="思源宋体 CN Medium" panose="02020500000000000000" charset="-122"/>
                  <a:ea typeface="思源宋体 CN Medium" panose="02020500000000000000" charset="-122"/>
                </a:rPr>
                <a:t>2-2</a:t>
              </a:r>
              <a:r>
                <a:rPr lang="zh-CN" altLang="en-US" sz="2000" b="1" dirty="0">
                  <a:latin typeface="思源宋体 CN Medium" panose="02020500000000000000" charset="-122"/>
                  <a:ea typeface="思源宋体 CN Medium" panose="02020500000000000000" charset="-122"/>
                </a:rPr>
                <a:t>：健康度指标体系计算方法</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pic>
        <p:nvPicPr>
          <p:cNvPr id="2" name="图片 1"/>
          <p:cNvPicPr>
            <a:picLocks noChangeAspect="1"/>
          </p:cNvPicPr>
          <p:nvPr/>
        </p:nvPicPr>
        <p:blipFill>
          <a:blip r:embed="rId1"/>
          <a:stretch>
            <a:fillRect/>
          </a:stretch>
        </p:blipFill>
        <p:spPr>
          <a:xfrm>
            <a:off x="2585720" y="1072663"/>
            <a:ext cx="4864979" cy="2744470"/>
          </a:xfrm>
          <a:prstGeom prst="rect">
            <a:avLst/>
          </a:prstGeom>
        </p:spPr>
      </p:pic>
      <p:pic>
        <p:nvPicPr>
          <p:cNvPr id="3" name="图片 2"/>
          <p:cNvPicPr>
            <a:picLocks noChangeAspect="1"/>
          </p:cNvPicPr>
          <p:nvPr/>
        </p:nvPicPr>
        <p:blipFill>
          <a:blip r:embed="rId2"/>
          <a:stretch>
            <a:fillRect/>
          </a:stretch>
        </p:blipFill>
        <p:spPr>
          <a:xfrm>
            <a:off x="2585720" y="3932068"/>
            <a:ext cx="5165030" cy="2016125"/>
          </a:xfrm>
          <a:prstGeom prst="rect">
            <a:avLst/>
          </a:prstGeom>
        </p:spPr>
      </p:pic>
      <p:pic>
        <p:nvPicPr>
          <p:cNvPr id="4" name="图片 3"/>
          <p:cNvPicPr>
            <a:picLocks noChangeAspect="1"/>
          </p:cNvPicPr>
          <p:nvPr/>
        </p:nvPicPr>
        <p:blipFill>
          <a:blip r:embed="rId3"/>
          <a:stretch>
            <a:fillRect/>
          </a:stretch>
        </p:blipFill>
        <p:spPr>
          <a:xfrm>
            <a:off x="7017385" y="888513"/>
            <a:ext cx="4990465" cy="2030730"/>
          </a:xfrm>
          <a:prstGeom prst="rect">
            <a:avLst/>
          </a:prstGeom>
        </p:spPr>
      </p:pic>
      <p:pic>
        <p:nvPicPr>
          <p:cNvPr id="5" name="图片 4"/>
          <p:cNvPicPr>
            <a:picLocks noChangeAspect="1"/>
          </p:cNvPicPr>
          <p:nvPr/>
        </p:nvPicPr>
        <p:blipFill>
          <a:blip r:embed="rId4"/>
          <a:stretch>
            <a:fillRect/>
          </a:stretch>
        </p:blipFill>
        <p:spPr>
          <a:xfrm>
            <a:off x="7017385" y="3099583"/>
            <a:ext cx="4977130" cy="1762760"/>
          </a:xfrm>
          <a:prstGeom prst="rect">
            <a:avLst/>
          </a:prstGeom>
        </p:spPr>
      </p:pic>
      <p:pic>
        <p:nvPicPr>
          <p:cNvPr id="6" name="图片 5"/>
          <p:cNvPicPr>
            <a:picLocks noChangeAspect="1"/>
          </p:cNvPicPr>
          <p:nvPr/>
        </p:nvPicPr>
        <p:blipFill>
          <a:blip r:embed="rId5"/>
          <a:stretch>
            <a:fillRect/>
          </a:stretch>
        </p:blipFill>
        <p:spPr>
          <a:xfrm>
            <a:off x="7017385" y="4862343"/>
            <a:ext cx="4817745" cy="177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384810" y="0"/>
            <a:ext cx="12576810" cy="6858000"/>
            <a:chOff x="-606" y="0"/>
            <a:chExt cx="19806" cy="10800"/>
          </a:xfrm>
        </p:grpSpPr>
        <p:sp>
          <p:nvSpPr>
            <p:cNvPr id="119" name="矩形 118"/>
            <p:cNvSpPr/>
            <p:nvPr/>
          </p:nvSpPr>
          <p:spPr>
            <a:xfrm>
              <a:off x="-50" y="0"/>
              <a:ext cx="2938"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53" y="9195"/>
              <a:ext cx="3384" cy="1239"/>
              <a:chOff x="-161367" y="5838082"/>
              <a:chExt cx="2686276" cy="786795"/>
            </a:xfrm>
          </p:grpSpPr>
          <p:sp>
            <p:nvSpPr>
              <p:cNvPr id="121" name="矩形 120"/>
              <p:cNvSpPr/>
              <p:nvPr/>
            </p:nvSpPr>
            <p:spPr>
              <a:xfrm>
                <a:off x="-161367" y="6011459"/>
                <a:ext cx="2607260"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2352642" y="6452611"/>
                <a:ext cx="143731" cy="200802"/>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391" y="5838082"/>
                <a:ext cx="2521296" cy="644812"/>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434" y="366"/>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507" y="1006"/>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186" y="1830"/>
              <a:ext cx="2594"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项目缘起</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与开发背景</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7" name="文本框 126"/>
            <p:cNvSpPr txBox="1"/>
            <p:nvPr/>
          </p:nvSpPr>
          <p:spPr>
            <a:xfrm>
              <a:off x="-302" y="3377"/>
              <a:ext cx="3392" cy="659"/>
            </a:xfrm>
            <a:prstGeom prst="rect">
              <a:avLst/>
            </a:prstGeom>
            <a:noFill/>
          </p:spPr>
          <p:txBody>
            <a:bodyPr wrap="square" rtlCol="0">
              <a:spAutoFit/>
            </a:bodyPr>
            <a:lstStyle/>
            <a:p>
              <a:pPr algn="ctr">
                <a:lnSpc>
                  <a:spcPct val="150000"/>
                </a:lnSpc>
              </a:pPr>
              <a:r>
                <a:rPr lang="zh-CN" altLang="en-US" sz="1600" b="1" dirty="0">
                  <a:solidFill>
                    <a:schemeClr val="bg1"/>
                  </a:solidFill>
                  <a:latin typeface="+mj-ea"/>
                </a:rPr>
                <a:t>主要功能创新点</a:t>
              </a:r>
              <a:endParaRPr lang="zh-CN" altLang="en-US" sz="1600" b="1" dirty="0">
                <a:solidFill>
                  <a:schemeClr val="bg1"/>
                </a:solidFill>
                <a:latin typeface="+mj-ea"/>
              </a:endParaRPr>
            </a:p>
          </p:txBody>
        </p:sp>
        <p:sp>
          <p:nvSpPr>
            <p:cNvPr id="128" name="文本框 127"/>
            <p:cNvSpPr txBox="1"/>
            <p:nvPr/>
          </p:nvSpPr>
          <p:spPr>
            <a:xfrm>
              <a:off x="319" y="4742"/>
              <a:ext cx="3392" cy="533"/>
            </a:xfrm>
            <a:prstGeom prst="rect">
              <a:avLst/>
            </a:prstGeom>
            <a:noFill/>
          </p:spPr>
          <p:txBody>
            <a:bodyPr wrap="square" rtlCol="0">
              <a:spAutoFit/>
            </a:bodyPr>
            <a:lstStyle/>
            <a:p>
              <a:r>
                <a:rPr lang="zh-CN" altLang="en-US" sz="1600" b="1" dirty="0">
                  <a:solidFill>
                    <a:schemeClr val="bg1"/>
                  </a:solidFill>
                  <a:latin typeface="思源宋体 CN Medium" panose="02020500000000000000" charset="-122"/>
                  <a:ea typeface="思源宋体 CN Medium" panose="02020500000000000000" charset="-122"/>
                </a:rPr>
                <a:t>产品效果展示</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86" y="6069"/>
              <a:ext cx="2557" cy="921"/>
            </a:xfrm>
            <a:prstGeom prst="rect">
              <a:avLst/>
            </a:prstGeom>
            <a:noFill/>
          </p:spPr>
          <p:txBody>
            <a:bodyPr wrap="square" rtlCol="0">
              <a:spAutoFit/>
            </a:bodyPr>
            <a:lstStyle/>
            <a:p>
              <a:pPr algn="ctr"/>
              <a:r>
                <a:rPr lang="zh-CN" altLang="en-US" sz="1600" b="1" dirty="0">
                  <a:solidFill>
                    <a:schemeClr val="bg1"/>
                  </a:solidFill>
                  <a:latin typeface="思源宋体 CN Medium" panose="02020500000000000000" charset="-122"/>
                  <a:ea typeface="思源宋体 CN Medium" panose="02020500000000000000" charset="-122"/>
                </a:rPr>
                <a:t>技术难点</a:t>
              </a:r>
              <a:endParaRPr lang="en-US" altLang="zh-CN" sz="1600" b="1" dirty="0">
                <a:solidFill>
                  <a:schemeClr val="bg1"/>
                </a:solidFill>
                <a:latin typeface="思源宋体 CN Medium" panose="02020500000000000000" charset="-122"/>
                <a:ea typeface="思源宋体 CN Medium" panose="02020500000000000000" charset="-122"/>
              </a:endParaRPr>
            </a:p>
            <a:p>
              <a:pPr algn="ctr"/>
              <a:r>
                <a:rPr lang="zh-CN" altLang="en-US" sz="1600" b="1" dirty="0">
                  <a:solidFill>
                    <a:schemeClr val="bg1"/>
                  </a:solidFill>
                  <a:latin typeface="思源宋体 CN Medium" panose="02020500000000000000" charset="-122"/>
                  <a:ea typeface="思源宋体 CN Medium" panose="02020500000000000000" charset="-122"/>
                </a:rPr>
                <a:t>与具体实现</a:t>
              </a:r>
              <a:endParaRPr lang="zh-CN" altLang="en-US" sz="1600" b="1" dirty="0">
                <a:solidFill>
                  <a:schemeClr val="bg1"/>
                </a:solidFill>
                <a:latin typeface="思源宋体 CN Medium" panose="02020500000000000000" charset="-122"/>
                <a:ea typeface="思源宋体 CN Medium" panose="02020500000000000000" charset="-122"/>
              </a:endParaRPr>
            </a:p>
          </p:txBody>
        </p:sp>
        <p:sp>
          <p:nvSpPr>
            <p:cNvPr id="130" name="文本框 129"/>
            <p:cNvSpPr txBox="1"/>
            <p:nvPr/>
          </p:nvSpPr>
          <p:spPr>
            <a:xfrm>
              <a:off x="-606" y="7717"/>
              <a:ext cx="4122" cy="921"/>
            </a:xfrm>
            <a:prstGeom prst="rect">
              <a:avLst/>
            </a:prstGeom>
            <a:noFill/>
          </p:spPr>
          <p:txBody>
            <a:bodyPr wrap="square" rtlCol="0">
              <a:spAutoFit/>
            </a:bodyPr>
            <a:lstStyle/>
            <a:p>
              <a:pPr algn="ctr"/>
              <a:r>
                <a:rPr lang="zh-CN" altLang="en-US" sz="1600" b="1" dirty="0">
                  <a:solidFill>
                    <a:srgbClr val="FFFFFF"/>
                  </a:solidFill>
                  <a:latin typeface="思源宋体 CN Medium" panose="02020500000000000000" charset="-122"/>
                  <a:ea typeface="思源宋体 CN Medium" panose="02020500000000000000" charset="-122"/>
                </a:rPr>
                <a:t>项目意义</a:t>
              </a:r>
              <a:endParaRPr lang="en-US" altLang="zh-CN" sz="1600" b="1" dirty="0">
                <a:solidFill>
                  <a:srgbClr val="FFFFFF"/>
                </a:solidFill>
                <a:latin typeface="思源宋体 CN Medium" panose="02020500000000000000" charset="-122"/>
                <a:ea typeface="思源宋体 CN Medium" panose="02020500000000000000" charset="-122"/>
              </a:endParaRPr>
            </a:p>
            <a:p>
              <a:pPr algn="ctr"/>
              <a:r>
                <a:rPr lang="zh-CN" altLang="en-US" sz="1600" b="1" dirty="0">
                  <a:solidFill>
                    <a:srgbClr val="FFFFFF"/>
                  </a:solidFill>
                  <a:latin typeface="思源宋体 CN Medium" panose="02020500000000000000" charset="-122"/>
                  <a:ea typeface="思源宋体 CN Medium" panose="02020500000000000000" charset="-122"/>
                </a:rPr>
                <a:t>与实际应用</a:t>
              </a:r>
              <a:endParaRPr lang="zh-CN" altLang="en-US" sz="1600" b="1" dirty="0">
                <a:solidFill>
                  <a:srgbClr val="FFFFFF"/>
                </a:solidFill>
                <a:latin typeface="思源宋体 CN Medium" panose="02020500000000000000" charset="-122"/>
                <a:ea typeface="思源宋体 CN Medium" panose="02020500000000000000" charset="-122"/>
              </a:endParaRPr>
            </a:p>
          </p:txBody>
        </p:sp>
        <p:sp>
          <p:nvSpPr>
            <p:cNvPr id="131" name="文本框 130"/>
            <p:cNvSpPr txBox="1"/>
            <p:nvPr/>
          </p:nvSpPr>
          <p:spPr>
            <a:xfrm>
              <a:off x="-286" y="9432"/>
              <a:ext cx="3392" cy="533"/>
            </a:xfrm>
            <a:prstGeom prst="rect">
              <a:avLst/>
            </a:prstGeom>
            <a:noFill/>
          </p:spPr>
          <p:txBody>
            <a:bodyPr wrap="square" rtlCol="0">
              <a:spAutoFit/>
            </a:bodyPr>
            <a:lstStyle/>
            <a:p>
              <a:pPr algn="ctr"/>
              <a:r>
                <a:rPr lang="zh-CN" altLang="en-US" sz="1600" b="1" dirty="0">
                  <a:solidFill>
                    <a:srgbClr val="0D426B"/>
                  </a:solidFill>
                  <a:latin typeface="思源宋体 CN Medium" panose="02020500000000000000" charset="-122"/>
                  <a:ea typeface="思源宋体 CN Medium" panose="02020500000000000000" charset="-122"/>
                </a:rPr>
                <a:t>附页</a:t>
              </a:r>
              <a:endParaRPr lang="zh-CN" altLang="en-US" sz="1600" b="1" dirty="0">
                <a:solidFill>
                  <a:srgbClr val="0D426B"/>
                </a:solidFill>
                <a:latin typeface="思源宋体 CN Medium" panose="02020500000000000000" charset="-122"/>
                <a:ea typeface="思源宋体 CN Medium" panose="02020500000000000000" charset="-122"/>
              </a:endParaRPr>
            </a:p>
          </p:txBody>
        </p:sp>
        <p:sp>
          <p:nvSpPr>
            <p:cNvPr id="132" name="矩形 131"/>
            <p:cNvSpPr/>
            <p:nvPr/>
          </p:nvSpPr>
          <p:spPr>
            <a:xfrm>
              <a:off x="2888" y="240"/>
              <a:ext cx="16312"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zh-CN" altLang="en-US" sz="2000" b="1" dirty="0">
                  <a:latin typeface="思源宋体 CN Medium" panose="02020500000000000000" charset="-122"/>
                  <a:ea typeface="思源宋体 CN Medium" panose="02020500000000000000" charset="-122"/>
                </a:rPr>
                <a:t> 附页</a:t>
              </a:r>
              <a:r>
                <a:rPr lang="en-US" altLang="zh-CN" sz="2000" b="1" dirty="0">
                  <a:latin typeface="思源宋体 CN Medium" panose="02020500000000000000" charset="-122"/>
                  <a:ea typeface="思源宋体 CN Medium" panose="02020500000000000000" charset="-122"/>
                </a:rPr>
                <a:t>2-3</a:t>
              </a:r>
              <a:r>
                <a:rPr lang="zh-CN" altLang="en-US" sz="2000" b="1" dirty="0">
                  <a:latin typeface="思源宋体 CN Medium" panose="02020500000000000000" charset="-122"/>
                  <a:ea typeface="思源宋体 CN Medium" panose="02020500000000000000" charset="-122"/>
                </a:rPr>
                <a:t>：健康度指标体系计算方法</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3280" y="615"/>
              <a:ext cx="337"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pic>
        <p:nvPicPr>
          <p:cNvPr id="2" name="图片 1"/>
          <p:cNvPicPr>
            <a:picLocks noChangeAspect="1"/>
          </p:cNvPicPr>
          <p:nvPr/>
        </p:nvPicPr>
        <p:blipFill>
          <a:blip r:embed="rId1"/>
          <a:stretch>
            <a:fillRect/>
          </a:stretch>
        </p:blipFill>
        <p:spPr>
          <a:xfrm>
            <a:off x="3788877" y="1124585"/>
            <a:ext cx="6916446" cy="3353497"/>
          </a:xfrm>
          <a:prstGeom prst="rect">
            <a:avLst/>
          </a:prstGeom>
        </p:spPr>
      </p:pic>
      <p:pic>
        <p:nvPicPr>
          <p:cNvPr id="3" name="图片 2"/>
          <p:cNvPicPr>
            <a:picLocks noChangeAspect="1"/>
          </p:cNvPicPr>
          <p:nvPr/>
        </p:nvPicPr>
        <p:blipFill>
          <a:blip r:embed="rId2"/>
          <a:stretch>
            <a:fillRect/>
          </a:stretch>
        </p:blipFill>
        <p:spPr>
          <a:xfrm>
            <a:off x="3788877" y="4816537"/>
            <a:ext cx="5829935" cy="142113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alpha val="50000"/>
          </a:schemeClr>
        </a:solidFill>
        <a:effectLst/>
      </p:bgPr>
    </p:bg>
    <p:spTree>
      <p:nvGrpSpPr>
        <p:cNvPr id="1" name=""/>
        <p:cNvGrpSpPr/>
        <p:nvPr/>
      </p:nvGrpSpPr>
      <p:grpSpPr>
        <a:xfrm>
          <a:off x="0" y="0"/>
          <a:ext cx="0" cy="0"/>
          <a:chOff x="0" y="0"/>
          <a:chExt cx="0" cy="0"/>
        </a:xfrm>
      </p:grpSpPr>
      <p:sp>
        <p:nvSpPr>
          <p:cNvPr id="4" name="任意多边形: 形状 3"/>
          <p:cNvSpPr/>
          <p:nvPr/>
        </p:nvSpPr>
        <p:spPr>
          <a:xfrm>
            <a:off x="0" y="3429000"/>
            <a:ext cx="12192000" cy="3428999"/>
          </a:xfrm>
          <a:custGeom>
            <a:avLst/>
            <a:gdLst>
              <a:gd name="connsiteX0" fmla="*/ 0 w 12192000"/>
              <a:gd name="connsiteY0" fmla="*/ 0 h 3428999"/>
              <a:gd name="connsiteX1" fmla="*/ 160377 w 12192000"/>
              <a:gd name="connsiteY1" fmla="*/ 0 h 3428999"/>
              <a:gd name="connsiteX2" fmla="*/ 160377 w 12192000"/>
              <a:gd name="connsiteY2" fmla="*/ 3268622 h 3428999"/>
              <a:gd name="connsiteX3" fmla="*/ 12031623 w 12192000"/>
              <a:gd name="connsiteY3" fmla="*/ 3268622 h 3428999"/>
              <a:gd name="connsiteX4" fmla="*/ 12031623 w 12192000"/>
              <a:gd name="connsiteY4" fmla="*/ 0 h 3428999"/>
              <a:gd name="connsiteX5" fmla="*/ 12192000 w 12192000"/>
              <a:gd name="connsiteY5" fmla="*/ 0 h 3428999"/>
              <a:gd name="connsiteX6" fmla="*/ 12192000 w 12192000"/>
              <a:gd name="connsiteY6" fmla="*/ 3428999 h 3428999"/>
              <a:gd name="connsiteX7" fmla="*/ 0 w 12192000"/>
              <a:gd name="connsiteY7" fmla="*/ 3428999 h 342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8999">
                <a:moveTo>
                  <a:pt x="0" y="0"/>
                </a:moveTo>
                <a:lnTo>
                  <a:pt x="160377" y="0"/>
                </a:lnTo>
                <a:lnTo>
                  <a:pt x="160377" y="3268622"/>
                </a:lnTo>
                <a:lnTo>
                  <a:pt x="12031623" y="3268622"/>
                </a:lnTo>
                <a:lnTo>
                  <a:pt x="12031623" y="0"/>
                </a:lnTo>
                <a:lnTo>
                  <a:pt x="12192000" y="0"/>
                </a:lnTo>
                <a:lnTo>
                  <a:pt x="12192000" y="3428999"/>
                </a:lnTo>
                <a:lnTo>
                  <a:pt x="0" y="3428999"/>
                </a:lnTo>
                <a:close/>
              </a:path>
            </a:pathLst>
          </a:custGeom>
          <a:solidFill>
            <a:srgbClr val="092B42"/>
          </a:solidFill>
          <a:ln>
            <a:solidFill>
              <a:srgbClr val="10518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solidFill>
                <a:schemeClr val="tx1"/>
              </a:solidFill>
              <a:ea typeface="思源宋体 CN Medium" panose="02020500000000000000" charset="-122"/>
            </a:endParaRPr>
          </a:p>
        </p:txBody>
      </p:sp>
      <p:sp>
        <p:nvSpPr>
          <p:cNvPr id="5" name="矩形 4"/>
          <p:cNvSpPr/>
          <p:nvPr/>
        </p:nvSpPr>
        <p:spPr>
          <a:xfrm>
            <a:off x="0" y="1845189"/>
            <a:ext cx="12192000" cy="2514600"/>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sp>
        <p:nvSpPr>
          <p:cNvPr id="6" name="矩形 5"/>
          <p:cNvSpPr/>
          <p:nvPr/>
        </p:nvSpPr>
        <p:spPr>
          <a:xfrm>
            <a:off x="827314" y="1839794"/>
            <a:ext cx="123372" cy="1661588"/>
          </a:xfrm>
          <a:prstGeom prst="rect">
            <a:avLst/>
          </a:prstGeom>
          <a:solidFill>
            <a:schemeClr val="bg1"/>
          </a:solidFill>
          <a:ln>
            <a:noFill/>
          </a:ln>
          <a:effectLst>
            <a:outerShdw blurRad="50800" dist="38100" dir="5400000" algn="t" rotWithShape="0">
              <a:srgbClr val="FFFFFF">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sp>
        <p:nvSpPr>
          <p:cNvPr id="8" name="文本框 7"/>
          <p:cNvSpPr txBox="1"/>
          <p:nvPr/>
        </p:nvSpPr>
        <p:spPr>
          <a:xfrm>
            <a:off x="635" y="2501900"/>
            <a:ext cx="12191365" cy="1106805"/>
          </a:xfrm>
          <a:prstGeom prst="rect">
            <a:avLst/>
          </a:prstGeom>
          <a:noFill/>
        </p:spPr>
        <p:txBody>
          <a:bodyPr wrap="square" rtlCol="0">
            <a:spAutoFit/>
          </a:bodyPr>
          <a:lstStyle/>
          <a:p>
            <a:pPr algn="ctr"/>
            <a:r>
              <a:rPr lang="en-US" altLang="zh-CN" sz="6600" b="1" spc="300" dirty="0">
                <a:solidFill>
                  <a:schemeClr val="bg1"/>
                </a:solidFill>
                <a:latin typeface="思源宋体 CN Medium" panose="02020500000000000000" charset="-122"/>
                <a:ea typeface="思源宋体 CN Medium" panose="02020500000000000000" charset="-122"/>
              </a:rPr>
              <a:t>Thanks For Watching</a:t>
            </a:r>
            <a:endParaRPr lang="en-US" altLang="zh-CN" sz="6600" b="1" spc="300" dirty="0">
              <a:solidFill>
                <a:schemeClr val="bg1"/>
              </a:solidFill>
              <a:latin typeface="思源宋体 CN Medium" panose="02020500000000000000" charset="-122"/>
              <a:ea typeface="思源宋体 CN Medium" panose="02020500000000000000" charset="-122"/>
            </a:endParaRPr>
          </a:p>
        </p:txBody>
      </p:sp>
      <p:grpSp>
        <p:nvGrpSpPr>
          <p:cNvPr id="7" name="组合 6"/>
          <p:cNvGrpSpPr/>
          <p:nvPr/>
        </p:nvGrpSpPr>
        <p:grpSpPr>
          <a:xfrm>
            <a:off x="-1" y="683111"/>
            <a:ext cx="12192000" cy="219244"/>
            <a:chOff x="-1" y="683111"/>
            <a:chExt cx="12192000" cy="219244"/>
          </a:xfrm>
        </p:grpSpPr>
        <p:sp>
          <p:nvSpPr>
            <p:cNvPr id="31" name="矩形 30"/>
            <p:cNvSpPr/>
            <p:nvPr/>
          </p:nvSpPr>
          <p:spPr>
            <a:xfrm rot="16200000">
              <a:off x="5986377" y="-5303267"/>
              <a:ext cx="219244" cy="1219200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sp>
          <p:nvSpPr>
            <p:cNvPr id="34" name="任意多边形: 形状 33"/>
            <p:cNvSpPr/>
            <p:nvPr/>
          </p:nvSpPr>
          <p:spPr>
            <a:xfrm>
              <a:off x="5956301" y="683111"/>
              <a:ext cx="6235698" cy="219244"/>
            </a:xfrm>
            <a:custGeom>
              <a:avLst/>
              <a:gdLst>
                <a:gd name="connsiteX0" fmla="*/ 54811 w 6235698"/>
                <a:gd name="connsiteY0" fmla="*/ 0 h 219244"/>
                <a:gd name="connsiteX1" fmla="*/ 6235698 w 6235698"/>
                <a:gd name="connsiteY1" fmla="*/ 0 h 219244"/>
                <a:gd name="connsiteX2" fmla="*/ 6235698 w 6235698"/>
                <a:gd name="connsiteY2" fmla="*/ 219244 h 219244"/>
                <a:gd name="connsiteX3" fmla="*/ 0 w 6235698"/>
                <a:gd name="connsiteY3" fmla="*/ 219244 h 219244"/>
              </a:gdLst>
              <a:ahLst/>
              <a:cxnLst>
                <a:cxn ang="0">
                  <a:pos x="connsiteX0" y="connsiteY0"/>
                </a:cxn>
                <a:cxn ang="0">
                  <a:pos x="connsiteX1" y="connsiteY1"/>
                </a:cxn>
                <a:cxn ang="0">
                  <a:pos x="connsiteX2" y="connsiteY2"/>
                </a:cxn>
                <a:cxn ang="0">
                  <a:pos x="connsiteX3" y="connsiteY3"/>
                </a:cxn>
              </a:cxnLst>
              <a:rect l="l" t="t" r="r" b="b"/>
              <a:pathLst>
                <a:path w="6235698" h="219244">
                  <a:moveTo>
                    <a:pt x="54811" y="0"/>
                  </a:moveTo>
                  <a:lnTo>
                    <a:pt x="6235698" y="0"/>
                  </a:lnTo>
                  <a:lnTo>
                    <a:pt x="6235698" y="219244"/>
                  </a:lnTo>
                  <a:lnTo>
                    <a:pt x="0" y="219244"/>
                  </a:lnTo>
                  <a:close/>
                </a:path>
              </a:pathLst>
            </a:custGeom>
            <a:solidFill>
              <a:srgbClr val="092B42"/>
            </a:solidFill>
            <a:ln>
              <a:noFill/>
            </a:ln>
            <a:effectLst>
              <a:outerShdw blurRad="50800" dist="38100" dir="5400000" algn="t" rotWithShape="0">
                <a:schemeClr val="bg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grpSp>
      <p:sp>
        <p:nvSpPr>
          <p:cNvPr id="2" name="矩形: 圆角 1"/>
          <p:cNvSpPr/>
          <p:nvPr/>
        </p:nvSpPr>
        <p:spPr>
          <a:xfrm>
            <a:off x="504825" y="5425440"/>
            <a:ext cx="3218180" cy="626745"/>
          </a:xfrm>
          <a:prstGeom prst="roundRect">
            <a:avLst>
              <a:gd name="adj" fmla="val 50000"/>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90000" rtlCol="0" anchor="ctr"/>
          <a:lstStyle/>
          <a:p>
            <a:pPr algn="ctr">
              <a:lnSpc>
                <a:spcPct val="150000"/>
              </a:lnSpc>
            </a:pPr>
            <a:r>
              <a:rPr lang="zh-CN" altLang="en-US" dirty="0">
                <a:latin typeface="思源宋体 CN Medium" panose="02020500000000000000" charset="-122"/>
                <a:ea typeface="思源宋体 CN Medium" panose="02020500000000000000" charset="-122"/>
              </a:rPr>
              <a:t>院系：数据科学与工程学院</a:t>
            </a:r>
            <a:endParaRPr lang="zh-CN" altLang="en-US" dirty="0">
              <a:latin typeface="思源宋体 CN Medium" panose="02020500000000000000" charset="-122"/>
              <a:ea typeface="思源宋体 CN Medium" panose="02020500000000000000" charset="-122"/>
            </a:endParaRPr>
          </a:p>
        </p:txBody>
      </p:sp>
      <p:sp>
        <p:nvSpPr>
          <p:cNvPr id="13" name="矩形: 圆角 12"/>
          <p:cNvSpPr/>
          <p:nvPr/>
        </p:nvSpPr>
        <p:spPr>
          <a:xfrm>
            <a:off x="9170073" y="5425125"/>
            <a:ext cx="2574939" cy="626883"/>
          </a:xfrm>
          <a:prstGeom prst="roundRect">
            <a:avLst>
              <a:gd name="adj" fmla="val 50000"/>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90000" rtlCol="0" anchor="ctr"/>
          <a:lstStyle/>
          <a:p>
            <a:pPr algn="ctr">
              <a:lnSpc>
                <a:spcPct val="150000"/>
              </a:lnSpc>
            </a:pPr>
            <a:r>
              <a:rPr lang="zh-CN" altLang="en-US" dirty="0">
                <a:latin typeface="思源宋体 CN Medium" panose="02020500000000000000" charset="-122"/>
                <a:ea typeface="思源宋体 CN Medium" panose="02020500000000000000" charset="-122"/>
              </a:rPr>
              <a:t>日期：</a:t>
            </a:r>
            <a:r>
              <a:rPr lang="en-US" altLang="zh-CN" dirty="0">
                <a:latin typeface="思源宋体 CN Medium" panose="02020500000000000000" charset="-122"/>
                <a:ea typeface="思源宋体 CN Medium" panose="02020500000000000000" charset="-122"/>
              </a:rPr>
              <a:t>2026.1.11</a:t>
            </a:r>
            <a:endParaRPr lang="zh-CN" altLang="en-US" dirty="0">
              <a:latin typeface="思源宋体 CN Medium" panose="02020500000000000000" charset="-122"/>
              <a:ea typeface="思源宋体 CN Medium" panose="020205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405.41094488188986,&quot;left&quot;:41.25,&quot;top&quot;:100.73905511811023,&quot;width&quot;:907.35}"/>
</p:tagLst>
</file>

<file path=ppt/tags/tag2.xml><?xml version="1.0" encoding="utf-8"?>
<p:tagLst xmlns:p="http://schemas.openxmlformats.org/presentationml/2006/main">
  <p:tag name="KSO_WM_DIAGRAM_VIRTUALLY_FRAME" val="{&quot;height&quot;:405.41094488188986,&quot;left&quot;:41.25,&quot;top&quot;:100.73905511811023,&quot;width&quot;:907.35}"/>
</p:tagLst>
</file>

<file path=ppt/tags/tag3.xml><?xml version="1.0" encoding="utf-8"?>
<p:tagLst xmlns:p="http://schemas.openxmlformats.org/presentationml/2006/main">
  <p:tag name="KSO_WM_DIAGRAM_VIRTUALLY_FRAME" val="{&quot;height&quot;:400.7554330708662,&quot;left&quot;:41.25,&quot;top&quot;:100.73905511811023,&quot;width&quot;:907.313622047244}"/>
</p:tagLst>
</file>

<file path=ppt/tags/tag4.xml><?xml version="1.0" encoding="utf-8"?>
<p:tagLst xmlns:p="http://schemas.openxmlformats.org/presentationml/2006/main">
  <p:tag name="KSO_WM_DIAGRAM_VIRTUALLY_FRAME" val="{&quot;height&quot;:405.41094488188986,&quot;left&quot;:41.25,&quot;top&quot;:100.73905511811023,&quot;width&quot;:907.35}"/>
</p:tagLst>
</file>

<file path=ppt/tags/tag5.xml><?xml version="1.0" encoding="utf-8"?>
<p:tagLst xmlns:p="http://schemas.openxmlformats.org/presentationml/2006/main">
  <p:tag name="KSO_WM_DIAGRAM_VIRTUALLY_FRAME" val="{&quot;height&quot;:405.41094488188986,&quot;left&quot;:41.25,&quot;top&quot;:100.73905511811023,&quot;width&quot;:907.35}"/>
</p:tagLst>
</file>

<file path=ppt/tags/tag6.xml><?xml version="1.0" encoding="utf-8"?>
<p:tagLst xmlns:p="http://schemas.openxmlformats.org/presentationml/2006/main">
  <p:tag name="KSO_WM_DIAGRAM_VIRTUALLY_FRAME" val="{&quot;height&quot;:405.41094488188986,&quot;left&quot;:41.25,&quot;top&quot;:100.73905511811023,&quot;width&quot;:907.35}"/>
</p:tagLst>
</file>

<file path=ppt/tags/tag7.xml><?xml version="1.0" encoding="utf-8"?>
<p:tagLst xmlns:p="http://schemas.openxmlformats.org/presentationml/2006/main">
  <p:tag name="KSO_WM_DIAGRAM_VIRTUALLY_FRAME" val="{&quot;height&quot;:405.41094488188986,&quot;left&quot;:41.25,&quot;top&quot;:100.73905511811023,&quot;width&quot;:907.35}"/>
</p:tagLst>
</file>

<file path=ppt/tags/tag8.xml><?xml version="1.0" encoding="utf-8"?>
<p:tagLst xmlns:p="http://schemas.openxmlformats.org/presentationml/2006/main">
  <p:tag name="KSO_WM_DIAGRAM_VIRTUALLY_FRAME" val="{&quot;height&quot;:400.7554330708662,&quot;left&quot;:41.25,&quot;top&quot;:100.73905511811023,&quot;width&quot;:907.313622047244}"/>
</p:tagLst>
</file>

<file path=ppt/tags/tag9.xml><?xml version="1.0" encoding="utf-8"?>
<p:tagLst xmlns:p="http://schemas.openxmlformats.org/presentationml/2006/main">
  <p:tag name="KSO_WM_DIAGRAM_VIRTUALLY_FRAME" val="{&quot;height&quot;:405.41094488188986,&quot;left&quot;:41.25,&quot;top&quot;:100.73905511811023,&quot;width&quot;:907.35}"/>
</p:tagLst>
</file>

<file path=ppt/tags/tag10.xml><?xml version="1.0" encoding="utf-8"?>
<p:tagLst xmlns:p="http://schemas.openxmlformats.org/presentationml/2006/main">
  <p:tag name="KSO_WM_DIAGRAM_VIRTUALLY_FRAME" val="{&quot;height&quot;:405.41094488188986,&quot;left&quot;:41.25,&quot;top&quot;:100.73905511811023,&quot;width&quot;:907.35}"/>
</p:tagLst>
</file>

<file path=ppt/tags/tag11.xml><?xml version="1.0" encoding="utf-8"?>
<p:tagLst xmlns:p="http://schemas.openxmlformats.org/presentationml/2006/main">
  <p:tag name="KSO_WM_DIAGRAM_VIRTUALLY_FRAME" val="{&quot;height&quot;:405.41094488188986,&quot;left&quot;:41.25,&quot;top&quot;:100.73905511811023,&quot;width&quot;:907.35}"/>
</p:tagLst>
</file>

<file path=ppt/tags/tag12.xml><?xml version="1.0" encoding="utf-8"?>
<p:tagLst xmlns:p="http://schemas.openxmlformats.org/presentationml/2006/main">
  <p:tag name="KSO_WM_DIAGRAM_VIRTUALLY_FRAME" val="{&quot;height&quot;:405.41094488188986,&quot;left&quot;:41.25,&quot;top&quot;:100.73905511811023,&quot;width&quot;:907.35}"/>
</p:tagLst>
</file>

<file path=ppt/tags/tag13.xml><?xml version="1.0" encoding="utf-8"?>
<p:tagLst xmlns:p="http://schemas.openxmlformats.org/presentationml/2006/main">
  <p:tag name="KSO_WM_DIAGRAM_VIRTUALLY_FRAME" val="{&quot;height&quot;:405.41094488188986,&quot;left&quot;:41.25,&quot;top&quot;:100.73905511811023,&quot;width&quot;:907.35}"/>
</p:tagLst>
</file>

<file path=ppt/tags/tag14.xml><?xml version="1.0" encoding="utf-8"?>
<p:tagLst xmlns:p="http://schemas.openxmlformats.org/presentationml/2006/main">
  <p:tag name="KSO_WM_DIAGRAM_VIRTUALLY_FRAME" val="{&quot;height&quot;:405.41094488188986,&quot;left&quot;:41.25,&quot;top&quot;:100.73905511811023,&quot;width&quot;:907.35}"/>
</p:tagLst>
</file>

<file path=ppt/tags/tag15.xml><?xml version="1.0" encoding="utf-8"?>
<p:tagLst xmlns:p="http://schemas.openxmlformats.org/presentationml/2006/main">
  <p:tag name="KSO_WM_DIAGRAM_VIRTUALLY_FRAME" val="{&quot;height&quot;:405.41094488188986,&quot;left&quot;:41.25,&quot;top&quot;:100.73905511811023,&quot;width&quot;:907.35}"/>
</p:tagLst>
</file>

<file path=ppt/tags/tag16.xml><?xml version="1.0" encoding="utf-8"?>
<p:tagLst xmlns:p="http://schemas.openxmlformats.org/presentationml/2006/main">
  <p:tag name="KSO_WM_DIAGRAM_VIRTUALLY_FRAME" val="{&quot;height&quot;:405.41094488188986,&quot;left&quot;:41.25,&quot;top&quot;:100.73905511811023,&quot;width&quot;:907.35}"/>
</p:tagLst>
</file>

<file path=ppt/tags/tag17.xml><?xml version="1.0" encoding="utf-8"?>
<p:tagLst xmlns:p="http://schemas.openxmlformats.org/presentationml/2006/main">
  <p:tag name="KSO_WM_DIAGRAM_VIRTUALLY_FRAME" val="{&quot;height&quot;:405.41094488188986,&quot;left&quot;:41.25,&quot;top&quot;:100.73905511811023,&quot;width&quot;:907.35}"/>
</p:tagLst>
</file>

<file path=ppt/tags/tag18.xml><?xml version="1.0" encoding="utf-8"?>
<p:tagLst xmlns:p="http://schemas.openxmlformats.org/presentationml/2006/main">
  <p:tag name="KSO_WM_DIAGRAM_VIRTUALLY_FRAME" val="{&quot;height&quot;:405.41094488188986,&quot;left&quot;:41.25,&quot;top&quot;:100.73905511811023,&quot;width&quot;:907.35}"/>
</p:tagLst>
</file>

<file path=ppt/tags/tag19.xml><?xml version="1.0" encoding="utf-8"?>
<p:tagLst xmlns:p="http://schemas.openxmlformats.org/presentationml/2006/main">
  <p:tag name="KSO_WM_DIAGRAM_VIRTUALLY_FRAME" val="{&quot;height&quot;:405.41094488188986,&quot;left&quot;:41.25,&quot;top&quot;:100.73905511811023,&quot;width&quot;:907.35}"/>
</p:tagLst>
</file>

<file path=ppt/tags/tag20.xml><?xml version="1.0" encoding="utf-8"?>
<p:tagLst xmlns:p="http://schemas.openxmlformats.org/presentationml/2006/main">
  <p:tag name="KSO_WM_DIAGRAM_VIRTUALLY_FRAME" val="{&quot;height&quot;:405.41094488188986,&quot;left&quot;:41.25,&quot;top&quot;:100.73905511811023,&quot;width&quot;:907.35}"/>
</p:tagLst>
</file>

<file path=ppt/tags/tag21.xml><?xml version="1.0" encoding="utf-8"?>
<p:tagLst xmlns:p="http://schemas.openxmlformats.org/presentationml/2006/main">
  <p:tag name="KSO_WM_DIAGRAM_VIRTUALLY_FRAME" val="{&quot;height&quot;:400.7554330708662,&quot;left&quot;:41.25,&quot;top&quot;:100.73905511811023,&quot;width&quot;:907.35}"/>
</p:tagLst>
</file>

<file path=ppt/tags/tag22.xml><?xml version="1.0" encoding="utf-8"?>
<p:tagLst xmlns:p="http://schemas.openxmlformats.org/presentationml/2006/main">
  <p:tag name="KSO_WM_DIAGRAM_VIRTUALLY_FRAME" val="{&quot;height&quot;:405.41094488188986,&quot;left&quot;:41.25,&quot;top&quot;:100.73905511811023,&quot;width&quot;:907.35}"/>
</p:tagLst>
</file>

<file path=ppt/tags/tag23.xml><?xml version="1.0" encoding="utf-8"?>
<p:tagLst xmlns:p="http://schemas.openxmlformats.org/presentationml/2006/main">
  <p:tag name="KSO_WM_DIAGRAM_VIRTUALLY_FRAME" val="{&quot;height&quot;:405.41094488188986,&quot;left&quot;:41.25,&quot;top&quot;:100.73905511811023,&quot;width&quot;:907.35}"/>
</p:tagLst>
</file>

<file path=ppt/tags/tag24.xml><?xml version="1.0" encoding="utf-8"?>
<p:tagLst xmlns:p="http://schemas.openxmlformats.org/presentationml/2006/main">
  <p:tag name="KSO_WM_DIAGRAM_VIRTUALLY_FRAME" val="{&quot;height&quot;:405.41094488188986,&quot;left&quot;:41.25,&quot;top&quot;:100.73905511811023,&quot;width&quot;:907.35}"/>
</p:tagLst>
</file>

<file path=ppt/tags/tag25.xml><?xml version="1.0" encoding="utf-8"?>
<p:tagLst xmlns:p="http://schemas.openxmlformats.org/presentationml/2006/main">
  <p:tag name="KSO_WM_DIAGRAM_VIRTUALLY_FRAME" val="{&quot;height&quot;:405.41094488188986,&quot;left&quot;:41.25,&quot;top&quot;:100.73905511811023,&quot;width&quot;:907.35}"/>
</p:tagLst>
</file>

<file path=ppt/tags/tag26.xml><?xml version="1.0" encoding="utf-8"?>
<p:tagLst xmlns:p="http://schemas.openxmlformats.org/presentationml/2006/main">
  <p:tag name="KSO_WM_DIAGRAM_VIRTUALLY_FRAME" val="{&quot;height&quot;:400.7554330708662,&quot;left&quot;:41.25,&quot;top&quot;:100.73905511811023,&quot;width&quot;:907.35}"/>
</p:tagLst>
</file>

<file path=ppt/tags/tag27.xml><?xml version="1.0" encoding="utf-8"?>
<p:tagLst xmlns:p="http://schemas.openxmlformats.org/presentationml/2006/main">
  <p:tag name="KSO_WM_DIAGRAM_VIRTUALLY_FRAME" val="{&quot;height&quot;:405.41094488188986,&quot;left&quot;:41.25,&quot;top&quot;:100.73905511811023,&quot;width&quot;:907.35}"/>
</p:tagLst>
</file>

<file path=ppt/tags/tag28.xml><?xml version="1.0" encoding="utf-8"?>
<p:tagLst xmlns:p="http://schemas.openxmlformats.org/presentationml/2006/main">
  <p:tag name="KSO_WM_DIAGRAM_VIRTUALLY_FRAME" val="{&quot;height&quot;:405.41094488188986,&quot;left&quot;:41.25,&quot;top&quot;:100.73905511811023,&quot;width&quot;:907.35}"/>
</p:tagLst>
</file>

<file path=ppt/theme/theme1.xml><?xml version="1.0" encoding="utf-8"?>
<a:theme xmlns:a="http://schemas.openxmlformats.org/drawingml/2006/main" name="WPS">
  <a:themeElements>
    <a:clrScheme name="自定义 1">
      <a:dk1>
        <a:srgbClr val="092B42"/>
      </a:dk1>
      <a:lt1>
        <a:srgbClr val="FFFFFF"/>
      </a:lt1>
      <a:dk2>
        <a:srgbClr val="105186"/>
      </a:dk2>
      <a:lt2>
        <a:srgbClr val="DFEBF9"/>
      </a:lt2>
      <a:accent1>
        <a:srgbClr val="092B42"/>
      </a:accent1>
      <a:accent2>
        <a:srgbClr val="105186"/>
      </a:accent2>
      <a:accent3>
        <a:srgbClr val="DFEBF9"/>
      </a:accent3>
      <a:accent4>
        <a:srgbClr val="FFFFFF"/>
      </a:accent4>
      <a:accent5>
        <a:srgbClr val="FFFFFF"/>
      </a:accent5>
      <a:accent6>
        <a:srgbClr val="FFFFFF"/>
      </a:accent6>
      <a:hlink>
        <a:srgbClr val="DFEBF9"/>
      </a:hlink>
      <a:folHlink>
        <a:srgbClr val="DFEBF9"/>
      </a:folHlink>
    </a:clrScheme>
    <a:fontScheme name="自定义 3">
      <a:majorFont>
        <a:latin typeface="思源黑体 CN Light"/>
        <a:ea typeface="思源宋体 CN Medium"/>
        <a:cs typeface=""/>
      </a:majorFont>
      <a:minorFont>
        <a:latin typeface="思源宋体 CN Medium"/>
        <a:ea typeface="思源宋体 CN Medium"/>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FEBF9"/>
        </a:solidFill>
        <a:ln>
          <a:noFill/>
        </a:ln>
      </a:spPr>
      <a:bodyPr wrap="square" rtlCol="0" anchor="ctr">
        <a:noAutofit/>
      </a:bodyPr>
      <a:lstStyle>
        <a:defPPr algn="ctr">
          <a:lnSpc>
            <a:spcPct val="150000"/>
          </a:lnSpc>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7940</Words>
  <Application>WPS 演示</Application>
  <PresentationFormat>宽屏</PresentationFormat>
  <Paragraphs>707</Paragraphs>
  <Slides>31</Slides>
  <Notes>22</Notes>
  <HiddenSlides>0</HiddenSlides>
  <MMClips>1</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31</vt:i4>
      </vt:variant>
    </vt:vector>
  </HeadingPairs>
  <TitlesOfParts>
    <vt:vector size="45" baseType="lpstr">
      <vt:lpstr>Arial</vt:lpstr>
      <vt:lpstr>宋体</vt:lpstr>
      <vt:lpstr>Wingdings</vt:lpstr>
      <vt:lpstr>思源宋体 CN Medium</vt:lpstr>
      <vt:lpstr>Nirmala Text</vt:lpstr>
      <vt:lpstr>思源黑体 CN Medium</vt:lpstr>
      <vt:lpstr>思源宋体 CN</vt:lpstr>
      <vt:lpstr>思源宋体 CN Heavy</vt:lpstr>
      <vt:lpstr>思源黑体 CN Light</vt:lpstr>
      <vt:lpstr>微软雅黑</vt:lpstr>
      <vt:lpstr>Arial Unicode MS</vt:lpstr>
      <vt:lpstr>Calibri</vt:lpstr>
      <vt:lpstr>等线</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luanma</dc:creator>
  <cp:lastModifiedBy>大头</cp:lastModifiedBy>
  <cp:revision>202</cp:revision>
  <dcterms:created xsi:type="dcterms:W3CDTF">2023-08-09T12:44:00Z</dcterms:created>
  <dcterms:modified xsi:type="dcterms:W3CDTF">2026-01-13T16:24:05Z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E7328144E3794265988A37A31C8EABC0_12</vt:lpwstr>
  </property>
</Properties>
</file>